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4"/>
  </p:notesMasterIdLst>
  <p:sldIdLst>
    <p:sldId id="257" r:id="rId2"/>
    <p:sldId id="258" r:id="rId3"/>
    <p:sldId id="29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42" autoAdjust="0"/>
    <p:restoredTop sz="94660"/>
  </p:normalViewPr>
  <p:slideViewPr>
    <p:cSldViewPr snapToGrid="0">
      <p:cViewPr varScale="1">
        <p:scale>
          <a:sx n="93" d="100"/>
          <a:sy n="93" d="100"/>
        </p:scale>
        <p:origin x="106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D5E16A-72CF-4D87-A9C7-555428496B5E}" type="datetimeFigureOut">
              <a:rPr lang="en-US" smtClean="0"/>
              <a:t>11/17/2025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F0438-139B-4115-B981-58876F9A4581}" type="slidenum">
              <a:rPr lang="en-US" smtClean="0"/>
              <a:t>‹#›</a:t>
            </a:fld>
            <a:endParaRPr lang="en-US"/>
          </a:p>
        </p:txBody>
      </p:sp>
    </p:spTree>
    <p:extLst>
      <p:ext uri="{BB962C8B-B14F-4D97-AF65-F5344CB8AC3E}">
        <p14:creationId xmlns:p14="http://schemas.microsoft.com/office/powerpoint/2010/main" val="4229473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bwMode="auto">
          <a:xfrm>
            <a:off x="1144588" y="687388"/>
            <a:ext cx="4568825" cy="3427412"/>
          </a:xfrm>
          <a:noFill/>
          <a:ln>
            <a:solidFill>
              <a:srgbClr val="000000"/>
            </a:solidFill>
            <a:miter lim="800000"/>
            <a:headEnd/>
            <a:tailEnd/>
          </a:ln>
        </p:spPr>
      </p:sp>
      <p:sp>
        <p:nvSpPr>
          <p:cNvPr id="156675" name="Notes Placeholder 2"/>
          <p:cNvSpPr>
            <a:spLocks noGrp="1"/>
          </p:cNvSpPr>
          <p:nvPr>
            <p:ph type="body" idx="1"/>
          </p:nvPr>
        </p:nvSpPr>
        <p:spPr>
          <a:noFill/>
          <a:ln/>
        </p:spPr>
        <p:txBody>
          <a:bodyPr/>
          <a:lstStyle/>
          <a:p>
            <a:pPr eaLnBrk="1" hangingPunct="1"/>
            <a:endParaRPr lang="en-GB"/>
          </a:p>
        </p:txBody>
      </p:sp>
      <p:sp>
        <p:nvSpPr>
          <p:cNvPr id="156676"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407507-463D-406E-BBAB-B912CC199668}"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77528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bwMode="auto">
          <a:xfrm>
            <a:off x="1144588" y="687388"/>
            <a:ext cx="4568825" cy="3427412"/>
          </a:xfrm>
          <a:noFill/>
          <a:ln>
            <a:solidFill>
              <a:srgbClr val="000000"/>
            </a:solidFill>
            <a:miter lim="800000"/>
            <a:headEnd/>
            <a:tailEnd/>
          </a:ln>
        </p:spPr>
      </p:sp>
      <p:sp>
        <p:nvSpPr>
          <p:cNvPr id="157699" name="Notes Placeholder 2"/>
          <p:cNvSpPr>
            <a:spLocks noGrp="1"/>
          </p:cNvSpPr>
          <p:nvPr>
            <p:ph type="body" idx="1"/>
          </p:nvPr>
        </p:nvSpPr>
        <p:spPr>
          <a:noFill/>
          <a:ln/>
        </p:spPr>
        <p:txBody>
          <a:bodyPr/>
          <a:lstStyle/>
          <a:p>
            <a:pPr eaLnBrk="1" hangingPunct="1"/>
            <a:endParaRPr lang="en-GB"/>
          </a:p>
        </p:txBody>
      </p:sp>
      <p:sp>
        <p:nvSpPr>
          <p:cNvPr id="157700"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427256E-A661-422F-B195-11DD233EF00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00978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ltLang="en-US">
              <a:solidFill>
                <a:srgbClr val="696464"/>
              </a:solidFill>
            </a:endParaRPr>
          </a:p>
        </p:txBody>
      </p:sp>
      <p:sp>
        <p:nvSpPr>
          <p:cNvPr id="5" name="Footer Placeholder 4"/>
          <p:cNvSpPr>
            <a:spLocks noGrp="1"/>
          </p:cNvSpPr>
          <p:nvPr>
            <p:ph type="ftr" sz="quarter" idx="11"/>
          </p:nvPr>
        </p:nvSpPr>
        <p:spPr/>
        <p:txBody>
          <a:bodyPr/>
          <a:lstStyle/>
          <a:p>
            <a:pPr>
              <a:defRPr/>
            </a:pPr>
            <a:r>
              <a:rPr lang="en-US" altLang="en-US">
                <a:solidFill>
                  <a:srgbClr val="696464"/>
                </a:solidFill>
              </a:rPr>
              <a:t>Spring 2008 Sadat Kemal</a:t>
            </a:r>
          </a:p>
        </p:txBody>
      </p:sp>
      <p:sp>
        <p:nvSpPr>
          <p:cNvPr id="6" name="Slide Number Placeholder 5"/>
          <p:cNvSpPr>
            <a:spLocks noGrp="1"/>
          </p:cNvSpPr>
          <p:nvPr>
            <p:ph type="sldNum" sz="quarter" idx="12"/>
          </p:nvPr>
        </p:nvSpPr>
        <p:spPr/>
        <p:txBody>
          <a:bodyPr/>
          <a:lstStyle/>
          <a:p>
            <a:pPr>
              <a:defRPr/>
            </a:pPr>
            <a:fld id="{9C3B8816-7AE5-4D4E-A270-7FEE0D883861}" type="slidenum">
              <a:rPr lang="en-US" altLang="en-US" smtClean="0"/>
              <a:pPr>
                <a:defRPr/>
              </a:pPr>
              <a:t>‹#›</a:t>
            </a:fld>
            <a:endParaRPr lang="en-US" altLang="en-US"/>
          </a:p>
        </p:txBody>
      </p:sp>
    </p:spTree>
    <p:extLst>
      <p:ext uri="{BB962C8B-B14F-4D97-AF65-F5344CB8AC3E}">
        <p14:creationId xmlns:p14="http://schemas.microsoft.com/office/powerpoint/2010/main" val="269363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3520"/>
            <a:ext cx="8229600" cy="839893"/>
          </a:xfrm>
        </p:spPr>
        <p:txBody>
          <a:bodyPr/>
          <a:lstStyle>
            <a:lvl1pPr>
              <a:defRPr>
                <a:solidFill>
                  <a:schemeClr val="accent6"/>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Garamond" panose="02020404030301010803" pitchFamily="18" charset="0"/>
              </a:defRPr>
            </a:lvl1pPr>
            <a:lvl2pPr>
              <a:defRPr>
                <a:latin typeface="Garamond" panose="02020404030301010803" pitchFamily="18" charset="0"/>
              </a:defRPr>
            </a:lvl2pPr>
            <a:lvl3pPr>
              <a:defRPr>
                <a:latin typeface="Garamond" panose="02020404030301010803" pitchFamily="18" charset="0"/>
              </a:defRPr>
            </a:lvl3pPr>
            <a:lvl4pPr>
              <a:defRPr>
                <a:latin typeface="Garamond" panose="02020404030301010803" pitchFamily="18" charset="0"/>
              </a:defRPr>
            </a:lvl4pPr>
            <a:lvl5pPr>
              <a:defRPr>
                <a:latin typeface="Garamond" panose="02020404030301010803"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altLang="en-US">
              <a:solidFill>
                <a:srgbClr val="696464"/>
              </a:solidFill>
            </a:endParaRPr>
          </a:p>
        </p:txBody>
      </p:sp>
      <p:sp>
        <p:nvSpPr>
          <p:cNvPr id="5" name="Footer Placeholder 4"/>
          <p:cNvSpPr>
            <a:spLocks noGrp="1"/>
          </p:cNvSpPr>
          <p:nvPr>
            <p:ph type="ftr" sz="quarter" idx="11"/>
          </p:nvPr>
        </p:nvSpPr>
        <p:spPr/>
        <p:txBody>
          <a:bodyPr/>
          <a:lstStyle/>
          <a:p>
            <a:pPr>
              <a:defRPr/>
            </a:pPr>
            <a:r>
              <a:rPr lang="en-US" altLang="en-US">
                <a:solidFill>
                  <a:srgbClr val="696464"/>
                </a:solidFill>
              </a:rPr>
              <a:t>Spring 2008 Sadat Kemal</a:t>
            </a:r>
          </a:p>
        </p:txBody>
      </p:sp>
      <p:sp>
        <p:nvSpPr>
          <p:cNvPr id="6" name="Slide Number Placeholder 5"/>
          <p:cNvSpPr>
            <a:spLocks noGrp="1"/>
          </p:cNvSpPr>
          <p:nvPr>
            <p:ph type="sldNum" sz="quarter" idx="12"/>
          </p:nvPr>
        </p:nvSpPr>
        <p:spPr/>
        <p:txBody>
          <a:bodyPr/>
          <a:lstStyle/>
          <a:p>
            <a:pPr>
              <a:defRPr/>
            </a:pPr>
            <a:fld id="{2807F527-F93A-4DFB-A6A5-8EC3CE84B904}" type="slidenum">
              <a:rPr lang="en-US" altLang="en-US" smtClean="0"/>
              <a:pPr>
                <a:defRPr/>
              </a:pPr>
              <a:t>‹#›</a:t>
            </a:fld>
            <a:endParaRPr lang="en-US" altLang="en-US"/>
          </a:p>
        </p:txBody>
      </p:sp>
    </p:spTree>
    <p:extLst>
      <p:ext uri="{BB962C8B-B14F-4D97-AF65-F5344CB8AC3E}">
        <p14:creationId xmlns:p14="http://schemas.microsoft.com/office/powerpoint/2010/main" val="2668446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ltLang="en-US">
              <a:solidFill>
                <a:srgbClr val="696464"/>
              </a:solidFill>
            </a:endParaRPr>
          </a:p>
        </p:txBody>
      </p:sp>
      <p:sp>
        <p:nvSpPr>
          <p:cNvPr id="5" name="Footer Placeholder 4"/>
          <p:cNvSpPr>
            <a:spLocks noGrp="1"/>
          </p:cNvSpPr>
          <p:nvPr>
            <p:ph type="ftr" sz="quarter" idx="11"/>
          </p:nvPr>
        </p:nvSpPr>
        <p:spPr/>
        <p:txBody>
          <a:bodyPr/>
          <a:lstStyle/>
          <a:p>
            <a:pPr>
              <a:defRPr/>
            </a:pPr>
            <a:r>
              <a:rPr lang="en-US" altLang="en-US">
                <a:solidFill>
                  <a:srgbClr val="696464"/>
                </a:solidFill>
              </a:rPr>
              <a:t>Spring 2008 Sadat Kemal</a:t>
            </a:r>
          </a:p>
        </p:txBody>
      </p:sp>
      <p:sp>
        <p:nvSpPr>
          <p:cNvPr id="6" name="Slide Number Placeholder 5"/>
          <p:cNvSpPr>
            <a:spLocks noGrp="1"/>
          </p:cNvSpPr>
          <p:nvPr>
            <p:ph type="sldNum" sz="quarter" idx="12"/>
          </p:nvPr>
        </p:nvSpPr>
        <p:spPr/>
        <p:txBody>
          <a:bodyPr/>
          <a:lstStyle/>
          <a:p>
            <a:pPr>
              <a:defRPr/>
            </a:pPr>
            <a:fld id="{89C8E36F-213B-467E-9B06-26B7FD997BA4}" type="slidenum">
              <a:rPr lang="en-US" altLang="en-US" smtClean="0"/>
              <a:pPr>
                <a:defRPr/>
              </a:pPr>
              <a:t>‹#›</a:t>
            </a:fld>
            <a:endParaRPr lang="en-US" altLang="en-US"/>
          </a:p>
        </p:txBody>
      </p:sp>
    </p:spTree>
    <p:extLst>
      <p:ext uri="{BB962C8B-B14F-4D97-AF65-F5344CB8AC3E}">
        <p14:creationId xmlns:p14="http://schemas.microsoft.com/office/powerpoint/2010/main" val="3784932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ltLang="en-US">
              <a:solidFill>
                <a:srgbClr val="696464"/>
              </a:solidFill>
            </a:endParaRPr>
          </a:p>
        </p:txBody>
      </p:sp>
      <p:sp>
        <p:nvSpPr>
          <p:cNvPr id="6" name="Footer Placeholder 5"/>
          <p:cNvSpPr>
            <a:spLocks noGrp="1"/>
          </p:cNvSpPr>
          <p:nvPr>
            <p:ph type="ftr" sz="quarter" idx="11"/>
          </p:nvPr>
        </p:nvSpPr>
        <p:spPr/>
        <p:txBody>
          <a:bodyPr/>
          <a:lstStyle/>
          <a:p>
            <a:pPr>
              <a:defRPr/>
            </a:pPr>
            <a:r>
              <a:rPr lang="en-US" altLang="en-US">
                <a:solidFill>
                  <a:srgbClr val="696464"/>
                </a:solidFill>
              </a:rPr>
              <a:t>Spring 2008 Sadat Kemal</a:t>
            </a:r>
          </a:p>
        </p:txBody>
      </p:sp>
      <p:sp>
        <p:nvSpPr>
          <p:cNvPr id="7" name="Slide Number Placeholder 6"/>
          <p:cNvSpPr>
            <a:spLocks noGrp="1"/>
          </p:cNvSpPr>
          <p:nvPr>
            <p:ph type="sldNum" sz="quarter" idx="12"/>
          </p:nvPr>
        </p:nvSpPr>
        <p:spPr/>
        <p:txBody>
          <a:bodyPr/>
          <a:lstStyle/>
          <a:p>
            <a:pPr>
              <a:defRPr/>
            </a:pPr>
            <a:fld id="{F4A6D0BD-7E3E-4214-B0E0-B6DFC68C9D36}" type="slidenum">
              <a:rPr lang="en-US" altLang="en-US" smtClean="0"/>
              <a:pPr>
                <a:defRPr/>
              </a:pPr>
              <a:t>‹#›</a:t>
            </a:fld>
            <a:endParaRPr lang="en-US" altLang="en-US"/>
          </a:p>
        </p:txBody>
      </p:sp>
    </p:spTree>
    <p:extLst>
      <p:ext uri="{BB962C8B-B14F-4D97-AF65-F5344CB8AC3E}">
        <p14:creationId xmlns:p14="http://schemas.microsoft.com/office/powerpoint/2010/main" val="3559390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ltLang="en-US">
              <a:solidFill>
                <a:srgbClr val="696464"/>
              </a:solidFill>
            </a:endParaRPr>
          </a:p>
        </p:txBody>
      </p:sp>
      <p:sp>
        <p:nvSpPr>
          <p:cNvPr id="8" name="Footer Placeholder 7"/>
          <p:cNvSpPr>
            <a:spLocks noGrp="1"/>
          </p:cNvSpPr>
          <p:nvPr>
            <p:ph type="ftr" sz="quarter" idx="11"/>
          </p:nvPr>
        </p:nvSpPr>
        <p:spPr/>
        <p:txBody>
          <a:bodyPr/>
          <a:lstStyle/>
          <a:p>
            <a:pPr>
              <a:defRPr/>
            </a:pPr>
            <a:r>
              <a:rPr lang="en-US" altLang="en-US">
                <a:solidFill>
                  <a:srgbClr val="696464"/>
                </a:solidFill>
              </a:rPr>
              <a:t>Spring 2008 Sadat Kemal</a:t>
            </a:r>
          </a:p>
        </p:txBody>
      </p:sp>
      <p:sp>
        <p:nvSpPr>
          <p:cNvPr id="9" name="Slide Number Placeholder 8"/>
          <p:cNvSpPr>
            <a:spLocks noGrp="1"/>
          </p:cNvSpPr>
          <p:nvPr>
            <p:ph type="sldNum" sz="quarter" idx="12"/>
          </p:nvPr>
        </p:nvSpPr>
        <p:spPr/>
        <p:txBody>
          <a:bodyPr/>
          <a:lstStyle/>
          <a:p>
            <a:pPr>
              <a:defRPr/>
            </a:pPr>
            <a:fld id="{BB6FA400-5551-4E8F-A919-32247508BFA1}" type="slidenum">
              <a:rPr lang="en-US" altLang="en-US" smtClean="0"/>
              <a:pPr>
                <a:defRPr/>
              </a:pPr>
              <a:t>‹#›</a:t>
            </a:fld>
            <a:endParaRPr lang="en-US" altLang="en-US"/>
          </a:p>
        </p:txBody>
      </p:sp>
    </p:spTree>
    <p:extLst>
      <p:ext uri="{BB962C8B-B14F-4D97-AF65-F5344CB8AC3E}">
        <p14:creationId xmlns:p14="http://schemas.microsoft.com/office/powerpoint/2010/main" val="3773138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ltLang="en-US">
              <a:solidFill>
                <a:srgbClr val="696464"/>
              </a:solidFill>
            </a:endParaRPr>
          </a:p>
        </p:txBody>
      </p:sp>
      <p:sp>
        <p:nvSpPr>
          <p:cNvPr id="4" name="Footer Placeholder 3"/>
          <p:cNvSpPr>
            <a:spLocks noGrp="1"/>
          </p:cNvSpPr>
          <p:nvPr>
            <p:ph type="ftr" sz="quarter" idx="11"/>
          </p:nvPr>
        </p:nvSpPr>
        <p:spPr/>
        <p:txBody>
          <a:bodyPr/>
          <a:lstStyle/>
          <a:p>
            <a:pPr>
              <a:defRPr/>
            </a:pPr>
            <a:r>
              <a:rPr lang="en-US" altLang="en-US">
                <a:solidFill>
                  <a:srgbClr val="696464"/>
                </a:solidFill>
              </a:rPr>
              <a:t>Spring 2008 Sadat Kemal</a:t>
            </a:r>
          </a:p>
        </p:txBody>
      </p:sp>
      <p:sp>
        <p:nvSpPr>
          <p:cNvPr id="5" name="Slide Number Placeholder 4"/>
          <p:cNvSpPr>
            <a:spLocks noGrp="1"/>
          </p:cNvSpPr>
          <p:nvPr>
            <p:ph type="sldNum" sz="quarter" idx="12"/>
          </p:nvPr>
        </p:nvSpPr>
        <p:spPr/>
        <p:txBody>
          <a:bodyPr/>
          <a:lstStyle/>
          <a:p>
            <a:pPr>
              <a:defRPr/>
            </a:pPr>
            <a:fld id="{9F3E4F15-0F11-4BCB-8B42-D3F06B92C5D2}" type="slidenum">
              <a:rPr lang="en-US" altLang="en-US" smtClean="0"/>
              <a:pPr>
                <a:defRPr/>
              </a:pPr>
              <a:t>‹#›</a:t>
            </a:fld>
            <a:endParaRPr lang="en-US" altLang="en-US"/>
          </a:p>
        </p:txBody>
      </p:sp>
    </p:spTree>
    <p:extLst>
      <p:ext uri="{BB962C8B-B14F-4D97-AF65-F5344CB8AC3E}">
        <p14:creationId xmlns:p14="http://schemas.microsoft.com/office/powerpoint/2010/main" val="2953204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en-US">
              <a:solidFill>
                <a:srgbClr val="696464"/>
              </a:solidFill>
            </a:endParaRPr>
          </a:p>
        </p:txBody>
      </p:sp>
      <p:sp>
        <p:nvSpPr>
          <p:cNvPr id="3" name="Footer Placeholder 2"/>
          <p:cNvSpPr>
            <a:spLocks noGrp="1"/>
          </p:cNvSpPr>
          <p:nvPr>
            <p:ph type="ftr" sz="quarter" idx="11"/>
          </p:nvPr>
        </p:nvSpPr>
        <p:spPr/>
        <p:txBody>
          <a:bodyPr/>
          <a:lstStyle/>
          <a:p>
            <a:pPr>
              <a:defRPr/>
            </a:pPr>
            <a:r>
              <a:rPr lang="en-US" altLang="en-US">
                <a:solidFill>
                  <a:srgbClr val="696464"/>
                </a:solidFill>
              </a:rPr>
              <a:t>Spring 2008 Sadat Kemal</a:t>
            </a:r>
          </a:p>
        </p:txBody>
      </p:sp>
      <p:sp>
        <p:nvSpPr>
          <p:cNvPr id="4" name="Slide Number Placeholder 3"/>
          <p:cNvSpPr>
            <a:spLocks noGrp="1"/>
          </p:cNvSpPr>
          <p:nvPr>
            <p:ph type="sldNum" sz="quarter" idx="12"/>
          </p:nvPr>
        </p:nvSpPr>
        <p:spPr/>
        <p:txBody>
          <a:bodyPr/>
          <a:lstStyle/>
          <a:p>
            <a:pPr>
              <a:defRPr/>
            </a:pPr>
            <a:fld id="{732F5D36-CCF5-4060-98AA-59BFC04ABD9A}" type="slidenum">
              <a:rPr lang="en-US" altLang="en-US" smtClean="0"/>
              <a:pPr>
                <a:defRPr/>
              </a:pPr>
              <a:t>‹#›</a:t>
            </a:fld>
            <a:endParaRPr lang="en-US" altLang="en-US"/>
          </a:p>
        </p:txBody>
      </p:sp>
    </p:spTree>
    <p:extLst>
      <p:ext uri="{BB962C8B-B14F-4D97-AF65-F5344CB8AC3E}">
        <p14:creationId xmlns:p14="http://schemas.microsoft.com/office/powerpoint/2010/main" val="618602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solidFill>
                <a:srgbClr val="696464"/>
              </a:solidFill>
            </a:endParaRPr>
          </a:p>
        </p:txBody>
      </p:sp>
      <p:sp>
        <p:nvSpPr>
          <p:cNvPr id="6" name="Footer Placeholder 5"/>
          <p:cNvSpPr>
            <a:spLocks noGrp="1"/>
          </p:cNvSpPr>
          <p:nvPr>
            <p:ph type="ftr" sz="quarter" idx="11"/>
          </p:nvPr>
        </p:nvSpPr>
        <p:spPr/>
        <p:txBody>
          <a:bodyPr/>
          <a:lstStyle/>
          <a:p>
            <a:pPr>
              <a:defRPr/>
            </a:pPr>
            <a:r>
              <a:rPr lang="en-US" altLang="en-US">
                <a:solidFill>
                  <a:srgbClr val="696464"/>
                </a:solidFill>
              </a:rPr>
              <a:t>Spring 2008 Sadat Kemal</a:t>
            </a:r>
          </a:p>
        </p:txBody>
      </p:sp>
      <p:sp>
        <p:nvSpPr>
          <p:cNvPr id="7" name="Slide Number Placeholder 6"/>
          <p:cNvSpPr>
            <a:spLocks noGrp="1"/>
          </p:cNvSpPr>
          <p:nvPr>
            <p:ph type="sldNum" sz="quarter" idx="12"/>
          </p:nvPr>
        </p:nvSpPr>
        <p:spPr/>
        <p:txBody>
          <a:bodyPr/>
          <a:lstStyle/>
          <a:p>
            <a:pPr>
              <a:defRPr/>
            </a:pPr>
            <a:fld id="{0AA3BF10-6948-473C-B6F0-ED68A196E3B3}" type="slidenum">
              <a:rPr lang="en-US" altLang="en-US" smtClean="0"/>
              <a:pPr>
                <a:defRPr/>
              </a:pPr>
              <a:t>‹#›</a:t>
            </a:fld>
            <a:endParaRPr lang="en-US" altLang="en-US"/>
          </a:p>
        </p:txBody>
      </p:sp>
    </p:spTree>
    <p:extLst>
      <p:ext uri="{BB962C8B-B14F-4D97-AF65-F5344CB8AC3E}">
        <p14:creationId xmlns:p14="http://schemas.microsoft.com/office/powerpoint/2010/main" val="2362254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ltLang="en-US">
              <a:solidFill>
                <a:srgbClr val="696464"/>
              </a:solidFill>
            </a:endParaRPr>
          </a:p>
        </p:txBody>
      </p:sp>
      <p:sp>
        <p:nvSpPr>
          <p:cNvPr id="6" name="Footer Placeholder 5"/>
          <p:cNvSpPr>
            <a:spLocks noGrp="1"/>
          </p:cNvSpPr>
          <p:nvPr>
            <p:ph type="ftr" sz="quarter" idx="11"/>
          </p:nvPr>
        </p:nvSpPr>
        <p:spPr/>
        <p:txBody>
          <a:bodyPr/>
          <a:lstStyle/>
          <a:p>
            <a:pPr>
              <a:defRPr/>
            </a:pPr>
            <a:r>
              <a:rPr lang="en-US" altLang="en-US">
                <a:solidFill>
                  <a:srgbClr val="696464"/>
                </a:solidFill>
              </a:rPr>
              <a:t>Spring 2008 Sadat Kemal</a:t>
            </a:r>
          </a:p>
        </p:txBody>
      </p:sp>
      <p:sp>
        <p:nvSpPr>
          <p:cNvPr id="7" name="Slide Number Placeholder 6"/>
          <p:cNvSpPr>
            <a:spLocks noGrp="1"/>
          </p:cNvSpPr>
          <p:nvPr>
            <p:ph type="sldNum" sz="quarter" idx="12"/>
          </p:nvPr>
        </p:nvSpPr>
        <p:spPr/>
        <p:txBody>
          <a:bodyPr/>
          <a:lstStyle/>
          <a:p>
            <a:pPr>
              <a:defRPr/>
            </a:pPr>
            <a:fld id="{E9197677-13E4-4364-9495-A2C98EFA2818}" type="slidenum">
              <a:rPr lang="en-US" altLang="en-US" smtClean="0"/>
              <a:pPr>
                <a:defRPr/>
              </a:pPr>
              <a:t>‹#›</a:t>
            </a:fld>
            <a:endParaRPr lang="en-US" altLang="en-US"/>
          </a:p>
        </p:txBody>
      </p:sp>
    </p:spTree>
    <p:extLst>
      <p:ext uri="{BB962C8B-B14F-4D97-AF65-F5344CB8AC3E}">
        <p14:creationId xmlns:p14="http://schemas.microsoft.com/office/powerpoint/2010/main" val="2138026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solidFill>
                <a:srgbClr val="696464"/>
              </a:solidFill>
            </a:endParaRPr>
          </a:p>
        </p:txBody>
      </p:sp>
      <p:sp>
        <p:nvSpPr>
          <p:cNvPr id="5" name="Footer Placeholder 4"/>
          <p:cNvSpPr>
            <a:spLocks noGrp="1"/>
          </p:cNvSpPr>
          <p:nvPr>
            <p:ph type="ftr" sz="quarter" idx="11"/>
          </p:nvPr>
        </p:nvSpPr>
        <p:spPr/>
        <p:txBody>
          <a:bodyPr/>
          <a:lstStyle/>
          <a:p>
            <a:pPr>
              <a:defRPr/>
            </a:pPr>
            <a:r>
              <a:rPr lang="en-US" altLang="en-US">
                <a:solidFill>
                  <a:srgbClr val="696464"/>
                </a:solidFill>
              </a:rPr>
              <a:t>Spring 2008 Sadat Kemal</a:t>
            </a:r>
          </a:p>
        </p:txBody>
      </p:sp>
      <p:sp>
        <p:nvSpPr>
          <p:cNvPr id="6" name="Slide Number Placeholder 5"/>
          <p:cNvSpPr>
            <a:spLocks noGrp="1"/>
          </p:cNvSpPr>
          <p:nvPr>
            <p:ph type="sldNum" sz="quarter" idx="12"/>
          </p:nvPr>
        </p:nvSpPr>
        <p:spPr/>
        <p:txBody>
          <a:bodyPr/>
          <a:lstStyle/>
          <a:p>
            <a:pPr>
              <a:defRPr/>
            </a:pPr>
            <a:fld id="{4E222682-D3A7-4080-BE30-1D909CA73AE5}" type="slidenum">
              <a:rPr lang="en-US" altLang="en-US" smtClean="0"/>
              <a:pPr>
                <a:defRPr/>
              </a:pPr>
              <a:t>‹#›</a:t>
            </a:fld>
            <a:endParaRPr lang="en-US" altLang="en-US"/>
          </a:p>
        </p:txBody>
      </p:sp>
    </p:spTree>
    <p:extLst>
      <p:ext uri="{BB962C8B-B14F-4D97-AF65-F5344CB8AC3E}">
        <p14:creationId xmlns:p14="http://schemas.microsoft.com/office/powerpoint/2010/main" val="2694190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ltLang="en-US">
              <a:solidFill>
                <a:srgbClr val="696464"/>
              </a:solidFill>
            </a:endParaRPr>
          </a:p>
        </p:txBody>
      </p:sp>
      <p:sp>
        <p:nvSpPr>
          <p:cNvPr id="5" name="Footer Placeholder 4"/>
          <p:cNvSpPr>
            <a:spLocks noGrp="1"/>
          </p:cNvSpPr>
          <p:nvPr>
            <p:ph type="ftr" sz="quarter" idx="11"/>
          </p:nvPr>
        </p:nvSpPr>
        <p:spPr/>
        <p:txBody>
          <a:bodyPr/>
          <a:lstStyle/>
          <a:p>
            <a:pPr>
              <a:defRPr/>
            </a:pPr>
            <a:r>
              <a:rPr lang="en-US" altLang="en-US">
                <a:solidFill>
                  <a:srgbClr val="696464"/>
                </a:solidFill>
              </a:rPr>
              <a:t>Spring 2008 Sadat Kemal</a:t>
            </a:r>
          </a:p>
        </p:txBody>
      </p:sp>
      <p:sp>
        <p:nvSpPr>
          <p:cNvPr id="6" name="Slide Number Placeholder 5"/>
          <p:cNvSpPr>
            <a:spLocks noGrp="1"/>
          </p:cNvSpPr>
          <p:nvPr>
            <p:ph type="sldNum" sz="quarter" idx="12"/>
          </p:nvPr>
        </p:nvSpPr>
        <p:spPr/>
        <p:txBody>
          <a:bodyPr/>
          <a:lstStyle/>
          <a:p>
            <a:pPr>
              <a:defRPr/>
            </a:pPr>
            <a:fld id="{F79B7F07-9403-4036-8896-1B37DAC80705}" type="slidenum">
              <a:rPr lang="en-US" altLang="en-US" smtClean="0"/>
              <a:pPr>
                <a:defRPr/>
              </a:pPr>
              <a:t>‹#›</a:t>
            </a:fld>
            <a:endParaRPr lang="en-US" altLang="en-US"/>
          </a:p>
        </p:txBody>
      </p:sp>
    </p:spTree>
    <p:extLst>
      <p:ext uri="{BB962C8B-B14F-4D97-AF65-F5344CB8AC3E}">
        <p14:creationId xmlns:p14="http://schemas.microsoft.com/office/powerpoint/2010/main" val="1222811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base">
              <a:spcBef>
                <a:spcPct val="0"/>
              </a:spcBef>
              <a:spcAft>
                <a:spcPct val="0"/>
              </a:spcAft>
              <a:defRPr/>
            </a:pPr>
            <a:endParaRPr lang="en-US" altLang="en-US">
              <a:solidFill>
                <a:srgbClr val="696464"/>
              </a:solidFill>
              <a:latin typeface="Arial" charset="0"/>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base">
              <a:spcBef>
                <a:spcPct val="0"/>
              </a:spcBef>
              <a:spcAft>
                <a:spcPct val="0"/>
              </a:spcAft>
              <a:defRPr/>
            </a:pPr>
            <a:r>
              <a:rPr lang="en-US" altLang="en-US">
                <a:solidFill>
                  <a:srgbClr val="696464"/>
                </a:solidFill>
                <a:latin typeface="Arial" charset="0"/>
              </a:rPr>
              <a:t>Spring 2008 Sadat Kemal</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defRPr/>
            </a:pPr>
            <a:fld id="{9447BB98-A6C2-473D-8413-D77869AA3344}" type="slidenum">
              <a:rPr lang="en-US" altLang="en-US" smtClean="0"/>
              <a:pPr fontAlgn="base">
                <a:spcBef>
                  <a:spcPct val="0"/>
                </a:spcBef>
                <a:spcAft>
                  <a:spcPct val="0"/>
                </a:spcAft>
                <a:defRPr/>
              </a:pPr>
              <a:t>‹#›</a:t>
            </a:fld>
            <a:endParaRPr lang="en-US" altLang="en-US"/>
          </a:p>
        </p:txBody>
      </p:sp>
    </p:spTree>
    <p:extLst>
      <p:ext uri="{BB962C8B-B14F-4D97-AF65-F5344CB8AC3E}">
        <p14:creationId xmlns:p14="http://schemas.microsoft.com/office/powerpoint/2010/main" val="36757253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i="1" kern="1200">
          <a:solidFill>
            <a:srgbClr val="0070C0"/>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Clr>
          <a:srgbClr val="7030A0"/>
        </a:buClr>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Clr>
          <a:srgbClr val="7030A0"/>
        </a:buClr>
        <a:buFont typeface="Wingdings" panose="05000000000000000000" pitchFamily="2" charset="2"/>
        <a:buChar char="Ø"/>
        <a:defRPr sz="2400" b="0" i="0" u="none"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Clr>
          <a:srgbClr val="7030A0"/>
        </a:buClr>
        <a:buFont typeface="Wingdings" panose="05000000000000000000" pitchFamily="2" charset="2"/>
        <a:buChar char="§"/>
        <a:defRPr sz="22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Clr>
          <a:srgbClr val="7030A0"/>
        </a:buClr>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22"/>
          <p:cNvSpPr>
            <a:spLocks noGrp="1"/>
          </p:cNvSpPr>
          <p:nvPr>
            <p:ph type="sldNum" sz="quarter" idx="12"/>
          </p:nvPr>
        </p:nvSpPr>
        <p:spPr/>
        <p:txBody>
          <a:bodyPr/>
          <a:lstStyle/>
          <a:p>
            <a:pPr>
              <a:defRPr/>
            </a:pPr>
            <a:fld id="{C9BFACD1-6F4D-4B99-9A4F-54045A736EDD}" type="slidenum">
              <a:rPr lang="en-US" smtClean="0">
                <a:solidFill>
                  <a:prstClr val="black">
                    <a:tint val="75000"/>
                  </a:prstClr>
                </a:solidFill>
                <a:latin typeface="Calibri"/>
              </a:rPr>
              <a:pPr>
                <a:defRPr/>
              </a:pPr>
              <a:t>1</a:t>
            </a:fld>
            <a:endParaRPr lang="en-US">
              <a:solidFill>
                <a:prstClr val="black">
                  <a:tint val="75000"/>
                </a:prstClr>
              </a:solidFill>
              <a:latin typeface="Calibri"/>
            </a:endParaRPr>
          </a:p>
        </p:txBody>
      </p:sp>
      <p:grpSp>
        <p:nvGrpSpPr>
          <p:cNvPr id="2" name="Group 3"/>
          <p:cNvGrpSpPr>
            <a:grpSpLocks/>
          </p:cNvGrpSpPr>
          <p:nvPr/>
        </p:nvGrpSpPr>
        <p:grpSpPr bwMode="auto">
          <a:xfrm>
            <a:off x="217854" y="561058"/>
            <a:ext cx="8418147" cy="1087438"/>
            <a:chOff x="0" y="0"/>
            <a:chExt cx="7772400" cy="935415"/>
          </a:xfrm>
        </p:grpSpPr>
        <p:sp>
          <p:nvSpPr>
            <p:cNvPr id="5" name="Rounded Rectangle 4"/>
            <p:cNvSpPr/>
            <p:nvPr/>
          </p:nvSpPr>
          <p:spPr>
            <a:xfrm>
              <a:off x="0" y="0"/>
              <a:ext cx="7772400" cy="935415"/>
            </a:xfrm>
            <a:prstGeom prst="round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sp>
        <p:sp>
          <p:nvSpPr>
            <p:cNvPr id="6" name="Rounded Rectangle 4"/>
            <p:cNvSpPr/>
            <p:nvPr/>
          </p:nvSpPr>
          <p:spPr>
            <a:xfrm>
              <a:off x="92974" y="61469"/>
              <a:ext cx="7585621" cy="804310"/>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txBody>
            <a:bodyPr/>
            <a:lstStyle/>
            <a:p>
              <a:pPr algn="ctr">
                <a:lnSpc>
                  <a:spcPct val="90000"/>
                </a:lnSpc>
                <a:spcAft>
                  <a:spcPts val="1000"/>
                </a:spcAft>
                <a:defRPr/>
              </a:pPr>
              <a:r>
                <a:rPr lang="en-US" sz="4000" b="1" dirty="0">
                  <a:ln w="12700">
                    <a:solidFill>
                      <a:srgbClr val="1F497D">
                        <a:satMod val="155000"/>
                      </a:srgbClr>
                    </a:solidFill>
                    <a:prstDash val="solid"/>
                  </a:ln>
                  <a:solidFill>
                    <a:srgbClr val="0070C0"/>
                  </a:solidFill>
                  <a:effectLst>
                    <a:outerShdw blurRad="41275" dist="20320" dir="1800000" algn="tl" rotWithShape="0">
                      <a:srgbClr val="000000">
                        <a:alpha val="40000"/>
                      </a:srgbClr>
                    </a:outerShdw>
                  </a:effectLst>
                  <a:latin typeface="Garamond" panose="02020404030301010803" pitchFamily="18" charset="0"/>
                </a:rPr>
                <a:t>Advanced Internet Programming</a:t>
              </a:r>
            </a:p>
          </p:txBody>
        </p:sp>
      </p:grpSp>
      <p:sp>
        <p:nvSpPr>
          <p:cNvPr id="8" name="Rectangle 7"/>
          <p:cNvSpPr/>
          <p:nvPr/>
        </p:nvSpPr>
        <p:spPr>
          <a:xfrm>
            <a:off x="875123" y="2057274"/>
            <a:ext cx="7393754" cy="1572826"/>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txBody>
          <a:bodyPr/>
          <a:lstStyle/>
          <a:p>
            <a:pPr algn="ctr">
              <a:spcAft>
                <a:spcPts val="1000"/>
              </a:spcAft>
              <a:defRPr/>
            </a:pPr>
            <a:r>
              <a:rPr lang="en-US" sz="3600" b="1" dirty="0">
                <a:ln w="12700">
                  <a:solidFill>
                    <a:srgbClr val="1F497D">
                      <a:satMod val="155000"/>
                    </a:srgbClr>
                  </a:solidFill>
                  <a:prstDash val="solid"/>
                </a:ln>
                <a:solidFill>
                  <a:srgbClr val="0070C0"/>
                </a:solidFill>
                <a:effectLst>
                  <a:outerShdw blurRad="41275" dist="20320" dir="1800000" algn="tl" rotWithShape="0">
                    <a:srgbClr val="000000">
                      <a:alpha val="40000"/>
                    </a:srgbClr>
                  </a:outerShdw>
                </a:effectLst>
                <a:latin typeface="Garamond" panose="02020404030301010803" pitchFamily="18" charset="0"/>
              </a:rPr>
              <a:t>Chapter - 3: PHP Files and Directories</a:t>
            </a:r>
          </a:p>
        </p:txBody>
      </p:sp>
    </p:spTree>
    <p:extLst>
      <p:ext uri="{BB962C8B-B14F-4D97-AF65-F5344CB8AC3E}">
        <p14:creationId xmlns:p14="http://schemas.microsoft.com/office/powerpoint/2010/main" val="95649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2"/>
          <p:cNvSpPr>
            <a:spLocks noGrp="1"/>
          </p:cNvSpPr>
          <p:nvPr>
            <p:ph type="sldNum" sz="quarter" idx="12"/>
          </p:nvPr>
        </p:nvSpPr>
        <p:spPr/>
        <p:txBody>
          <a:bodyPr/>
          <a:lstStyle/>
          <a:p>
            <a:pPr>
              <a:defRPr/>
            </a:pPr>
            <a:fld id="{EE02C0EB-EFD7-4173-88B8-1180494B63E1}" type="slidenum">
              <a:rPr lang="en-US">
                <a:solidFill>
                  <a:prstClr val="black">
                    <a:tint val="75000"/>
                  </a:prstClr>
                </a:solidFill>
                <a:latin typeface="Calibri"/>
              </a:rPr>
              <a:pPr>
                <a:defRPr/>
              </a:pPr>
              <a:t>2</a:t>
            </a:fld>
            <a:endParaRPr lang="en-US" dirty="0">
              <a:solidFill>
                <a:prstClr val="black">
                  <a:tint val="75000"/>
                </a:prstClr>
              </a:solidFill>
              <a:latin typeface="Calibri"/>
            </a:endParaRPr>
          </a:p>
        </p:txBody>
      </p:sp>
      <p:sp>
        <p:nvSpPr>
          <p:cNvPr id="6" name="Rounded Rectangle 4"/>
          <p:cNvSpPr/>
          <p:nvPr/>
        </p:nvSpPr>
        <p:spPr>
          <a:xfrm>
            <a:off x="408711" y="353233"/>
            <a:ext cx="8160328" cy="654818"/>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txBody>
          <a:bodyPr/>
          <a:lstStyle/>
          <a:p>
            <a:pPr algn="ctr">
              <a:lnSpc>
                <a:spcPct val="90000"/>
              </a:lnSpc>
              <a:spcAft>
                <a:spcPts val="1000"/>
              </a:spcAft>
              <a:defRPr/>
            </a:pPr>
            <a:r>
              <a:rPr lang="en-US" sz="4000" b="1" dirty="0">
                <a:solidFill>
                  <a:srgbClr val="003399"/>
                </a:solidFill>
                <a:latin typeface="Garamond" panose="02020404030301010803" pitchFamily="18" charset="0"/>
              </a:rPr>
              <a:t>Session #1 Topics</a:t>
            </a:r>
          </a:p>
        </p:txBody>
      </p:sp>
      <p:sp>
        <p:nvSpPr>
          <p:cNvPr id="5" name="AutoShape 2"/>
          <p:cNvSpPr>
            <a:spLocks noChangeArrowheads="1"/>
          </p:cNvSpPr>
          <p:nvPr/>
        </p:nvSpPr>
        <p:spPr bwMode="auto">
          <a:xfrm>
            <a:off x="724011" y="3473602"/>
            <a:ext cx="7529728" cy="698450"/>
          </a:xfrm>
          <a:prstGeom prst="hexagon">
            <a:avLst>
              <a:gd name="adj" fmla="val 21533"/>
              <a:gd name="vf" fmla="val 115470"/>
            </a:avLst>
          </a:prstGeom>
          <a:gradFill rotWithShape="1">
            <a:gsLst>
              <a:gs pos="0">
                <a:schemeClr val="accent1">
                  <a:gamma/>
                  <a:shade val="0"/>
                  <a:invGamma/>
                </a:schemeClr>
              </a:gs>
              <a:gs pos="50000">
                <a:schemeClr val="accent1"/>
              </a:gs>
              <a:gs pos="100000">
                <a:schemeClr val="accent1">
                  <a:gamma/>
                  <a:shade val="0"/>
                  <a:invGamma/>
                </a:schemeClr>
              </a:gs>
            </a:gsLst>
            <a:lin ang="5400000" scaled="1"/>
          </a:gradFill>
          <a:ln w="15875" cmpd="sng">
            <a:solidFill>
              <a:schemeClr val="tx2"/>
            </a:solidFill>
            <a:miter lim="800000"/>
            <a:headEnd/>
            <a:tailEnd/>
          </a:ln>
          <a:effectLst/>
        </p:spPr>
        <p:txBody>
          <a:bodyPr wrap="none" anchor="ctr"/>
          <a:lstStyle/>
          <a:p>
            <a:endParaRPr lang="en-US" sz="2000" b="1">
              <a:solidFill>
                <a:srgbClr val="1F497D"/>
              </a:solidFill>
              <a:effectLst>
                <a:outerShdw blurRad="38100" dist="38100" dir="2700000" algn="tl">
                  <a:srgbClr val="000000"/>
                </a:outerShdw>
              </a:effectLst>
              <a:latin typeface="Garamond" panose="02020404030301010803" pitchFamily="18" charset="0"/>
              <a:ea typeface="HY견고딕" pitchFamily="2" charset="-127"/>
            </a:endParaRPr>
          </a:p>
        </p:txBody>
      </p:sp>
      <p:sp>
        <p:nvSpPr>
          <p:cNvPr id="7" name="AutoShape 3"/>
          <p:cNvSpPr>
            <a:spLocks noChangeArrowheads="1"/>
          </p:cNvSpPr>
          <p:nvPr/>
        </p:nvSpPr>
        <p:spPr bwMode="auto">
          <a:xfrm>
            <a:off x="724011" y="2419502"/>
            <a:ext cx="7529728" cy="698450"/>
          </a:xfrm>
          <a:prstGeom prst="hexagon">
            <a:avLst>
              <a:gd name="adj" fmla="val 21533"/>
              <a:gd name="vf" fmla="val 115470"/>
            </a:avLst>
          </a:prstGeom>
          <a:gradFill rotWithShape="1">
            <a:gsLst>
              <a:gs pos="0">
                <a:schemeClr val="accent1">
                  <a:gamma/>
                  <a:shade val="0"/>
                  <a:invGamma/>
                </a:schemeClr>
              </a:gs>
              <a:gs pos="50000">
                <a:schemeClr val="accent1"/>
              </a:gs>
              <a:gs pos="100000">
                <a:schemeClr val="accent1">
                  <a:gamma/>
                  <a:shade val="0"/>
                  <a:invGamma/>
                </a:schemeClr>
              </a:gs>
            </a:gsLst>
            <a:lin ang="5400000" scaled="1"/>
          </a:gradFill>
          <a:ln w="15875" cmpd="sng">
            <a:solidFill>
              <a:schemeClr val="tx2"/>
            </a:solidFill>
            <a:miter lim="800000"/>
            <a:headEnd/>
            <a:tailEnd/>
          </a:ln>
          <a:effectLst/>
        </p:spPr>
        <p:txBody>
          <a:bodyPr wrap="none" anchor="ctr"/>
          <a:lstStyle/>
          <a:p>
            <a:endParaRPr lang="en-US" sz="2000" b="1">
              <a:solidFill>
                <a:srgbClr val="1F497D"/>
              </a:solidFill>
              <a:effectLst>
                <a:outerShdw blurRad="38100" dist="38100" dir="2700000" algn="tl">
                  <a:srgbClr val="000000"/>
                </a:outerShdw>
              </a:effectLst>
              <a:latin typeface="Garamond" panose="02020404030301010803" pitchFamily="18" charset="0"/>
              <a:ea typeface="HY견고딕" pitchFamily="2" charset="-127"/>
            </a:endParaRPr>
          </a:p>
        </p:txBody>
      </p:sp>
      <p:sp>
        <p:nvSpPr>
          <p:cNvPr id="11" name="AutoShape 8"/>
          <p:cNvSpPr>
            <a:spLocks noChangeArrowheads="1"/>
          </p:cNvSpPr>
          <p:nvPr/>
        </p:nvSpPr>
        <p:spPr bwMode="auto">
          <a:xfrm>
            <a:off x="882184" y="2417916"/>
            <a:ext cx="7364628" cy="698450"/>
          </a:xfrm>
          <a:prstGeom prst="hexagon">
            <a:avLst>
              <a:gd name="adj" fmla="val 21533"/>
              <a:gd name="vf" fmla="val 115470"/>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txBody>
          <a:bodyPr/>
          <a:lstStyle/>
          <a:p>
            <a:pPr>
              <a:lnSpc>
                <a:spcPct val="90000"/>
              </a:lnSpc>
              <a:spcAft>
                <a:spcPts val="1000"/>
              </a:spcAft>
              <a:defRPr/>
            </a:pPr>
            <a:r>
              <a:rPr lang="en-US" sz="4000" b="1" dirty="0">
                <a:solidFill>
                  <a:srgbClr val="003399"/>
                </a:solidFill>
                <a:latin typeface="Garamond" panose="02020404030301010803" pitchFamily="18" charset="0"/>
              </a:rPr>
              <a:t>2. Reading a file </a:t>
            </a:r>
          </a:p>
        </p:txBody>
      </p:sp>
      <p:sp>
        <p:nvSpPr>
          <p:cNvPr id="12" name="AutoShape 9"/>
          <p:cNvSpPr>
            <a:spLocks noChangeArrowheads="1"/>
          </p:cNvSpPr>
          <p:nvPr/>
        </p:nvSpPr>
        <p:spPr bwMode="auto">
          <a:xfrm>
            <a:off x="882184" y="3473602"/>
            <a:ext cx="7364628" cy="698450"/>
          </a:xfrm>
          <a:prstGeom prst="hexagon">
            <a:avLst>
              <a:gd name="adj" fmla="val 21533"/>
              <a:gd name="vf" fmla="val 115470"/>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txBody>
          <a:bodyPr/>
          <a:lstStyle/>
          <a:p>
            <a:pPr>
              <a:lnSpc>
                <a:spcPct val="90000"/>
              </a:lnSpc>
              <a:spcAft>
                <a:spcPts val="1000"/>
              </a:spcAft>
              <a:defRPr/>
            </a:pPr>
            <a:r>
              <a:rPr lang="en-US" sz="4000" b="1" dirty="0">
                <a:solidFill>
                  <a:srgbClr val="003399"/>
                </a:solidFill>
                <a:latin typeface="Garamond" panose="02020404030301010803" pitchFamily="18" charset="0"/>
              </a:rPr>
              <a:t>3. Writing to a file </a:t>
            </a:r>
          </a:p>
          <a:p>
            <a:pPr>
              <a:lnSpc>
                <a:spcPct val="90000"/>
              </a:lnSpc>
              <a:spcAft>
                <a:spcPts val="1000"/>
              </a:spcAft>
              <a:defRPr/>
            </a:pPr>
            <a:endParaRPr lang="en-US" sz="4000" b="1" dirty="0">
              <a:solidFill>
                <a:srgbClr val="003399"/>
              </a:solidFill>
              <a:latin typeface="Garamond" panose="02020404030301010803" pitchFamily="18" charset="0"/>
            </a:endParaRPr>
          </a:p>
        </p:txBody>
      </p:sp>
      <p:sp>
        <p:nvSpPr>
          <p:cNvPr id="14" name="Slide Number Placeholder 10"/>
          <p:cNvSpPr txBox="1">
            <a:spLocks/>
          </p:cNvSpPr>
          <p:nvPr/>
        </p:nvSpPr>
        <p:spPr>
          <a:xfrm>
            <a:off x="146304" y="6210300"/>
            <a:ext cx="457200" cy="457200"/>
          </a:xfrm>
          <a:prstGeom prst="rect">
            <a:avLst/>
          </a:prstGeom>
        </p:spPr>
        <p:txBody>
          <a:bodyPr vert="horz" lIns="91440" tIns="45720" rIns="91440" bIns="45720" rtlCol="0" anchor="ctr"/>
          <a:lstStyle/>
          <a:p>
            <a:pPr algn="r">
              <a:defRPr/>
            </a:pPr>
            <a:fld id="{6F42FDE4-A7DD-41A7-A0A6-9B649FB43336}" type="slidenum">
              <a:rPr lang="en-US" sz="1200">
                <a:solidFill>
                  <a:prstClr val="black">
                    <a:tint val="75000"/>
                  </a:prstClr>
                </a:solidFill>
                <a:latin typeface="Calibri"/>
              </a:rPr>
              <a:pPr algn="r">
                <a:defRPr/>
              </a:pPr>
              <a:t>2</a:t>
            </a:fld>
            <a:endParaRPr lang="en-US" sz="1200">
              <a:solidFill>
                <a:prstClr val="black">
                  <a:tint val="75000"/>
                </a:prstClr>
              </a:solidFill>
              <a:latin typeface="Calibri"/>
            </a:endParaRPr>
          </a:p>
        </p:txBody>
      </p:sp>
      <p:sp>
        <p:nvSpPr>
          <p:cNvPr id="16" name="AutoShape 2"/>
          <p:cNvSpPr>
            <a:spLocks noChangeArrowheads="1"/>
          </p:cNvSpPr>
          <p:nvPr/>
        </p:nvSpPr>
        <p:spPr bwMode="auto">
          <a:xfrm>
            <a:off x="724011" y="4583797"/>
            <a:ext cx="7529728" cy="698451"/>
          </a:xfrm>
          <a:prstGeom prst="hexagon">
            <a:avLst>
              <a:gd name="adj" fmla="val 21533"/>
              <a:gd name="vf" fmla="val 115470"/>
            </a:avLst>
          </a:prstGeom>
          <a:gradFill rotWithShape="1">
            <a:gsLst>
              <a:gs pos="0">
                <a:schemeClr val="accent1">
                  <a:gamma/>
                  <a:shade val="0"/>
                  <a:invGamma/>
                </a:schemeClr>
              </a:gs>
              <a:gs pos="50000">
                <a:schemeClr val="accent1"/>
              </a:gs>
              <a:gs pos="100000">
                <a:schemeClr val="accent1">
                  <a:gamma/>
                  <a:shade val="0"/>
                  <a:invGamma/>
                </a:schemeClr>
              </a:gs>
            </a:gsLst>
            <a:lin ang="5400000" scaled="1"/>
          </a:gradFill>
          <a:ln w="15875" cmpd="sng">
            <a:solidFill>
              <a:schemeClr val="tx2"/>
            </a:solidFill>
            <a:miter lim="800000"/>
            <a:headEnd/>
            <a:tailEnd/>
          </a:ln>
          <a:effectLst/>
        </p:spPr>
        <p:txBody>
          <a:bodyPr wrap="none" anchor="ctr"/>
          <a:lstStyle/>
          <a:p>
            <a:endParaRPr lang="en-US" sz="2000" b="1">
              <a:solidFill>
                <a:srgbClr val="1F497D"/>
              </a:solidFill>
              <a:effectLst>
                <a:outerShdw blurRad="38100" dist="38100" dir="2700000" algn="tl">
                  <a:srgbClr val="000000"/>
                </a:outerShdw>
              </a:effectLst>
              <a:latin typeface="Garamond" panose="02020404030301010803" pitchFamily="18" charset="0"/>
              <a:ea typeface="HY견고딕" pitchFamily="2" charset="-127"/>
            </a:endParaRPr>
          </a:p>
        </p:txBody>
      </p:sp>
      <p:sp>
        <p:nvSpPr>
          <p:cNvPr id="17" name="AutoShape 9"/>
          <p:cNvSpPr>
            <a:spLocks noChangeArrowheads="1"/>
          </p:cNvSpPr>
          <p:nvPr/>
        </p:nvSpPr>
        <p:spPr bwMode="auto">
          <a:xfrm>
            <a:off x="875257" y="4587334"/>
            <a:ext cx="7371555" cy="694913"/>
          </a:xfrm>
          <a:prstGeom prst="hexagon">
            <a:avLst>
              <a:gd name="adj" fmla="val 21533"/>
              <a:gd name="vf" fmla="val 115470"/>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txBody>
          <a:bodyPr/>
          <a:lstStyle/>
          <a:p>
            <a:pPr>
              <a:lnSpc>
                <a:spcPct val="90000"/>
              </a:lnSpc>
              <a:spcAft>
                <a:spcPts val="1000"/>
              </a:spcAft>
              <a:defRPr/>
            </a:pPr>
            <a:r>
              <a:rPr lang="en-US" sz="4000" b="1" dirty="0">
                <a:solidFill>
                  <a:srgbClr val="003399"/>
                </a:solidFill>
                <a:latin typeface="Garamond" panose="02020404030301010803" pitchFamily="18" charset="0"/>
              </a:rPr>
              <a:t>4. Closing a file </a:t>
            </a:r>
          </a:p>
          <a:p>
            <a:pPr algn="ctr">
              <a:lnSpc>
                <a:spcPct val="90000"/>
              </a:lnSpc>
              <a:spcAft>
                <a:spcPts val="1000"/>
              </a:spcAft>
              <a:defRPr/>
            </a:pPr>
            <a:endParaRPr lang="en-US" sz="4000" b="1" dirty="0">
              <a:solidFill>
                <a:srgbClr val="003399"/>
              </a:solidFill>
              <a:latin typeface="Garamond" panose="02020404030301010803" pitchFamily="18" charset="0"/>
            </a:endParaRPr>
          </a:p>
        </p:txBody>
      </p:sp>
      <p:sp>
        <p:nvSpPr>
          <p:cNvPr id="13" name="AutoShape 3">
            <a:extLst>
              <a:ext uri="{FF2B5EF4-FFF2-40B4-BE49-F238E27FC236}">
                <a16:creationId xmlns:a16="http://schemas.microsoft.com/office/drawing/2014/main" id="{D2A112A8-42EF-4B58-A54F-FC037D5B24E1}"/>
              </a:ext>
            </a:extLst>
          </p:cNvPr>
          <p:cNvSpPr>
            <a:spLocks noChangeArrowheads="1"/>
          </p:cNvSpPr>
          <p:nvPr/>
        </p:nvSpPr>
        <p:spPr bwMode="auto">
          <a:xfrm>
            <a:off x="724012" y="1381616"/>
            <a:ext cx="7529728" cy="698450"/>
          </a:xfrm>
          <a:prstGeom prst="hexagon">
            <a:avLst>
              <a:gd name="adj" fmla="val 21533"/>
              <a:gd name="vf" fmla="val 115470"/>
            </a:avLst>
          </a:prstGeom>
          <a:gradFill rotWithShape="1">
            <a:gsLst>
              <a:gs pos="0">
                <a:schemeClr val="accent1">
                  <a:gamma/>
                  <a:shade val="0"/>
                  <a:invGamma/>
                </a:schemeClr>
              </a:gs>
              <a:gs pos="50000">
                <a:schemeClr val="accent1"/>
              </a:gs>
              <a:gs pos="100000">
                <a:schemeClr val="accent1">
                  <a:gamma/>
                  <a:shade val="0"/>
                  <a:invGamma/>
                </a:schemeClr>
              </a:gs>
            </a:gsLst>
            <a:lin ang="5400000" scaled="1"/>
          </a:gradFill>
          <a:ln w="15875" cmpd="sng">
            <a:solidFill>
              <a:schemeClr val="tx2"/>
            </a:solidFill>
            <a:miter lim="800000"/>
            <a:headEnd/>
            <a:tailEnd/>
          </a:ln>
          <a:effectLst/>
        </p:spPr>
        <p:txBody>
          <a:bodyPr wrap="none" anchor="ctr"/>
          <a:lstStyle/>
          <a:p>
            <a:endParaRPr lang="en-US" sz="2000" b="1">
              <a:solidFill>
                <a:srgbClr val="1F497D"/>
              </a:solidFill>
              <a:effectLst>
                <a:outerShdw blurRad="38100" dist="38100" dir="2700000" algn="tl">
                  <a:srgbClr val="000000"/>
                </a:outerShdw>
              </a:effectLst>
              <a:latin typeface="Garamond" panose="02020404030301010803" pitchFamily="18" charset="0"/>
              <a:ea typeface="HY견고딕" pitchFamily="2" charset="-127"/>
            </a:endParaRPr>
          </a:p>
        </p:txBody>
      </p:sp>
      <p:sp>
        <p:nvSpPr>
          <p:cNvPr id="15" name="AutoShape 8">
            <a:extLst>
              <a:ext uri="{FF2B5EF4-FFF2-40B4-BE49-F238E27FC236}">
                <a16:creationId xmlns:a16="http://schemas.microsoft.com/office/drawing/2014/main" id="{568A0919-AF4C-4E3E-9B90-D0CAF380EF12}"/>
              </a:ext>
            </a:extLst>
          </p:cNvPr>
          <p:cNvSpPr>
            <a:spLocks noChangeArrowheads="1"/>
          </p:cNvSpPr>
          <p:nvPr/>
        </p:nvSpPr>
        <p:spPr bwMode="auto">
          <a:xfrm>
            <a:off x="882184" y="1381616"/>
            <a:ext cx="7364628" cy="698450"/>
          </a:xfrm>
          <a:prstGeom prst="hexagon">
            <a:avLst>
              <a:gd name="adj" fmla="val 21533"/>
              <a:gd name="vf" fmla="val 115470"/>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5400000" scaled="1"/>
            <a:tileRect/>
          </a:gradFill>
          <a:ln>
            <a:headEnd/>
            <a:tailEnd/>
          </a:ln>
        </p:spPr>
        <p:style>
          <a:lnRef idx="1">
            <a:schemeClr val="accent1"/>
          </a:lnRef>
          <a:fillRef idx="2">
            <a:schemeClr val="accent1"/>
          </a:fillRef>
          <a:effectRef idx="1">
            <a:schemeClr val="accent1"/>
          </a:effectRef>
          <a:fontRef idx="minor">
            <a:schemeClr val="dk1"/>
          </a:fontRef>
        </p:style>
        <p:txBody>
          <a:bodyPr/>
          <a:lstStyle/>
          <a:p>
            <a:pPr>
              <a:lnSpc>
                <a:spcPct val="90000"/>
              </a:lnSpc>
              <a:spcAft>
                <a:spcPts val="1000"/>
              </a:spcAft>
              <a:defRPr/>
            </a:pPr>
            <a:r>
              <a:rPr lang="en-US" sz="4000" b="1" dirty="0">
                <a:solidFill>
                  <a:srgbClr val="003399"/>
                </a:solidFill>
                <a:latin typeface="Garamond" panose="02020404030301010803" pitchFamily="18" charset="0"/>
              </a:rPr>
              <a:t>1. Opening a file </a:t>
            </a:r>
          </a:p>
        </p:txBody>
      </p:sp>
    </p:spTree>
    <p:extLst>
      <p:ext uri="{BB962C8B-B14F-4D97-AF65-F5344CB8AC3E}">
        <p14:creationId xmlns:p14="http://schemas.microsoft.com/office/powerpoint/2010/main" val="496808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A47FF-EA8F-41C2-A2D8-3AC6A1F0A147}"/>
              </a:ext>
            </a:extLst>
          </p:cNvPr>
          <p:cNvSpPr>
            <a:spLocks noGrp="1"/>
          </p:cNvSpPr>
          <p:nvPr>
            <p:ph type="title"/>
          </p:nvPr>
        </p:nvSpPr>
        <p:spPr>
          <a:xfrm>
            <a:off x="457200" y="274638"/>
            <a:ext cx="8229600" cy="1143000"/>
          </a:xfrm>
        </p:spPr>
        <p:txBody>
          <a:bodyPr>
            <a:normAutofit/>
          </a:bodyPr>
          <a:lstStyle/>
          <a:p>
            <a:r>
              <a:rPr lang="en-US" dirty="0"/>
              <a:t>Introduction to File Handling  PHP</a:t>
            </a:r>
          </a:p>
        </p:txBody>
      </p:sp>
      <p:sp>
        <p:nvSpPr>
          <p:cNvPr id="3" name="Content Placeholder 2">
            <a:extLst>
              <a:ext uri="{FF2B5EF4-FFF2-40B4-BE49-F238E27FC236}">
                <a16:creationId xmlns:a16="http://schemas.microsoft.com/office/drawing/2014/main" id="{ECCEFBC6-00CC-4864-B9DC-8CAA68D0BC51}"/>
              </a:ext>
            </a:extLst>
          </p:cNvPr>
          <p:cNvSpPr>
            <a:spLocks noGrp="1"/>
          </p:cNvSpPr>
          <p:nvPr>
            <p:ph idx="1"/>
          </p:nvPr>
        </p:nvSpPr>
        <p:spPr>
          <a:xfrm>
            <a:off x="532827" y="1277066"/>
            <a:ext cx="8229600" cy="4525963"/>
          </a:xfrm>
        </p:spPr>
        <p:txBody>
          <a:bodyPr>
            <a:normAutofit fontScale="85000" lnSpcReduction="20000"/>
          </a:bodyPr>
          <a:lstStyle/>
          <a:p>
            <a:r>
              <a:rPr lang="en-US" dirty="0"/>
              <a:t>File handling is an important part of any web application. You often need to open and process a file for different tasks.</a:t>
            </a:r>
          </a:p>
          <a:p>
            <a:r>
              <a:rPr lang="en-US" dirty="0"/>
              <a:t>File handling in PHP refers to the ability to interact with files stored on the server.</a:t>
            </a:r>
          </a:p>
          <a:p>
            <a:r>
              <a:rPr lang="en-US" dirty="0"/>
              <a:t>It allows your application to:</a:t>
            </a:r>
          </a:p>
          <a:p>
            <a:pPr lvl="1"/>
            <a:r>
              <a:rPr lang="en-US" dirty="0">
                <a:latin typeface="Garamond" panose="02020404030301010803" pitchFamily="18" charset="0"/>
              </a:rPr>
              <a:t>Create new files</a:t>
            </a:r>
          </a:p>
          <a:p>
            <a:pPr lvl="1"/>
            <a:r>
              <a:rPr lang="en-US" dirty="0">
                <a:latin typeface="Garamond" panose="02020404030301010803" pitchFamily="18" charset="0"/>
              </a:rPr>
              <a:t>Read data from files</a:t>
            </a:r>
          </a:p>
          <a:p>
            <a:pPr lvl="1"/>
            <a:r>
              <a:rPr lang="en-US" dirty="0">
                <a:latin typeface="Garamond" panose="02020404030301010803" pitchFamily="18" charset="0"/>
              </a:rPr>
              <a:t>Write or append data to files</a:t>
            </a:r>
          </a:p>
          <a:p>
            <a:pPr lvl="1"/>
            <a:r>
              <a:rPr lang="en-US" dirty="0">
                <a:latin typeface="Garamond" panose="02020404030301010803" pitchFamily="18" charset="0"/>
              </a:rPr>
              <a:t>Delete or modify existing files</a:t>
            </a:r>
          </a:p>
          <a:p>
            <a:r>
              <a:rPr lang="en-US" dirty="0"/>
              <a:t>This is essential for systems that require data storage, such as:</a:t>
            </a:r>
          </a:p>
          <a:p>
            <a:pPr lvl="1"/>
            <a:r>
              <a:rPr lang="en-US" dirty="0">
                <a:latin typeface="Garamond" panose="02020404030301010803" pitchFamily="18" charset="0"/>
              </a:rPr>
              <a:t>Logging systems</a:t>
            </a:r>
          </a:p>
          <a:p>
            <a:pPr lvl="1"/>
            <a:r>
              <a:rPr lang="en-US" dirty="0">
                <a:latin typeface="Garamond" panose="02020404030301010803" pitchFamily="18" charset="0"/>
              </a:rPr>
              <a:t>Configuration files</a:t>
            </a:r>
          </a:p>
          <a:p>
            <a:pPr lvl="1"/>
            <a:r>
              <a:rPr lang="en-US" dirty="0">
                <a:latin typeface="Garamond" panose="02020404030301010803" pitchFamily="18" charset="0"/>
              </a:rPr>
              <a:t>Saving results or reports</a:t>
            </a:r>
          </a:p>
          <a:p>
            <a:pPr lvl="1"/>
            <a:r>
              <a:rPr lang="en-US" dirty="0">
                <a:latin typeface="Garamond" panose="02020404030301010803" pitchFamily="18" charset="0"/>
              </a:rPr>
              <a:t>File upload handling</a:t>
            </a:r>
          </a:p>
        </p:txBody>
      </p:sp>
      <p:sp>
        <p:nvSpPr>
          <p:cNvPr id="5" name="Slide Number Placeholder 4">
            <a:extLst>
              <a:ext uri="{FF2B5EF4-FFF2-40B4-BE49-F238E27FC236}">
                <a16:creationId xmlns:a16="http://schemas.microsoft.com/office/drawing/2014/main" id="{9AFF7D15-7572-456A-97BB-5FC42607B9E4}"/>
              </a:ext>
            </a:extLst>
          </p:cNvPr>
          <p:cNvSpPr>
            <a:spLocks noGrp="1"/>
          </p:cNvSpPr>
          <p:nvPr>
            <p:ph type="sldNum" sz="quarter" idx="12"/>
          </p:nvPr>
        </p:nvSpPr>
        <p:spPr/>
        <p:txBody>
          <a:bodyPr/>
          <a:lstStyle/>
          <a:p>
            <a:pPr>
              <a:defRPr/>
            </a:pPr>
            <a:fld id="{2807F527-F93A-4DFB-A6A5-8EC3CE84B904}" type="slidenum">
              <a:rPr lang="en-US" altLang="en-US" smtClean="0"/>
              <a:pPr>
                <a:defRPr/>
              </a:pPr>
              <a:t>3</a:t>
            </a:fld>
            <a:endParaRPr lang="en-US" altLang="en-US"/>
          </a:p>
        </p:txBody>
      </p:sp>
    </p:spTree>
    <p:extLst>
      <p:ext uri="{BB962C8B-B14F-4D97-AF65-F5344CB8AC3E}">
        <p14:creationId xmlns:p14="http://schemas.microsoft.com/office/powerpoint/2010/main" val="3563253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82503"/>
            <a:ext cx="8229600" cy="928150"/>
          </a:xfrm>
        </p:spPr>
        <p:txBody>
          <a:bodyPr>
            <a:normAutofit/>
          </a:bodyPr>
          <a:lstStyle/>
          <a:p>
            <a:r>
              <a:rPr lang="en-US" dirty="0"/>
              <a:t>File Handling in PHP</a:t>
            </a:r>
          </a:p>
        </p:txBody>
      </p:sp>
      <p:sp>
        <p:nvSpPr>
          <p:cNvPr id="8195" name="Rectangle 3"/>
          <p:cNvSpPr>
            <a:spLocks noGrp="1" noChangeArrowheads="1"/>
          </p:cNvSpPr>
          <p:nvPr>
            <p:ph idx="1"/>
          </p:nvPr>
        </p:nvSpPr>
        <p:spPr>
          <a:xfrm>
            <a:off x="546576" y="933307"/>
            <a:ext cx="8356791" cy="5783752"/>
          </a:xfrm>
        </p:spPr>
        <p:txBody>
          <a:bodyPr>
            <a:normAutofit lnSpcReduction="10000"/>
          </a:bodyPr>
          <a:lstStyle/>
          <a:p>
            <a:r>
              <a:rPr lang="en-US" b="1" dirty="0">
                <a:solidFill>
                  <a:srgbClr val="0070C0"/>
                </a:solidFill>
              </a:rPr>
              <a:t>Opening Files in PHP</a:t>
            </a:r>
          </a:p>
          <a:p>
            <a:pPr lvl="1"/>
            <a:r>
              <a:rPr lang="en-US" dirty="0"/>
              <a:t>Files in PHP are opened using the </a:t>
            </a:r>
            <a:r>
              <a:rPr lang="en-US" b="1" dirty="0" err="1">
                <a:solidFill>
                  <a:srgbClr val="C00000"/>
                </a:solidFill>
              </a:rPr>
              <a:t>fopen</a:t>
            </a:r>
            <a:r>
              <a:rPr lang="en-US" b="1" dirty="0">
                <a:solidFill>
                  <a:srgbClr val="C00000"/>
                </a:solidFill>
              </a:rPr>
              <a:t>() function</a:t>
            </a:r>
            <a:r>
              <a:rPr lang="en-US" dirty="0"/>
              <a:t>.</a:t>
            </a:r>
          </a:p>
          <a:p>
            <a:pPr lvl="1"/>
            <a:r>
              <a:rPr lang="en-US" b="1" dirty="0"/>
              <a:t>It requires two parameters:</a:t>
            </a:r>
          </a:p>
          <a:p>
            <a:pPr lvl="2"/>
            <a:r>
              <a:rPr lang="en-US" b="1" dirty="0">
                <a:solidFill>
                  <a:srgbClr val="C00000"/>
                </a:solidFill>
              </a:rPr>
              <a:t>File name/path</a:t>
            </a:r>
          </a:p>
          <a:p>
            <a:pPr lvl="2"/>
            <a:r>
              <a:rPr lang="en-US" b="1" dirty="0">
                <a:solidFill>
                  <a:srgbClr val="C00000"/>
                </a:solidFill>
              </a:rPr>
              <a:t>Mode (how the file should be opened)</a:t>
            </a:r>
          </a:p>
          <a:p>
            <a:pPr lvl="1"/>
            <a:r>
              <a:rPr lang="en-US" dirty="0"/>
              <a:t>Syntax:</a:t>
            </a:r>
          </a:p>
          <a:p>
            <a:pPr lvl="2"/>
            <a:r>
              <a:rPr lang="en-US" dirty="0"/>
              <a:t>$</a:t>
            </a:r>
            <a:r>
              <a:rPr lang="en-US" dirty="0" err="1"/>
              <a:t>fp</a:t>
            </a:r>
            <a:r>
              <a:rPr lang="en-US" dirty="0"/>
              <a:t> = </a:t>
            </a:r>
            <a:r>
              <a:rPr lang="en-US" dirty="0" err="1"/>
              <a:t>fopen</a:t>
            </a:r>
            <a:r>
              <a:rPr lang="en-US" dirty="0"/>
              <a:t>("filename", "mode");</a:t>
            </a:r>
          </a:p>
          <a:p>
            <a:pPr lvl="1"/>
            <a:r>
              <a:rPr lang="en-US" dirty="0" err="1"/>
              <a:t>E.g</a:t>
            </a:r>
            <a:r>
              <a:rPr lang="en-US" dirty="0"/>
              <a:t>: $</a:t>
            </a:r>
            <a:r>
              <a:rPr lang="en-US" dirty="0" err="1"/>
              <a:t>fp</a:t>
            </a:r>
            <a:r>
              <a:rPr lang="en-US" dirty="0"/>
              <a:t> = </a:t>
            </a:r>
            <a:r>
              <a:rPr lang="en-US" dirty="0" err="1"/>
              <a:t>fopen</a:t>
            </a:r>
            <a:r>
              <a:rPr lang="en-US" dirty="0"/>
              <a:t>("myfile.txt", "r");</a:t>
            </a:r>
          </a:p>
          <a:p>
            <a:pPr lvl="2"/>
            <a:r>
              <a:rPr lang="en-US" dirty="0"/>
              <a:t>This opens myfile.txt in read-only mode.</a:t>
            </a:r>
          </a:p>
          <a:p>
            <a:pPr lvl="1"/>
            <a:r>
              <a:rPr lang="en-US" dirty="0"/>
              <a:t>If </a:t>
            </a:r>
            <a:r>
              <a:rPr lang="en-US" dirty="0" err="1"/>
              <a:t>fopen</a:t>
            </a:r>
            <a:r>
              <a:rPr lang="en-US" dirty="0"/>
              <a:t> fails (file not found, no permission, etc.)or is unable to open the file, it returns 0 (false). This can be used to exit the function with an appropriate message.</a:t>
            </a:r>
          </a:p>
          <a:p>
            <a:pPr lvl="1"/>
            <a:r>
              <a:rPr lang="en-US" b="1" dirty="0">
                <a:solidFill>
                  <a:srgbClr val="C00000"/>
                </a:solidFill>
              </a:rPr>
              <a:t> </a:t>
            </a:r>
            <a:r>
              <a:rPr lang="en-US" b="1" i="1" dirty="0">
                <a:solidFill>
                  <a:srgbClr val="C00000"/>
                </a:solidFill>
              </a:rPr>
              <a:t>if (!($</a:t>
            </a:r>
            <a:r>
              <a:rPr lang="en-US" b="1" i="1" dirty="0" err="1">
                <a:solidFill>
                  <a:srgbClr val="C00000"/>
                </a:solidFill>
              </a:rPr>
              <a:t>fp</a:t>
            </a:r>
            <a:r>
              <a:rPr lang="en-US" b="1" i="1" dirty="0">
                <a:solidFill>
                  <a:srgbClr val="C00000"/>
                </a:solidFill>
              </a:rPr>
              <a:t> = </a:t>
            </a:r>
            <a:r>
              <a:rPr lang="en-US" b="1" i="1" dirty="0" err="1">
                <a:solidFill>
                  <a:srgbClr val="C00000"/>
                </a:solidFill>
              </a:rPr>
              <a:t>fopen</a:t>
            </a:r>
            <a:r>
              <a:rPr lang="en-US" b="1" i="1" dirty="0">
                <a:solidFill>
                  <a:srgbClr val="C00000"/>
                </a:solidFill>
              </a:rPr>
              <a:t>("myfile.txt", "r"))) {</a:t>
            </a:r>
          </a:p>
          <a:p>
            <a:pPr lvl="1"/>
            <a:r>
              <a:rPr lang="en-US" b="1" i="1" dirty="0">
                <a:solidFill>
                  <a:srgbClr val="C00000"/>
                </a:solidFill>
              </a:rPr>
              <a:t>    exit("Unable to open the input file.");}</a:t>
            </a:r>
          </a:p>
          <a:p>
            <a:endParaRPr lang="en-US" dirty="0"/>
          </a:p>
        </p:txBody>
      </p:sp>
      <p:sp>
        <p:nvSpPr>
          <p:cNvPr id="2" name="Slide Number Placeholder 1">
            <a:extLst>
              <a:ext uri="{FF2B5EF4-FFF2-40B4-BE49-F238E27FC236}">
                <a16:creationId xmlns:a16="http://schemas.microsoft.com/office/drawing/2014/main" id="{552BADF8-6159-4ED2-9885-6951357DBB4C}"/>
              </a:ext>
            </a:extLst>
          </p:cNvPr>
          <p:cNvSpPr>
            <a:spLocks noGrp="1"/>
          </p:cNvSpPr>
          <p:nvPr>
            <p:ph type="sldNum" sz="quarter" idx="12"/>
          </p:nvPr>
        </p:nvSpPr>
        <p:spPr/>
        <p:txBody>
          <a:bodyPr/>
          <a:lstStyle/>
          <a:p>
            <a:pPr>
              <a:defRPr/>
            </a:pPr>
            <a:fld id="{2807F527-F93A-4DFB-A6A5-8EC3CE84B904}" type="slidenum">
              <a:rPr lang="en-US" altLang="en-US" smtClean="0"/>
              <a:pPr>
                <a:defRPr/>
              </a:pPr>
              <a:t>4</a:t>
            </a:fld>
            <a:endParaRPr lang="en-US" altLang="en-US"/>
          </a:p>
        </p:txBody>
      </p:sp>
    </p:spTree>
    <p:extLst>
      <p:ext uri="{BB962C8B-B14F-4D97-AF65-F5344CB8AC3E}">
        <p14:creationId xmlns:p14="http://schemas.microsoft.com/office/powerpoint/2010/main" val="3306627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106960"/>
            <a:ext cx="8229600" cy="839787"/>
          </a:xfrm>
        </p:spPr>
        <p:txBody>
          <a:bodyPr>
            <a:normAutofit/>
          </a:bodyPr>
          <a:lstStyle/>
          <a:p>
            <a:r>
              <a:rPr lang="en-US"/>
              <a:t>PHP file modes</a:t>
            </a:r>
            <a:endParaRPr lang="en-US" dirty="0"/>
          </a:p>
        </p:txBody>
      </p:sp>
      <p:sp>
        <p:nvSpPr>
          <p:cNvPr id="8195" name="Rectangle 3"/>
          <p:cNvSpPr>
            <a:spLocks noGrp="1" noChangeArrowheads="1"/>
          </p:cNvSpPr>
          <p:nvPr>
            <p:ph idx="1"/>
          </p:nvPr>
        </p:nvSpPr>
        <p:spPr>
          <a:xfrm>
            <a:off x="299070" y="946747"/>
            <a:ext cx="8638673" cy="5591557"/>
          </a:xfrm>
        </p:spPr>
        <p:txBody>
          <a:bodyPr>
            <a:normAutofit/>
          </a:bodyPr>
          <a:lstStyle/>
          <a:p>
            <a:r>
              <a:rPr lang="en-US" dirty="0"/>
              <a:t>File modes tell the operating system how a file should be accessed.</a:t>
            </a:r>
          </a:p>
          <a:p>
            <a:r>
              <a:rPr lang="en-US" dirty="0"/>
              <a:t>They determine:</a:t>
            </a:r>
          </a:p>
          <a:p>
            <a:pPr lvl="1"/>
            <a:r>
              <a:rPr lang="en-US" dirty="0"/>
              <a:t>Whether you read, write, or both read and write.</a:t>
            </a:r>
          </a:p>
          <a:p>
            <a:pPr lvl="1"/>
            <a:r>
              <a:rPr lang="en-US" dirty="0"/>
              <a:t>Whether writing should overwrite the file or append to it.</a:t>
            </a:r>
          </a:p>
          <a:p>
            <a:pPr lvl="1"/>
            <a:r>
              <a:rPr lang="en-US" dirty="0"/>
              <a:t>Whether the file is treated as text or binary.</a:t>
            </a:r>
          </a:p>
          <a:p>
            <a:pPr lvl="1"/>
            <a:r>
              <a:rPr lang="en-US" dirty="0"/>
              <a:t>Whether PHP should create a new file or fail if the file already exists.</a:t>
            </a:r>
          </a:p>
          <a:p>
            <a:r>
              <a:rPr lang="en-US" dirty="0"/>
              <a:t>File modes ensure that PHP handles files safely, correctly, and with the required permissions.</a:t>
            </a:r>
          </a:p>
          <a:p>
            <a:r>
              <a:rPr lang="en-US" dirty="0"/>
              <a:t>The </a:t>
            </a:r>
            <a:r>
              <a:rPr lang="en-US" dirty="0" err="1"/>
              <a:t>fopen</a:t>
            </a:r>
            <a:r>
              <a:rPr lang="en-US" dirty="0"/>
              <a:t>() function supports combinations of these options.</a:t>
            </a:r>
          </a:p>
        </p:txBody>
      </p:sp>
      <p:sp>
        <p:nvSpPr>
          <p:cNvPr id="2" name="Slide Number Placeholder 1">
            <a:extLst>
              <a:ext uri="{FF2B5EF4-FFF2-40B4-BE49-F238E27FC236}">
                <a16:creationId xmlns:a16="http://schemas.microsoft.com/office/drawing/2014/main" id="{12435887-1705-45A7-B0F8-533272165E0B}"/>
              </a:ext>
            </a:extLst>
          </p:cNvPr>
          <p:cNvSpPr>
            <a:spLocks noGrp="1"/>
          </p:cNvSpPr>
          <p:nvPr>
            <p:ph type="sldNum" sz="quarter" idx="12"/>
          </p:nvPr>
        </p:nvSpPr>
        <p:spPr/>
        <p:txBody>
          <a:bodyPr/>
          <a:lstStyle/>
          <a:p>
            <a:pPr>
              <a:defRPr/>
            </a:pPr>
            <a:fld id="{2807F527-F93A-4DFB-A6A5-8EC3CE84B904}" type="slidenum">
              <a:rPr lang="en-US" altLang="en-US" smtClean="0"/>
              <a:pPr>
                <a:defRPr/>
              </a:pPr>
              <a:t>5</a:t>
            </a:fld>
            <a:endParaRPr lang="en-US" altLang="en-US"/>
          </a:p>
        </p:txBody>
      </p:sp>
    </p:spTree>
    <p:extLst>
      <p:ext uri="{BB962C8B-B14F-4D97-AF65-F5344CB8AC3E}">
        <p14:creationId xmlns:p14="http://schemas.microsoft.com/office/powerpoint/2010/main" val="1202260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p:cTn id="7" dur="1000" fill="hold"/>
                                        <p:tgtEl>
                                          <p:spTgt spid="8195">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8195">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819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8195">
                                            <p:txEl>
                                              <p:pRg st="1" end="1"/>
                                            </p:txEl>
                                          </p:spTgt>
                                        </p:tgtEl>
                                        <p:attrNameLst>
                                          <p:attrName>style.visibility</p:attrName>
                                        </p:attrNameLst>
                                      </p:cBhvr>
                                      <p:to>
                                        <p:strVal val="visible"/>
                                      </p:to>
                                    </p:set>
                                    <p:anim calcmode="lin" valueType="num">
                                      <p:cBhvr>
                                        <p:cTn id="14" dur="1000" fill="hold"/>
                                        <p:tgtEl>
                                          <p:spTgt spid="8195">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8195">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8195">
                                            <p:txEl>
                                              <p:pRg st="1" end="1"/>
                                            </p:txEl>
                                          </p:spTgt>
                                        </p:tgtEl>
                                      </p:cBhvr>
                                    </p:animEffect>
                                  </p:childTnLst>
                                </p:cTn>
                              </p:par>
                              <p:par>
                                <p:cTn id="17" presetID="29" presetClass="entr" presetSubtype="0" fill="hold" grpId="0" nodeType="withEffect">
                                  <p:stCondLst>
                                    <p:cond delay="0"/>
                                  </p:stCondLst>
                                  <p:childTnLst>
                                    <p:set>
                                      <p:cBhvr>
                                        <p:cTn id="18" dur="1" fill="hold">
                                          <p:stCondLst>
                                            <p:cond delay="0"/>
                                          </p:stCondLst>
                                        </p:cTn>
                                        <p:tgtEl>
                                          <p:spTgt spid="8195">
                                            <p:txEl>
                                              <p:pRg st="2" end="2"/>
                                            </p:txEl>
                                          </p:spTgt>
                                        </p:tgtEl>
                                        <p:attrNameLst>
                                          <p:attrName>style.visibility</p:attrName>
                                        </p:attrNameLst>
                                      </p:cBhvr>
                                      <p:to>
                                        <p:strVal val="visible"/>
                                      </p:to>
                                    </p:set>
                                    <p:anim calcmode="lin" valueType="num">
                                      <p:cBhvr>
                                        <p:cTn id="19" dur="1000" fill="hold"/>
                                        <p:tgtEl>
                                          <p:spTgt spid="8195">
                                            <p:txEl>
                                              <p:pRg st="2" end="2"/>
                                            </p:txEl>
                                          </p:spTgt>
                                        </p:tgtEl>
                                        <p:attrNameLst>
                                          <p:attrName>ppt_x</p:attrName>
                                        </p:attrNameLst>
                                      </p:cBhvr>
                                      <p:tavLst>
                                        <p:tav tm="0">
                                          <p:val>
                                            <p:strVal val="#ppt_x-.2"/>
                                          </p:val>
                                        </p:tav>
                                        <p:tav tm="100000">
                                          <p:val>
                                            <p:strVal val="#ppt_x"/>
                                          </p:val>
                                        </p:tav>
                                      </p:tavLst>
                                    </p:anim>
                                    <p:anim calcmode="lin" valueType="num">
                                      <p:cBhvr>
                                        <p:cTn id="20" dur="1000" fill="hold"/>
                                        <p:tgtEl>
                                          <p:spTgt spid="8195">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1" dur="1000"/>
                                        <p:tgtEl>
                                          <p:spTgt spid="8195">
                                            <p:txEl>
                                              <p:pRg st="2" end="2"/>
                                            </p:txEl>
                                          </p:spTgt>
                                        </p:tgtEl>
                                      </p:cBhvr>
                                    </p:animEffect>
                                  </p:childTnLst>
                                </p:cTn>
                              </p:par>
                              <p:par>
                                <p:cTn id="22" presetID="29" presetClass="entr" presetSubtype="0" fill="hold" grpId="0" nodeType="withEffect">
                                  <p:stCondLst>
                                    <p:cond delay="0"/>
                                  </p:stCondLst>
                                  <p:childTnLst>
                                    <p:set>
                                      <p:cBhvr>
                                        <p:cTn id="23" dur="1" fill="hold">
                                          <p:stCondLst>
                                            <p:cond delay="0"/>
                                          </p:stCondLst>
                                        </p:cTn>
                                        <p:tgtEl>
                                          <p:spTgt spid="8195">
                                            <p:txEl>
                                              <p:pRg st="3" end="3"/>
                                            </p:txEl>
                                          </p:spTgt>
                                        </p:tgtEl>
                                        <p:attrNameLst>
                                          <p:attrName>style.visibility</p:attrName>
                                        </p:attrNameLst>
                                      </p:cBhvr>
                                      <p:to>
                                        <p:strVal val="visible"/>
                                      </p:to>
                                    </p:set>
                                    <p:anim calcmode="lin" valueType="num">
                                      <p:cBhvr>
                                        <p:cTn id="24" dur="1000" fill="hold"/>
                                        <p:tgtEl>
                                          <p:spTgt spid="8195">
                                            <p:txEl>
                                              <p:pRg st="3" end="3"/>
                                            </p:txEl>
                                          </p:spTgt>
                                        </p:tgtEl>
                                        <p:attrNameLst>
                                          <p:attrName>ppt_x</p:attrName>
                                        </p:attrNameLst>
                                      </p:cBhvr>
                                      <p:tavLst>
                                        <p:tav tm="0">
                                          <p:val>
                                            <p:strVal val="#ppt_x-.2"/>
                                          </p:val>
                                        </p:tav>
                                        <p:tav tm="100000">
                                          <p:val>
                                            <p:strVal val="#ppt_x"/>
                                          </p:val>
                                        </p:tav>
                                      </p:tavLst>
                                    </p:anim>
                                    <p:anim calcmode="lin" valueType="num">
                                      <p:cBhvr>
                                        <p:cTn id="25" dur="1000" fill="hold"/>
                                        <p:tgtEl>
                                          <p:spTgt spid="8195">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6" dur="1000"/>
                                        <p:tgtEl>
                                          <p:spTgt spid="8195">
                                            <p:txEl>
                                              <p:pRg st="3" end="3"/>
                                            </p:txEl>
                                          </p:spTgt>
                                        </p:tgtEl>
                                      </p:cBhvr>
                                    </p:animEffect>
                                  </p:childTnLst>
                                </p:cTn>
                              </p:par>
                              <p:par>
                                <p:cTn id="27" presetID="29" presetClass="entr" presetSubtype="0" fill="hold" grpId="0" nodeType="withEffect">
                                  <p:stCondLst>
                                    <p:cond delay="0"/>
                                  </p:stCondLst>
                                  <p:childTnLst>
                                    <p:set>
                                      <p:cBhvr>
                                        <p:cTn id="28" dur="1" fill="hold">
                                          <p:stCondLst>
                                            <p:cond delay="0"/>
                                          </p:stCondLst>
                                        </p:cTn>
                                        <p:tgtEl>
                                          <p:spTgt spid="8195">
                                            <p:txEl>
                                              <p:pRg st="4" end="4"/>
                                            </p:txEl>
                                          </p:spTgt>
                                        </p:tgtEl>
                                        <p:attrNameLst>
                                          <p:attrName>style.visibility</p:attrName>
                                        </p:attrNameLst>
                                      </p:cBhvr>
                                      <p:to>
                                        <p:strVal val="visible"/>
                                      </p:to>
                                    </p:set>
                                    <p:anim calcmode="lin" valueType="num">
                                      <p:cBhvr>
                                        <p:cTn id="29" dur="1000" fill="hold"/>
                                        <p:tgtEl>
                                          <p:spTgt spid="8195">
                                            <p:txEl>
                                              <p:pRg st="4" end="4"/>
                                            </p:txEl>
                                          </p:spTgt>
                                        </p:tgtEl>
                                        <p:attrNameLst>
                                          <p:attrName>ppt_x</p:attrName>
                                        </p:attrNameLst>
                                      </p:cBhvr>
                                      <p:tavLst>
                                        <p:tav tm="0">
                                          <p:val>
                                            <p:strVal val="#ppt_x-.2"/>
                                          </p:val>
                                        </p:tav>
                                        <p:tav tm="100000">
                                          <p:val>
                                            <p:strVal val="#ppt_x"/>
                                          </p:val>
                                        </p:tav>
                                      </p:tavLst>
                                    </p:anim>
                                    <p:anim calcmode="lin" valueType="num">
                                      <p:cBhvr>
                                        <p:cTn id="30" dur="1000" fill="hold"/>
                                        <p:tgtEl>
                                          <p:spTgt spid="8195">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1" dur="1000"/>
                                        <p:tgtEl>
                                          <p:spTgt spid="8195">
                                            <p:txEl>
                                              <p:pRg st="4" end="4"/>
                                            </p:txEl>
                                          </p:spTgt>
                                        </p:tgtEl>
                                      </p:cBhvr>
                                    </p:animEffect>
                                  </p:childTnLst>
                                </p:cTn>
                              </p:par>
                              <p:par>
                                <p:cTn id="32" presetID="29" presetClass="entr" presetSubtype="0" fill="hold" grpId="0" nodeType="withEffect">
                                  <p:stCondLst>
                                    <p:cond delay="0"/>
                                  </p:stCondLst>
                                  <p:childTnLst>
                                    <p:set>
                                      <p:cBhvr>
                                        <p:cTn id="33" dur="1" fill="hold">
                                          <p:stCondLst>
                                            <p:cond delay="0"/>
                                          </p:stCondLst>
                                        </p:cTn>
                                        <p:tgtEl>
                                          <p:spTgt spid="8195">
                                            <p:txEl>
                                              <p:pRg st="5" end="5"/>
                                            </p:txEl>
                                          </p:spTgt>
                                        </p:tgtEl>
                                        <p:attrNameLst>
                                          <p:attrName>style.visibility</p:attrName>
                                        </p:attrNameLst>
                                      </p:cBhvr>
                                      <p:to>
                                        <p:strVal val="visible"/>
                                      </p:to>
                                    </p:set>
                                    <p:anim calcmode="lin" valueType="num">
                                      <p:cBhvr>
                                        <p:cTn id="34" dur="1000" fill="hold"/>
                                        <p:tgtEl>
                                          <p:spTgt spid="8195">
                                            <p:txEl>
                                              <p:pRg st="5" end="5"/>
                                            </p:txEl>
                                          </p:spTgt>
                                        </p:tgtEl>
                                        <p:attrNameLst>
                                          <p:attrName>ppt_x</p:attrName>
                                        </p:attrNameLst>
                                      </p:cBhvr>
                                      <p:tavLst>
                                        <p:tav tm="0">
                                          <p:val>
                                            <p:strVal val="#ppt_x-.2"/>
                                          </p:val>
                                        </p:tav>
                                        <p:tav tm="100000">
                                          <p:val>
                                            <p:strVal val="#ppt_x"/>
                                          </p:val>
                                        </p:tav>
                                      </p:tavLst>
                                    </p:anim>
                                    <p:anim calcmode="lin" valueType="num">
                                      <p:cBhvr>
                                        <p:cTn id="35" dur="1000" fill="hold"/>
                                        <p:tgtEl>
                                          <p:spTgt spid="8195">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6" dur="1000"/>
                                        <p:tgtEl>
                                          <p:spTgt spid="8195">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9" presetClass="entr" presetSubtype="0" fill="hold" grpId="0" nodeType="clickEffect">
                                  <p:stCondLst>
                                    <p:cond delay="0"/>
                                  </p:stCondLst>
                                  <p:childTnLst>
                                    <p:set>
                                      <p:cBhvr>
                                        <p:cTn id="40" dur="1" fill="hold">
                                          <p:stCondLst>
                                            <p:cond delay="0"/>
                                          </p:stCondLst>
                                        </p:cTn>
                                        <p:tgtEl>
                                          <p:spTgt spid="8195">
                                            <p:txEl>
                                              <p:pRg st="6" end="6"/>
                                            </p:txEl>
                                          </p:spTgt>
                                        </p:tgtEl>
                                        <p:attrNameLst>
                                          <p:attrName>style.visibility</p:attrName>
                                        </p:attrNameLst>
                                      </p:cBhvr>
                                      <p:to>
                                        <p:strVal val="visible"/>
                                      </p:to>
                                    </p:set>
                                    <p:anim calcmode="lin" valueType="num">
                                      <p:cBhvr>
                                        <p:cTn id="41" dur="1000" fill="hold"/>
                                        <p:tgtEl>
                                          <p:spTgt spid="8195">
                                            <p:txEl>
                                              <p:pRg st="6" end="6"/>
                                            </p:txEl>
                                          </p:spTgt>
                                        </p:tgtEl>
                                        <p:attrNameLst>
                                          <p:attrName>ppt_x</p:attrName>
                                        </p:attrNameLst>
                                      </p:cBhvr>
                                      <p:tavLst>
                                        <p:tav tm="0">
                                          <p:val>
                                            <p:strVal val="#ppt_x-.2"/>
                                          </p:val>
                                        </p:tav>
                                        <p:tav tm="100000">
                                          <p:val>
                                            <p:strVal val="#ppt_x"/>
                                          </p:val>
                                        </p:tav>
                                      </p:tavLst>
                                    </p:anim>
                                    <p:anim calcmode="lin" valueType="num">
                                      <p:cBhvr>
                                        <p:cTn id="42" dur="1000" fill="hold"/>
                                        <p:tgtEl>
                                          <p:spTgt spid="8195">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8195">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grpId="0" nodeType="clickEffect">
                                  <p:stCondLst>
                                    <p:cond delay="0"/>
                                  </p:stCondLst>
                                  <p:childTnLst>
                                    <p:set>
                                      <p:cBhvr>
                                        <p:cTn id="47" dur="1" fill="hold">
                                          <p:stCondLst>
                                            <p:cond delay="0"/>
                                          </p:stCondLst>
                                        </p:cTn>
                                        <p:tgtEl>
                                          <p:spTgt spid="8195">
                                            <p:txEl>
                                              <p:pRg st="7" end="7"/>
                                            </p:txEl>
                                          </p:spTgt>
                                        </p:tgtEl>
                                        <p:attrNameLst>
                                          <p:attrName>style.visibility</p:attrName>
                                        </p:attrNameLst>
                                      </p:cBhvr>
                                      <p:to>
                                        <p:strVal val="visible"/>
                                      </p:to>
                                    </p:set>
                                    <p:anim calcmode="lin" valueType="num">
                                      <p:cBhvr>
                                        <p:cTn id="48" dur="1000" fill="hold"/>
                                        <p:tgtEl>
                                          <p:spTgt spid="8195">
                                            <p:txEl>
                                              <p:pRg st="7" end="7"/>
                                            </p:txEl>
                                          </p:spTgt>
                                        </p:tgtEl>
                                        <p:attrNameLst>
                                          <p:attrName>ppt_x</p:attrName>
                                        </p:attrNameLst>
                                      </p:cBhvr>
                                      <p:tavLst>
                                        <p:tav tm="0">
                                          <p:val>
                                            <p:strVal val="#ppt_x-.2"/>
                                          </p:val>
                                        </p:tav>
                                        <p:tav tm="100000">
                                          <p:val>
                                            <p:strVal val="#ppt_x"/>
                                          </p:val>
                                        </p:tav>
                                      </p:tavLst>
                                    </p:anim>
                                    <p:anim calcmode="lin" valueType="num">
                                      <p:cBhvr>
                                        <p:cTn id="49" dur="1000" fill="hold"/>
                                        <p:tgtEl>
                                          <p:spTgt spid="8195">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0" dur="1000"/>
                                        <p:tgtEl>
                                          <p:spTgt spid="819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58833"/>
            <a:ext cx="8229600" cy="711187"/>
          </a:xfrm>
        </p:spPr>
        <p:txBody>
          <a:bodyPr>
            <a:normAutofit fontScale="90000"/>
          </a:bodyPr>
          <a:lstStyle/>
          <a:p>
            <a:r>
              <a:rPr lang="en-US" dirty="0"/>
              <a:t>PHP file modes</a:t>
            </a:r>
          </a:p>
        </p:txBody>
      </p:sp>
      <p:graphicFrame>
        <p:nvGraphicFramePr>
          <p:cNvPr id="7" name="Group 40"/>
          <p:cNvGraphicFramePr>
            <a:graphicFrameLocks noGrp="1"/>
          </p:cNvGraphicFramePr>
          <p:nvPr>
            <p:ph idx="1"/>
            <p:extLst>
              <p:ext uri="{D42A27DB-BD31-4B8C-83A1-F6EECF244321}">
                <p14:modId xmlns:p14="http://schemas.microsoft.com/office/powerpoint/2010/main" val="546863207"/>
              </p:ext>
            </p:extLst>
          </p:nvPr>
        </p:nvGraphicFramePr>
        <p:xfrm>
          <a:off x="415950" y="838773"/>
          <a:ext cx="8270850" cy="5743991"/>
        </p:xfrm>
        <a:graphic>
          <a:graphicData uri="http://schemas.openxmlformats.org/drawingml/2006/table">
            <a:tbl>
              <a:tblPr>
                <a:tableStyleId>{616DA210-FB5B-4158-B5E0-FEB733F419BA}</a:tableStyleId>
              </a:tblPr>
              <a:tblGrid>
                <a:gridCol w="1305668">
                  <a:extLst>
                    <a:ext uri="{9D8B030D-6E8A-4147-A177-3AD203B41FA5}">
                      <a16:colId xmlns:a16="http://schemas.microsoft.com/office/drawing/2014/main" val="20000"/>
                    </a:ext>
                  </a:extLst>
                </a:gridCol>
                <a:gridCol w="6965182">
                  <a:extLst>
                    <a:ext uri="{9D8B030D-6E8A-4147-A177-3AD203B41FA5}">
                      <a16:colId xmlns:a16="http://schemas.microsoft.com/office/drawing/2014/main" val="20001"/>
                    </a:ext>
                  </a:extLst>
                </a:gridCol>
              </a:tblGrid>
              <a:tr h="7027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solidFill>
                            <a:srgbClr val="0000FF"/>
                          </a:solidFill>
                          <a:effectLst/>
                          <a:latin typeface="Garamond" panose="02020404030301010803" pitchFamily="18" charset="0"/>
                        </a:rPr>
                        <a:t>‘r’</a:t>
                      </a:r>
                      <a:endParaRPr kumimoji="0" lang="en-US" sz="2000" b="1" i="0" u="none" strike="noStrike" cap="none" normalizeH="0" baseline="0" dirty="0">
                        <a:ln>
                          <a:noFill/>
                        </a:ln>
                        <a:solidFill>
                          <a:srgbClr val="0000FF"/>
                        </a:solidFill>
                        <a:effectLst/>
                        <a:latin typeface="Garamond" panose="02020404030301010803"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effectLst/>
                          <a:latin typeface="Garamond" panose="02020404030301010803" pitchFamily="18" charset="0"/>
                        </a:rPr>
                        <a:t>Open for </a:t>
                      </a:r>
                      <a:r>
                        <a:rPr kumimoji="0" lang="en-GB" sz="2000" b="1" u="none" strike="noStrike" cap="none" normalizeH="0" baseline="0" dirty="0">
                          <a:ln>
                            <a:noFill/>
                          </a:ln>
                          <a:solidFill>
                            <a:srgbClr val="FF0000"/>
                          </a:solidFill>
                          <a:effectLst/>
                          <a:latin typeface="Garamond" panose="02020404030301010803" pitchFamily="18" charset="0"/>
                        </a:rPr>
                        <a:t>reading only</a:t>
                      </a:r>
                      <a:r>
                        <a:rPr kumimoji="0" lang="en-GB" sz="2000" b="1" u="none" strike="noStrike" cap="none" normalizeH="0" baseline="0" dirty="0">
                          <a:ln>
                            <a:noFill/>
                          </a:ln>
                          <a:effectLst/>
                          <a:latin typeface="Garamond" panose="02020404030301010803" pitchFamily="18" charset="0"/>
                        </a:rPr>
                        <a:t>. </a:t>
                      </a:r>
                      <a:r>
                        <a:rPr kumimoji="0" lang="en-US" sz="2000" b="1" u="none" strike="noStrike" cap="none" normalizeH="0" baseline="0" dirty="0">
                          <a:ln>
                            <a:noFill/>
                          </a:ln>
                          <a:effectLst/>
                          <a:latin typeface="Garamond" panose="02020404030301010803" pitchFamily="18" charset="0"/>
                        </a:rPr>
                        <a:t>File pointer starts at the beginning of the file</a:t>
                      </a:r>
                    </a:p>
                  </a:txBody>
                  <a:tcPr horzOverflow="overflow"/>
                </a:tc>
                <a:extLst>
                  <a:ext uri="{0D108BD9-81ED-4DB2-BD59-A6C34878D82A}">
                    <a16:rowId xmlns:a16="http://schemas.microsoft.com/office/drawing/2014/main" val="10000"/>
                  </a:ext>
                </a:extLst>
              </a:tr>
              <a:tr h="70272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solidFill>
                            <a:srgbClr val="0000FF"/>
                          </a:solidFill>
                          <a:effectLst/>
                          <a:latin typeface="Garamond" panose="02020404030301010803" pitchFamily="18" charset="0"/>
                        </a:rPr>
                        <a:t>‘r+’</a:t>
                      </a:r>
                      <a:endParaRPr kumimoji="0" lang="en-US" sz="2000" b="1" i="0" u="none" strike="noStrike" cap="none" normalizeH="0" baseline="0" dirty="0">
                        <a:ln>
                          <a:noFill/>
                        </a:ln>
                        <a:solidFill>
                          <a:srgbClr val="0000FF"/>
                        </a:solidFill>
                        <a:effectLst/>
                        <a:latin typeface="Garamond" panose="02020404030301010803"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effectLst/>
                          <a:latin typeface="Garamond" panose="02020404030301010803" pitchFamily="18" charset="0"/>
                        </a:rPr>
                        <a:t>Open for </a:t>
                      </a:r>
                      <a:r>
                        <a:rPr kumimoji="0" lang="en-GB" sz="2000" b="1" u="none" strike="noStrike" cap="none" normalizeH="0" baseline="0" dirty="0">
                          <a:ln>
                            <a:noFill/>
                          </a:ln>
                          <a:solidFill>
                            <a:srgbClr val="FF0000"/>
                          </a:solidFill>
                          <a:effectLst/>
                          <a:latin typeface="Garamond" panose="02020404030301010803" pitchFamily="18" charset="0"/>
                        </a:rPr>
                        <a:t>reading</a:t>
                      </a:r>
                      <a:r>
                        <a:rPr kumimoji="0" lang="en-GB" sz="2000" b="1" u="none" strike="noStrike" cap="none" normalizeH="0" baseline="0" dirty="0">
                          <a:ln>
                            <a:noFill/>
                          </a:ln>
                          <a:effectLst/>
                          <a:latin typeface="Garamond" panose="02020404030301010803" pitchFamily="18" charset="0"/>
                        </a:rPr>
                        <a:t> and</a:t>
                      </a:r>
                      <a:r>
                        <a:rPr kumimoji="0" lang="en-GB" sz="2000" b="1" u="none" strike="noStrike" cap="none" normalizeH="0" baseline="0" dirty="0">
                          <a:ln>
                            <a:noFill/>
                          </a:ln>
                          <a:solidFill>
                            <a:srgbClr val="FF0000"/>
                          </a:solidFill>
                          <a:effectLst/>
                          <a:latin typeface="Garamond" panose="02020404030301010803" pitchFamily="18" charset="0"/>
                        </a:rPr>
                        <a:t> writing </a:t>
                      </a:r>
                      <a:r>
                        <a:rPr kumimoji="0" lang="en-US" sz="2000" b="1" u="none" strike="noStrike" cap="none" normalizeH="0" baseline="0" dirty="0">
                          <a:ln>
                            <a:noFill/>
                          </a:ln>
                          <a:solidFill>
                            <a:srgbClr val="FF0000"/>
                          </a:solidFill>
                          <a:effectLst/>
                          <a:latin typeface="Garamond" panose="02020404030301010803" pitchFamily="18" charset="0"/>
                        </a:rPr>
                        <a:t>(</a:t>
                      </a:r>
                      <a:r>
                        <a:rPr kumimoji="0" lang="en-US" sz="2000" b="1" u="none" strike="noStrike" cap="none" normalizeH="0" baseline="0" dirty="0">
                          <a:ln>
                            <a:noFill/>
                          </a:ln>
                          <a:effectLst/>
                          <a:latin typeface="Garamond" panose="02020404030301010803" pitchFamily="18" charset="0"/>
                        </a:rPr>
                        <a:t>read/write</a:t>
                      </a:r>
                      <a:r>
                        <a:rPr kumimoji="0" lang="en-US" sz="2000" b="1" u="none" strike="noStrike" kern="1200" cap="none" normalizeH="0" baseline="0" dirty="0">
                          <a:ln>
                            <a:noFill/>
                          </a:ln>
                          <a:solidFill>
                            <a:srgbClr val="FF0000"/>
                          </a:solidFill>
                          <a:effectLst/>
                          <a:latin typeface="Garamond" panose="02020404030301010803" pitchFamily="18" charset="0"/>
                          <a:ea typeface="+mn-ea"/>
                          <a:cs typeface="+mn-cs"/>
                        </a:rPr>
                        <a:t>)</a:t>
                      </a:r>
                      <a:r>
                        <a:rPr kumimoji="0" lang="en-US" sz="2000" b="1" u="none" strike="noStrike" cap="none" normalizeH="0" baseline="0" dirty="0">
                          <a:ln>
                            <a:noFill/>
                          </a:ln>
                          <a:effectLst/>
                          <a:latin typeface="Garamond" panose="02020404030301010803" pitchFamily="18" charset="0"/>
                        </a:rPr>
                        <a:t>. File pointer starts at the beginning of the file</a:t>
                      </a:r>
                      <a:endParaRPr kumimoji="0" lang="en-US" sz="2000" b="1" i="0" u="none" strike="noStrike" cap="none" normalizeH="0" baseline="0" dirty="0">
                        <a:ln>
                          <a:noFill/>
                        </a:ln>
                        <a:solidFill>
                          <a:schemeClr val="tx1"/>
                        </a:solidFill>
                        <a:effectLst/>
                        <a:latin typeface="Garamond" panose="02020404030301010803" pitchFamily="18" charset="0"/>
                      </a:endParaRPr>
                    </a:p>
                  </a:txBody>
                  <a:tcPr horzOverflow="overflow"/>
                </a:tc>
                <a:extLst>
                  <a:ext uri="{0D108BD9-81ED-4DB2-BD59-A6C34878D82A}">
                    <a16:rowId xmlns:a16="http://schemas.microsoft.com/office/drawing/2014/main" val="10001"/>
                  </a:ext>
                </a:extLst>
              </a:tr>
              <a:tr h="10082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solidFill>
                            <a:srgbClr val="0000FF"/>
                          </a:solidFill>
                          <a:effectLst/>
                          <a:latin typeface="Garamond" panose="02020404030301010803" pitchFamily="18" charset="0"/>
                        </a:rPr>
                        <a:t>‘w’</a:t>
                      </a:r>
                      <a:endParaRPr kumimoji="0" lang="en-US" sz="2000" b="1" i="0" u="none" strike="noStrike" cap="none" normalizeH="0" baseline="0" dirty="0">
                        <a:ln>
                          <a:noFill/>
                        </a:ln>
                        <a:solidFill>
                          <a:srgbClr val="0000FF"/>
                        </a:solidFill>
                        <a:effectLst/>
                        <a:latin typeface="Garamond" panose="02020404030301010803"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latin typeface="Garamond" panose="02020404030301010803" pitchFamily="18" charset="0"/>
                        </a:rPr>
                        <a:t>Open a file for </a:t>
                      </a:r>
                      <a:r>
                        <a:rPr kumimoji="0" lang="en-US" sz="2000" b="1" u="none" strike="noStrike" cap="none" normalizeH="0" baseline="0" dirty="0">
                          <a:ln>
                            <a:noFill/>
                          </a:ln>
                          <a:solidFill>
                            <a:srgbClr val="FF0000"/>
                          </a:solidFill>
                          <a:effectLst/>
                          <a:latin typeface="Garamond" panose="02020404030301010803" pitchFamily="18" charset="0"/>
                        </a:rPr>
                        <a:t>write only</a:t>
                      </a:r>
                      <a:r>
                        <a:rPr kumimoji="0" lang="en-US" sz="2000" b="1" u="none" strike="noStrike" cap="none" normalizeH="0" baseline="0" dirty="0">
                          <a:ln>
                            <a:noFill/>
                          </a:ln>
                          <a:effectLst/>
                          <a:latin typeface="Garamond" panose="02020404030301010803" pitchFamily="18" charset="0"/>
                        </a:rPr>
                        <a:t>. Erases the contents of the file or creates a new file if it doesn't exist. File pointer starts at the beginning of the file</a:t>
                      </a:r>
                      <a:endParaRPr kumimoji="0" lang="en-US" sz="2000" b="1" i="0" u="none" strike="noStrike" cap="none" normalizeH="0" baseline="0" dirty="0">
                        <a:ln>
                          <a:noFill/>
                        </a:ln>
                        <a:solidFill>
                          <a:schemeClr val="tx1"/>
                        </a:solidFill>
                        <a:effectLst/>
                        <a:latin typeface="Garamond" panose="02020404030301010803" pitchFamily="18" charset="0"/>
                      </a:endParaRPr>
                    </a:p>
                  </a:txBody>
                  <a:tcPr horzOverflow="overflow"/>
                </a:tc>
                <a:extLst>
                  <a:ext uri="{0D108BD9-81ED-4DB2-BD59-A6C34878D82A}">
                    <a16:rowId xmlns:a16="http://schemas.microsoft.com/office/drawing/2014/main" val="10002"/>
                  </a:ext>
                </a:extLst>
              </a:tr>
              <a:tr h="131378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rgbClr val="0000FF"/>
                          </a:solidFill>
                          <a:effectLst/>
                          <a:latin typeface="Garamond" panose="02020404030301010803" pitchFamily="18" charset="0"/>
                        </a:rPr>
                        <a:t>W+</a:t>
                      </a:r>
                    </a:p>
                  </a:txBody>
                  <a:tcPr horzOverflow="overflow"/>
                </a:tc>
                <a:tc>
                  <a:txBody>
                    <a:bodyPr/>
                    <a:lstStyle/>
                    <a:p>
                      <a:r>
                        <a:rPr kumimoji="0" lang="en-US" sz="2000" b="1" u="none" strike="noStrike" kern="1200" cap="none" normalizeH="0" baseline="0" dirty="0">
                          <a:ln>
                            <a:noFill/>
                          </a:ln>
                          <a:solidFill>
                            <a:schemeClr val="tx1"/>
                          </a:solidFill>
                          <a:effectLst/>
                          <a:latin typeface="Garamond" panose="02020404030301010803" pitchFamily="18" charset="0"/>
                          <a:ea typeface="+mn-ea"/>
                          <a:cs typeface="+mn-cs"/>
                        </a:rPr>
                        <a:t>Opens the file for </a:t>
                      </a:r>
                      <a:r>
                        <a:rPr kumimoji="0" lang="en-US" sz="2000" b="1" u="none" strike="noStrike" kern="1200" cap="none" normalizeH="0" baseline="0" dirty="0">
                          <a:ln>
                            <a:noFill/>
                          </a:ln>
                          <a:solidFill>
                            <a:srgbClr val="FF0000"/>
                          </a:solidFill>
                          <a:effectLst/>
                          <a:latin typeface="Garamond" panose="02020404030301010803" pitchFamily="18" charset="0"/>
                          <a:ea typeface="+mn-ea"/>
                          <a:cs typeface="+mn-cs"/>
                        </a:rPr>
                        <a:t>reading</a:t>
                      </a:r>
                      <a:r>
                        <a:rPr kumimoji="0" lang="en-US" sz="2000" b="1" u="none" strike="noStrike" kern="1200" cap="none" normalizeH="0" baseline="0" dirty="0">
                          <a:ln>
                            <a:noFill/>
                          </a:ln>
                          <a:solidFill>
                            <a:schemeClr val="tx1"/>
                          </a:solidFill>
                          <a:effectLst/>
                          <a:latin typeface="Garamond" panose="02020404030301010803" pitchFamily="18" charset="0"/>
                          <a:ea typeface="+mn-ea"/>
                          <a:cs typeface="+mn-cs"/>
                        </a:rPr>
                        <a:t> and </a:t>
                      </a:r>
                      <a:r>
                        <a:rPr kumimoji="0" lang="en-US" sz="2000" b="1" u="none" strike="noStrike" kern="1200" cap="none" normalizeH="0" baseline="0" dirty="0">
                          <a:ln>
                            <a:noFill/>
                          </a:ln>
                          <a:solidFill>
                            <a:srgbClr val="FF0000"/>
                          </a:solidFill>
                          <a:effectLst/>
                          <a:latin typeface="Garamond" panose="02020404030301010803" pitchFamily="18" charset="0"/>
                          <a:ea typeface="+mn-ea"/>
                          <a:cs typeface="+mn-cs"/>
                        </a:rPr>
                        <a:t>writing (</a:t>
                      </a:r>
                      <a:r>
                        <a:rPr kumimoji="0" lang="en-US" sz="2000" b="1" u="none" strike="noStrike" kern="1200" cap="none" normalizeH="0" baseline="0" dirty="0">
                          <a:ln>
                            <a:noFill/>
                          </a:ln>
                          <a:solidFill>
                            <a:schemeClr val="tx1"/>
                          </a:solidFill>
                          <a:effectLst/>
                          <a:latin typeface="Garamond" panose="02020404030301010803" pitchFamily="18" charset="0"/>
                          <a:ea typeface="+mn-ea"/>
                          <a:cs typeface="+mn-cs"/>
                        </a:rPr>
                        <a:t>read/write</a:t>
                      </a:r>
                      <a:r>
                        <a:rPr kumimoji="0" lang="en-US" sz="2000" b="1" u="none" strike="noStrike" kern="1200" cap="none" normalizeH="0" baseline="0" dirty="0">
                          <a:ln>
                            <a:noFill/>
                          </a:ln>
                          <a:solidFill>
                            <a:srgbClr val="FF0000"/>
                          </a:solidFill>
                          <a:effectLst/>
                          <a:latin typeface="Garamond" panose="02020404030301010803" pitchFamily="18" charset="0"/>
                          <a:ea typeface="+mn-ea"/>
                          <a:cs typeface="+mn-cs"/>
                        </a:rPr>
                        <a:t>) </a:t>
                      </a:r>
                      <a:r>
                        <a:rPr kumimoji="0" lang="en-US" sz="2000" b="1" u="none" strike="noStrike" kern="1200" cap="none" normalizeH="0" baseline="0" dirty="0">
                          <a:ln>
                            <a:noFill/>
                          </a:ln>
                          <a:solidFill>
                            <a:schemeClr val="tx1"/>
                          </a:solidFill>
                          <a:effectLst/>
                          <a:latin typeface="Garamond" panose="02020404030301010803" pitchFamily="18" charset="0"/>
                          <a:ea typeface="+mn-ea"/>
                          <a:cs typeface="+mn-cs"/>
                        </a:rPr>
                        <a:t>only. Erases the contents of the file or creates a new file if it doesn't exist. File pointer starts at the beginning of the file</a:t>
                      </a:r>
                    </a:p>
                    <a:p>
                      <a:r>
                        <a:rPr kumimoji="0" lang="en-US" sz="2000" b="1" kern="1200" baseline="0" dirty="0">
                          <a:solidFill>
                            <a:schemeClr val="tx1"/>
                          </a:solidFill>
                          <a:latin typeface="Garamond" panose="02020404030301010803" pitchFamily="18" charset="0"/>
                          <a:ea typeface="+mn-ea"/>
                          <a:cs typeface="+mn-cs"/>
                        </a:rPr>
                        <a:t>	</a:t>
                      </a:r>
                      <a:endParaRPr kumimoji="0" lang="en-US" sz="2000" b="1" i="0" u="none" strike="noStrike" cap="none" normalizeH="0" baseline="0" dirty="0">
                        <a:ln>
                          <a:noFill/>
                        </a:ln>
                        <a:solidFill>
                          <a:schemeClr val="tx1"/>
                        </a:solidFill>
                        <a:effectLst/>
                        <a:latin typeface="Garamond" panose="02020404030301010803" pitchFamily="18" charset="0"/>
                      </a:endParaRPr>
                    </a:p>
                  </a:txBody>
                  <a:tcPr horzOverflow="overflow"/>
                </a:tc>
                <a:extLst>
                  <a:ext uri="{0D108BD9-81ED-4DB2-BD59-A6C34878D82A}">
                    <a16:rowId xmlns:a16="http://schemas.microsoft.com/office/drawing/2014/main" val="10003"/>
                  </a:ext>
                </a:extLst>
              </a:tr>
              <a:tr h="10082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solidFill>
                            <a:srgbClr val="0000FF"/>
                          </a:solidFill>
                          <a:effectLst/>
                          <a:latin typeface="Garamond" panose="02020404030301010803" pitchFamily="18" charset="0"/>
                        </a:rPr>
                        <a:t>‘a’</a:t>
                      </a:r>
                      <a:endParaRPr kumimoji="0" lang="en-US" sz="2000" b="1" i="0" u="none" strike="noStrike" cap="none" normalizeH="0" baseline="0" dirty="0">
                        <a:ln>
                          <a:noFill/>
                        </a:ln>
                        <a:solidFill>
                          <a:srgbClr val="0000FF"/>
                        </a:solidFill>
                        <a:effectLst/>
                        <a:latin typeface="Garamond" panose="02020404030301010803"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u="none" strike="noStrike" cap="none" normalizeH="0" baseline="0" dirty="0">
                          <a:ln>
                            <a:noFill/>
                          </a:ln>
                          <a:effectLst/>
                          <a:latin typeface="Garamond" panose="02020404030301010803" pitchFamily="18" charset="0"/>
                        </a:rPr>
                        <a:t>Open a file for </a:t>
                      </a:r>
                      <a:r>
                        <a:rPr kumimoji="0" lang="en-US" sz="2000" b="1" u="none" strike="noStrike" cap="none" normalizeH="0" baseline="0" dirty="0">
                          <a:ln>
                            <a:noFill/>
                          </a:ln>
                          <a:solidFill>
                            <a:srgbClr val="FF0000"/>
                          </a:solidFill>
                          <a:effectLst/>
                          <a:latin typeface="Garamond" panose="02020404030301010803" pitchFamily="18" charset="0"/>
                        </a:rPr>
                        <a:t>write</a:t>
                      </a:r>
                      <a:r>
                        <a:rPr kumimoji="0" lang="en-US" sz="2000" b="1" u="none" strike="noStrike" cap="none" normalizeH="0" baseline="0" dirty="0">
                          <a:ln>
                            <a:noFill/>
                          </a:ln>
                          <a:effectLst/>
                          <a:latin typeface="Garamond" panose="02020404030301010803" pitchFamily="18" charset="0"/>
                        </a:rPr>
                        <a:t> only. The existing data in file is preserved. File pointer starts at the end of the file. Creates a new file if the file doesn't exist</a:t>
                      </a:r>
                      <a:endParaRPr kumimoji="0" lang="en-US" sz="2000" b="1" i="0" u="none" strike="noStrike" cap="none" normalizeH="0" baseline="0" dirty="0">
                        <a:ln>
                          <a:noFill/>
                        </a:ln>
                        <a:solidFill>
                          <a:schemeClr val="tx1"/>
                        </a:solidFill>
                        <a:effectLst/>
                        <a:latin typeface="Garamond" panose="02020404030301010803" pitchFamily="18" charset="0"/>
                      </a:endParaRPr>
                    </a:p>
                  </a:txBody>
                  <a:tcPr horzOverflow="overflow"/>
                </a:tc>
                <a:extLst>
                  <a:ext uri="{0D108BD9-81ED-4DB2-BD59-A6C34878D82A}">
                    <a16:rowId xmlns:a16="http://schemas.microsoft.com/office/drawing/2014/main" val="10004"/>
                  </a:ext>
                </a:extLst>
              </a:tr>
              <a:tr h="100825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solidFill>
                            <a:srgbClr val="0000FF"/>
                          </a:solidFill>
                          <a:effectLst/>
                          <a:latin typeface="Garamond" panose="02020404030301010803" pitchFamily="18" charset="0"/>
                        </a:rPr>
                        <a:t>‘a+’</a:t>
                      </a:r>
                      <a:endParaRPr kumimoji="0" lang="en-US" sz="2000" b="1" i="0" u="none" strike="noStrike" cap="none" normalizeH="0" baseline="0" dirty="0">
                        <a:ln>
                          <a:noFill/>
                        </a:ln>
                        <a:solidFill>
                          <a:srgbClr val="0000FF"/>
                        </a:solidFill>
                        <a:effectLst/>
                        <a:latin typeface="Garamond" panose="02020404030301010803"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GB" sz="2000" b="1" u="none" strike="noStrike" cap="none" normalizeH="0" baseline="0" dirty="0">
                          <a:ln>
                            <a:noFill/>
                          </a:ln>
                          <a:effectLst/>
                          <a:latin typeface="Garamond" panose="02020404030301010803" pitchFamily="18" charset="0"/>
                        </a:rPr>
                        <a:t>Open for </a:t>
                      </a:r>
                      <a:r>
                        <a:rPr kumimoji="0" lang="en-GB" sz="2000" b="1" u="none" strike="noStrike" cap="none" normalizeH="0" baseline="0" dirty="0">
                          <a:ln>
                            <a:noFill/>
                          </a:ln>
                          <a:solidFill>
                            <a:srgbClr val="FF0000"/>
                          </a:solidFill>
                          <a:effectLst/>
                          <a:latin typeface="Garamond" panose="02020404030301010803" pitchFamily="18" charset="0"/>
                        </a:rPr>
                        <a:t>reading</a:t>
                      </a:r>
                      <a:r>
                        <a:rPr kumimoji="0" lang="en-GB" sz="2000" b="1" u="none" strike="noStrike" cap="none" normalizeH="0" baseline="0" dirty="0">
                          <a:ln>
                            <a:noFill/>
                          </a:ln>
                          <a:effectLst/>
                          <a:latin typeface="Garamond" panose="02020404030301010803" pitchFamily="18" charset="0"/>
                        </a:rPr>
                        <a:t> and </a:t>
                      </a:r>
                      <a:r>
                        <a:rPr kumimoji="0" lang="en-GB" sz="2000" b="1" u="none" strike="noStrike" cap="none" normalizeH="0" baseline="0" dirty="0">
                          <a:ln>
                            <a:noFill/>
                          </a:ln>
                          <a:solidFill>
                            <a:srgbClr val="FF0000"/>
                          </a:solidFill>
                          <a:effectLst/>
                          <a:latin typeface="Garamond" panose="02020404030301010803" pitchFamily="18" charset="0"/>
                        </a:rPr>
                        <a:t>writing(</a:t>
                      </a:r>
                      <a:r>
                        <a:rPr kumimoji="0" lang="en-GB" sz="2000" b="1" u="none" strike="noStrike" cap="none" normalizeH="0" baseline="0" dirty="0">
                          <a:ln>
                            <a:noFill/>
                          </a:ln>
                          <a:solidFill>
                            <a:schemeClr val="tx1"/>
                          </a:solidFill>
                          <a:effectLst/>
                          <a:latin typeface="Garamond" panose="02020404030301010803" pitchFamily="18" charset="0"/>
                        </a:rPr>
                        <a:t>read/write</a:t>
                      </a:r>
                      <a:r>
                        <a:rPr kumimoji="0" lang="en-GB" sz="2000" b="1" u="none" strike="noStrike" cap="none" normalizeH="0" baseline="0" dirty="0">
                          <a:ln>
                            <a:noFill/>
                          </a:ln>
                          <a:solidFill>
                            <a:srgbClr val="FF0000"/>
                          </a:solidFill>
                          <a:effectLst/>
                          <a:latin typeface="Garamond" panose="02020404030301010803" pitchFamily="18" charset="0"/>
                        </a:rPr>
                        <a:t>) </a:t>
                      </a:r>
                      <a:r>
                        <a:rPr kumimoji="0" lang="en-GB" sz="2000" b="1" u="none" strike="noStrike" cap="none" normalizeH="0" baseline="0" dirty="0">
                          <a:ln>
                            <a:noFill/>
                          </a:ln>
                          <a:solidFill>
                            <a:schemeClr val="tx1"/>
                          </a:solidFill>
                          <a:effectLst/>
                          <a:latin typeface="Garamond" panose="02020404030301010803" pitchFamily="18" charset="0"/>
                        </a:rPr>
                        <a:t>only</a:t>
                      </a:r>
                      <a:r>
                        <a:rPr kumimoji="0" lang="en-GB" sz="2000" b="1" u="none" strike="noStrike" cap="none" normalizeH="0" baseline="0" dirty="0">
                          <a:ln>
                            <a:noFill/>
                          </a:ln>
                          <a:solidFill>
                            <a:srgbClr val="FF0000"/>
                          </a:solidFill>
                          <a:effectLst/>
                          <a:latin typeface="Garamond" panose="02020404030301010803" pitchFamily="18" charset="0"/>
                        </a:rPr>
                        <a:t>. </a:t>
                      </a:r>
                      <a:r>
                        <a:rPr kumimoji="0" lang="en-US" sz="2000" b="1" i="0" u="none" strike="noStrike" cap="none" normalizeH="0" baseline="0" dirty="0">
                          <a:ln>
                            <a:noFill/>
                          </a:ln>
                          <a:solidFill>
                            <a:schemeClr val="tx1"/>
                          </a:solidFill>
                          <a:effectLst/>
                          <a:latin typeface="Garamond" panose="02020404030301010803" pitchFamily="18" charset="0"/>
                        </a:rPr>
                        <a:t>The existing data in file is preserved. File pointer starts at the end of the file. Creates a new file if the file doesn't exist</a:t>
                      </a:r>
                    </a:p>
                  </a:txBody>
                  <a:tcPr horzOverflow="overflow"/>
                </a:tc>
                <a:extLst>
                  <a:ext uri="{0D108BD9-81ED-4DB2-BD59-A6C34878D82A}">
                    <a16:rowId xmlns:a16="http://schemas.microsoft.com/office/drawing/2014/main" val="10005"/>
                  </a:ext>
                </a:extLst>
              </a:tr>
            </a:tbl>
          </a:graphicData>
        </a:graphic>
      </p:graphicFrame>
      <p:sp>
        <p:nvSpPr>
          <p:cNvPr id="2" name="Slide Number Placeholder 1">
            <a:extLst>
              <a:ext uri="{FF2B5EF4-FFF2-40B4-BE49-F238E27FC236}">
                <a16:creationId xmlns:a16="http://schemas.microsoft.com/office/drawing/2014/main" id="{AC0FD96D-1FFC-4145-BCB8-3162F0E05BCD}"/>
              </a:ext>
            </a:extLst>
          </p:cNvPr>
          <p:cNvSpPr>
            <a:spLocks noGrp="1"/>
          </p:cNvSpPr>
          <p:nvPr>
            <p:ph type="sldNum" sz="quarter" idx="12"/>
          </p:nvPr>
        </p:nvSpPr>
        <p:spPr/>
        <p:txBody>
          <a:bodyPr/>
          <a:lstStyle/>
          <a:p>
            <a:pPr>
              <a:defRPr/>
            </a:pPr>
            <a:fld id="{2807F527-F93A-4DFB-A6A5-8EC3CE84B904}" type="slidenum">
              <a:rPr lang="en-US" altLang="en-US" smtClean="0"/>
              <a:pPr>
                <a:defRPr/>
              </a:pPr>
              <a:t>6</a:t>
            </a:fld>
            <a:endParaRPr lang="en-US" altLang="en-US"/>
          </a:p>
        </p:txBody>
      </p:sp>
    </p:spTree>
    <p:extLst>
      <p:ext uri="{BB962C8B-B14F-4D97-AF65-F5344CB8AC3E}">
        <p14:creationId xmlns:p14="http://schemas.microsoft.com/office/powerpoint/2010/main" val="34899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199" y="0"/>
            <a:ext cx="8229600" cy="839787"/>
          </a:xfrm>
        </p:spPr>
        <p:txBody>
          <a:bodyPr/>
          <a:lstStyle/>
          <a:p>
            <a:r>
              <a:rPr lang="en-US" dirty="0"/>
              <a:t>PHP file modes</a:t>
            </a:r>
          </a:p>
        </p:txBody>
      </p:sp>
      <p:graphicFrame>
        <p:nvGraphicFramePr>
          <p:cNvPr id="7" name="Group 40"/>
          <p:cNvGraphicFramePr>
            <a:graphicFrameLocks noGrp="1"/>
          </p:cNvGraphicFramePr>
          <p:nvPr>
            <p:ph idx="1"/>
            <p:extLst>
              <p:ext uri="{D42A27DB-BD31-4B8C-83A1-F6EECF244321}">
                <p14:modId xmlns:p14="http://schemas.microsoft.com/office/powerpoint/2010/main" val="3450756167"/>
              </p:ext>
            </p:extLst>
          </p:nvPr>
        </p:nvGraphicFramePr>
        <p:xfrm>
          <a:off x="457199" y="912912"/>
          <a:ext cx="8136785" cy="5790396"/>
        </p:xfrm>
        <a:graphic>
          <a:graphicData uri="http://schemas.openxmlformats.org/drawingml/2006/table">
            <a:tbl>
              <a:tblPr>
                <a:tableStyleId>{616DA210-FB5B-4158-B5E0-FEB733F419BA}</a:tableStyleId>
              </a:tblPr>
              <a:tblGrid>
                <a:gridCol w="1470784">
                  <a:extLst>
                    <a:ext uri="{9D8B030D-6E8A-4147-A177-3AD203B41FA5}">
                      <a16:colId xmlns:a16="http://schemas.microsoft.com/office/drawing/2014/main" val="20000"/>
                    </a:ext>
                  </a:extLst>
                </a:gridCol>
                <a:gridCol w="6666001">
                  <a:extLst>
                    <a:ext uri="{9D8B030D-6E8A-4147-A177-3AD203B41FA5}">
                      <a16:colId xmlns:a16="http://schemas.microsoft.com/office/drawing/2014/main" val="20001"/>
                    </a:ext>
                  </a:extLst>
                </a:gridCol>
              </a:tblGrid>
              <a:tr h="949254">
                <a:tc>
                  <a:txBody>
                    <a:bodyPr/>
                    <a:lstStyle/>
                    <a:p>
                      <a:r>
                        <a:rPr lang="en-US" sz="2000" b="1" dirty="0">
                          <a:latin typeface="Garamond" panose="02020404030301010803" pitchFamily="18" charset="0"/>
                        </a:rPr>
                        <a:t>x</a:t>
                      </a:r>
                    </a:p>
                  </a:txBody>
                  <a:tcPr marT="45725" marB="45725"/>
                </a:tc>
                <a:tc>
                  <a:txBody>
                    <a:bodyPr/>
                    <a:lstStyle/>
                    <a:p>
                      <a:r>
                        <a:rPr lang="en-US" sz="1800" b="1" kern="1200" dirty="0">
                          <a:solidFill>
                            <a:schemeClr val="tx1"/>
                          </a:solidFill>
                          <a:latin typeface="Garamond" panose="02020404030301010803" pitchFamily="18" charset="0"/>
                          <a:ea typeface="+mn-ea"/>
                          <a:cs typeface="+mn-cs"/>
                        </a:rPr>
                        <a:t>Open the file for </a:t>
                      </a:r>
                      <a:r>
                        <a:rPr lang="en-US" sz="1800" b="1" kern="1200" dirty="0">
                          <a:solidFill>
                            <a:srgbClr val="FF0000"/>
                          </a:solidFill>
                          <a:latin typeface="Garamond" panose="02020404030301010803" pitchFamily="18" charset="0"/>
                          <a:ea typeface="+mn-ea"/>
                          <a:cs typeface="+mn-cs"/>
                        </a:rPr>
                        <a:t>writing</a:t>
                      </a:r>
                      <a:r>
                        <a:rPr lang="en-US" sz="1800" b="1" kern="1200" dirty="0">
                          <a:solidFill>
                            <a:schemeClr val="tx1"/>
                          </a:solidFill>
                          <a:latin typeface="Garamond" panose="02020404030301010803" pitchFamily="18" charset="0"/>
                          <a:ea typeface="+mn-ea"/>
                          <a:cs typeface="+mn-cs"/>
                        </a:rPr>
                        <a:t>, beginning from the start of the file. If the</a:t>
                      </a:r>
                      <a:r>
                        <a:rPr lang="en-US" sz="1800" b="1" kern="1200" baseline="0" dirty="0">
                          <a:solidFill>
                            <a:schemeClr val="tx1"/>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file already exists, it will not be opened, </a:t>
                      </a:r>
                      <a:r>
                        <a:rPr lang="en-US" sz="1800" b="1" kern="1200" dirty="0" err="1">
                          <a:solidFill>
                            <a:srgbClr val="FF0000"/>
                          </a:solidFill>
                          <a:latin typeface="Garamond" panose="02020404030301010803" pitchFamily="18" charset="0"/>
                          <a:ea typeface="+mn-ea"/>
                          <a:cs typeface="+mn-cs"/>
                        </a:rPr>
                        <a:t>fopen</a:t>
                      </a:r>
                      <a:r>
                        <a:rPr lang="en-US" sz="1800" b="1" kern="1200" dirty="0">
                          <a:solidFill>
                            <a:srgbClr val="FF0000"/>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will return</a:t>
                      </a:r>
                      <a:r>
                        <a:rPr lang="en-US" sz="1800" b="1" kern="1200" baseline="0" dirty="0">
                          <a:solidFill>
                            <a:schemeClr val="tx1"/>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false, and PHP will generate a warning.</a:t>
                      </a:r>
                    </a:p>
                  </a:txBody>
                  <a:tcPr marT="45725" marB="45725"/>
                </a:tc>
                <a:extLst>
                  <a:ext uri="{0D108BD9-81ED-4DB2-BD59-A6C34878D82A}">
                    <a16:rowId xmlns:a16="http://schemas.microsoft.com/office/drawing/2014/main" val="10000"/>
                  </a:ext>
                </a:extLst>
              </a:tr>
              <a:tr h="1518801">
                <a:tc>
                  <a:txBody>
                    <a:bodyPr/>
                    <a:lstStyle/>
                    <a:p>
                      <a:r>
                        <a:rPr lang="en-US" sz="2000" b="1" dirty="0">
                          <a:latin typeface="Garamond" panose="02020404030301010803" pitchFamily="18" charset="0"/>
                        </a:rPr>
                        <a:t>x+</a:t>
                      </a:r>
                    </a:p>
                  </a:txBody>
                  <a:tcPr marT="45725" marB="45725"/>
                </a:tc>
                <a:tc>
                  <a:txBody>
                    <a:bodyPr/>
                    <a:lstStyle/>
                    <a:p>
                      <a:r>
                        <a:rPr lang="en-US" sz="1800" b="1" kern="1200" dirty="0">
                          <a:solidFill>
                            <a:schemeClr val="tx1"/>
                          </a:solidFill>
                          <a:latin typeface="Garamond" panose="02020404030301010803" pitchFamily="18" charset="0"/>
                          <a:ea typeface="+mn-ea"/>
                          <a:cs typeface="+mn-cs"/>
                        </a:rPr>
                        <a:t>Open the file for </a:t>
                      </a:r>
                      <a:r>
                        <a:rPr lang="en-US" sz="1800" b="1" kern="1200" dirty="0">
                          <a:solidFill>
                            <a:srgbClr val="FF0000"/>
                          </a:solidFill>
                          <a:latin typeface="Garamond" panose="02020404030301010803" pitchFamily="18" charset="0"/>
                          <a:ea typeface="+mn-ea"/>
                          <a:cs typeface="+mn-cs"/>
                        </a:rPr>
                        <a:t>writing</a:t>
                      </a:r>
                      <a:r>
                        <a:rPr lang="en-US" sz="1800" b="1" kern="1200" dirty="0">
                          <a:solidFill>
                            <a:schemeClr val="tx1"/>
                          </a:solidFill>
                          <a:latin typeface="Garamond" panose="02020404030301010803" pitchFamily="18" charset="0"/>
                          <a:ea typeface="+mn-ea"/>
                          <a:cs typeface="+mn-cs"/>
                        </a:rPr>
                        <a:t> and </a:t>
                      </a:r>
                      <a:r>
                        <a:rPr lang="en-US" sz="1800" b="1" kern="1200" dirty="0">
                          <a:solidFill>
                            <a:srgbClr val="FF0000"/>
                          </a:solidFill>
                          <a:latin typeface="Garamond" panose="02020404030301010803" pitchFamily="18" charset="0"/>
                          <a:ea typeface="+mn-ea"/>
                          <a:cs typeface="+mn-cs"/>
                        </a:rPr>
                        <a:t>reading</a:t>
                      </a:r>
                      <a:r>
                        <a:rPr lang="en-US" sz="1800" b="1" kern="1200" dirty="0">
                          <a:solidFill>
                            <a:schemeClr val="tx1"/>
                          </a:solidFill>
                          <a:latin typeface="Garamond" panose="02020404030301010803" pitchFamily="18" charset="0"/>
                          <a:ea typeface="+mn-ea"/>
                          <a:cs typeface="+mn-cs"/>
                        </a:rPr>
                        <a:t>, beginning from the start of</a:t>
                      </a:r>
                      <a:r>
                        <a:rPr lang="en-US" sz="1800" b="1" kern="1200" baseline="0" dirty="0">
                          <a:solidFill>
                            <a:schemeClr val="tx1"/>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the file. If the file already exists, it will not be opened, </a:t>
                      </a:r>
                      <a:r>
                        <a:rPr lang="en-US" sz="1800" b="1" kern="1200" dirty="0" err="1">
                          <a:solidFill>
                            <a:schemeClr val="tx1"/>
                          </a:solidFill>
                          <a:latin typeface="Garamond" panose="02020404030301010803" pitchFamily="18" charset="0"/>
                          <a:ea typeface="+mn-ea"/>
                          <a:cs typeface="+mn-cs"/>
                        </a:rPr>
                        <a:t>fopen</a:t>
                      </a:r>
                      <a:r>
                        <a:rPr lang="en-US" sz="1800" b="1" kern="1200" dirty="0">
                          <a:solidFill>
                            <a:schemeClr val="tx1"/>
                          </a:solidFill>
                          <a:latin typeface="Garamond" panose="02020404030301010803" pitchFamily="18" charset="0"/>
                          <a:ea typeface="+mn-ea"/>
                          <a:cs typeface="+mn-cs"/>
                        </a:rPr>
                        <a:t>() will</a:t>
                      </a:r>
                      <a:r>
                        <a:rPr lang="en-US" sz="1800" b="1" kern="1200" baseline="0" dirty="0">
                          <a:solidFill>
                            <a:schemeClr val="tx1"/>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return false, and PHP will generate a warning.</a:t>
                      </a:r>
                    </a:p>
                    <a:p>
                      <a:r>
                        <a:rPr lang="en-US" sz="1800" b="1" kern="1200" dirty="0">
                          <a:solidFill>
                            <a:schemeClr val="tx1"/>
                          </a:solidFill>
                          <a:latin typeface="Garamond" panose="02020404030301010803" pitchFamily="18" charset="0"/>
                          <a:ea typeface="+mn-ea"/>
                          <a:cs typeface="+mn-cs"/>
                        </a:rPr>
                        <a:t>In short: </a:t>
                      </a:r>
                      <a:r>
                        <a:rPr lang="en-US" sz="1800" b="1" kern="1200" dirty="0">
                          <a:solidFill>
                            <a:srgbClr val="C00000"/>
                          </a:solidFill>
                          <a:latin typeface="Garamond" panose="02020404030301010803" pitchFamily="18" charset="0"/>
                          <a:ea typeface="+mn-ea"/>
                          <a:cs typeface="+mn-cs"/>
                        </a:rPr>
                        <a:t>Creates a new file for read/write. Returns FALSE and an error if file already exists</a:t>
                      </a:r>
                    </a:p>
                  </a:txBody>
                  <a:tcPr marT="45725" marB="45725"/>
                </a:tc>
                <a:extLst>
                  <a:ext uri="{0D108BD9-81ED-4DB2-BD59-A6C34878D82A}">
                    <a16:rowId xmlns:a16="http://schemas.microsoft.com/office/drawing/2014/main" val="10001"/>
                  </a:ext>
                </a:extLst>
              </a:tr>
              <a:tr h="1518784">
                <a:tc>
                  <a:txBody>
                    <a:bodyPr/>
                    <a:lstStyle/>
                    <a:p>
                      <a:r>
                        <a:rPr lang="en-US" sz="2000" b="1" dirty="0">
                          <a:latin typeface="Garamond" panose="02020404030301010803" pitchFamily="18" charset="0"/>
                        </a:rPr>
                        <a:t>b</a:t>
                      </a:r>
                    </a:p>
                  </a:txBody>
                  <a:tcPr marT="45717" marB="45717"/>
                </a:tc>
                <a:tc>
                  <a:txBody>
                    <a:bodyPr/>
                    <a:lstStyle/>
                    <a:p>
                      <a:r>
                        <a:rPr lang="en-US" sz="1800" b="1" kern="1200" dirty="0">
                          <a:solidFill>
                            <a:schemeClr val="tx1"/>
                          </a:solidFill>
                          <a:latin typeface="Garamond" panose="02020404030301010803" pitchFamily="18" charset="0"/>
                          <a:ea typeface="+mn-ea"/>
                          <a:cs typeface="+mn-cs"/>
                        </a:rPr>
                        <a:t>Used in conjunction with one of the other modes. You might want</a:t>
                      </a:r>
                      <a:r>
                        <a:rPr lang="en-US" sz="1800" b="1" kern="1200" baseline="0" dirty="0">
                          <a:solidFill>
                            <a:schemeClr val="tx1"/>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to use this mode if your file system </a:t>
                      </a:r>
                      <a:r>
                        <a:rPr lang="en-US" sz="1800" b="1" kern="1200" dirty="0">
                          <a:solidFill>
                            <a:srgbClr val="FF0000"/>
                          </a:solidFill>
                          <a:latin typeface="Garamond" panose="02020404030301010803" pitchFamily="18" charset="0"/>
                          <a:ea typeface="+mn-ea"/>
                          <a:cs typeface="+mn-cs"/>
                        </a:rPr>
                        <a:t>differentiates between binary and</a:t>
                      </a:r>
                      <a:r>
                        <a:rPr lang="en-US" sz="1800" b="1" kern="1200" baseline="0" dirty="0">
                          <a:solidFill>
                            <a:srgbClr val="FF0000"/>
                          </a:solidFill>
                          <a:latin typeface="Garamond" panose="02020404030301010803" pitchFamily="18" charset="0"/>
                          <a:ea typeface="+mn-ea"/>
                          <a:cs typeface="+mn-cs"/>
                        </a:rPr>
                        <a:t> </a:t>
                      </a:r>
                      <a:r>
                        <a:rPr lang="en-US" sz="1800" b="1" kern="1200" dirty="0">
                          <a:solidFill>
                            <a:srgbClr val="FF0000"/>
                          </a:solidFill>
                          <a:latin typeface="Garamond" panose="02020404030301010803" pitchFamily="18" charset="0"/>
                          <a:ea typeface="+mn-ea"/>
                          <a:cs typeface="+mn-cs"/>
                        </a:rPr>
                        <a:t>text files</a:t>
                      </a:r>
                      <a:r>
                        <a:rPr lang="en-US" sz="1800" b="1" kern="1200" dirty="0">
                          <a:solidFill>
                            <a:schemeClr val="tx1"/>
                          </a:solidFill>
                          <a:latin typeface="Garamond" panose="02020404030301010803" pitchFamily="18" charset="0"/>
                          <a:ea typeface="+mn-ea"/>
                          <a:cs typeface="+mn-cs"/>
                        </a:rPr>
                        <a:t>. Windows systems differentiate; Unix systems do not. The</a:t>
                      </a:r>
                      <a:r>
                        <a:rPr lang="en-US" sz="1800" b="1" kern="1200" baseline="0" dirty="0">
                          <a:solidFill>
                            <a:schemeClr val="tx1"/>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PHP developers recommend you always use this option for maximum</a:t>
                      </a:r>
                      <a:r>
                        <a:rPr lang="en-US" sz="1800" b="1" kern="1200" baseline="0" dirty="0">
                          <a:solidFill>
                            <a:schemeClr val="tx1"/>
                          </a:solidFill>
                          <a:latin typeface="Garamond" panose="02020404030301010803" pitchFamily="18" charset="0"/>
                          <a:ea typeface="+mn-ea"/>
                          <a:cs typeface="+mn-cs"/>
                        </a:rPr>
                        <a:t> </a:t>
                      </a:r>
                      <a:r>
                        <a:rPr lang="en-US" sz="1800" b="1" kern="1200" dirty="0">
                          <a:solidFill>
                            <a:schemeClr val="tx1"/>
                          </a:solidFill>
                          <a:latin typeface="Garamond" panose="02020404030301010803" pitchFamily="18" charset="0"/>
                          <a:ea typeface="+mn-ea"/>
                          <a:cs typeface="+mn-cs"/>
                        </a:rPr>
                        <a:t>portability. It is the default mode.</a:t>
                      </a:r>
                    </a:p>
                  </a:txBody>
                  <a:tcPr marT="45717" marB="45717"/>
                </a:tc>
                <a:extLst>
                  <a:ext uri="{0D108BD9-81ED-4DB2-BD59-A6C34878D82A}">
                    <a16:rowId xmlns:a16="http://schemas.microsoft.com/office/drawing/2014/main" val="10002"/>
                  </a:ext>
                </a:extLst>
              </a:tr>
              <a:tr h="1803557">
                <a:tc>
                  <a:txBody>
                    <a:bodyPr/>
                    <a:lstStyle/>
                    <a:p>
                      <a:r>
                        <a:rPr lang="en-US" sz="2000" b="1" dirty="0">
                          <a:latin typeface="Garamond" panose="02020404030301010803" pitchFamily="18" charset="0"/>
                        </a:rPr>
                        <a:t>t</a:t>
                      </a:r>
                    </a:p>
                  </a:txBody>
                  <a:tcPr marT="45717" marB="45717"/>
                </a:tc>
                <a:tc>
                  <a:txBody>
                    <a:bodyPr/>
                    <a:lstStyle/>
                    <a:p>
                      <a:r>
                        <a:rPr lang="en-US" sz="1800" b="1" kern="1200" dirty="0">
                          <a:solidFill>
                            <a:schemeClr val="tx1"/>
                          </a:solidFill>
                          <a:latin typeface="Garamond" panose="02020404030301010803" pitchFamily="18" charset="0"/>
                          <a:ea typeface="+mn-ea"/>
                          <a:cs typeface="+mn-cs"/>
                        </a:rPr>
                        <a:t>Used in conjunction with other modes (e.g., "rt", "</a:t>
                      </a:r>
                      <a:r>
                        <a:rPr lang="en-US" sz="1800" b="1" kern="1200" dirty="0" err="1">
                          <a:solidFill>
                            <a:schemeClr val="tx1"/>
                          </a:solidFill>
                          <a:latin typeface="Garamond" panose="02020404030301010803" pitchFamily="18" charset="0"/>
                          <a:ea typeface="+mn-ea"/>
                          <a:cs typeface="+mn-cs"/>
                        </a:rPr>
                        <a:t>wt</a:t>
                      </a:r>
                      <a:r>
                        <a:rPr lang="en-US" sz="1800" b="1" kern="1200" dirty="0">
                          <a:solidFill>
                            <a:schemeClr val="tx1"/>
                          </a:solidFill>
                          <a:latin typeface="Garamond" panose="02020404030301010803" pitchFamily="18" charset="0"/>
                          <a:ea typeface="+mn-ea"/>
                          <a:cs typeface="+mn-cs"/>
                        </a:rPr>
                        <a:t>") to explicitly treat the file as text. Windows-specific; generally unnecessary because text is default on Unix/Linux. Rarely used; only when porting code that needs explicit text mode. Not recommended except for compatibility with older Windows systems.</a:t>
                      </a:r>
                    </a:p>
                  </a:txBody>
                  <a:tcPr marT="45717" marB="45717"/>
                </a:tc>
                <a:extLst>
                  <a:ext uri="{0D108BD9-81ED-4DB2-BD59-A6C34878D82A}">
                    <a16:rowId xmlns:a16="http://schemas.microsoft.com/office/drawing/2014/main" val="10003"/>
                  </a:ext>
                </a:extLst>
              </a:tr>
            </a:tbl>
          </a:graphicData>
        </a:graphic>
      </p:graphicFrame>
      <p:sp>
        <p:nvSpPr>
          <p:cNvPr id="2" name="Slide Number Placeholder 1">
            <a:extLst>
              <a:ext uri="{FF2B5EF4-FFF2-40B4-BE49-F238E27FC236}">
                <a16:creationId xmlns:a16="http://schemas.microsoft.com/office/drawing/2014/main" id="{A7AEFD70-512B-432B-B9B2-68AABCED5B83}"/>
              </a:ext>
            </a:extLst>
          </p:cNvPr>
          <p:cNvSpPr>
            <a:spLocks noGrp="1"/>
          </p:cNvSpPr>
          <p:nvPr>
            <p:ph type="sldNum" sz="quarter" idx="12"/>
          </p:nvPr>
        </p:nvSpPr>
        <p:spPr/>
        <p:txBody>
          <a:bodyPr/>
          <a:lstStyle/>
          <a:p>
            <a:pPr>
              <a:defRPr/>
            </a:pPr>
            <a:fld id="{2807F527-F93A-4DFB-A6A5-8EC3CE84B904}" type="slidenum">
              <a:rPr lang="en-US" altLang="en-US" smtClean="0"/>
              <a:pPr>
                <a:defRPr/>
              </a:pPr>
              <a:t>7</a:t>
            </a:fld>
            <a:endParaRPr lang="en-US" altLang="en-US"/>
          </a:p>
        </p:txBody>
      </p:sp>
    </p:spTree>
    <p:extLst>
      <p:ext uri="{BB962C8B-B14F-4D97-AF65-F5344CB8AC3E}">
        <p14:creationId xmlns:p14="http://schemas.microsoft.com/office/powerpoint/2010/main" val="1254389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223520"/>
            <a:ext cx="8229600" cy="839893"/>
          </a:xfrm>
        </p:spPr>
        <p:txBody>
          <a:bodyPr>
            <a:normAutofit/>
          </a:bodyPr>
          <a:lstStyle/>
          <a:p>
            <a:r>
              <a:rPr lang="en-US" dirty="0"/>
              <a:t>PHP files  cont’d</a:t>
            </a:r>
          </a:p>
        </p:txBody>
      </p:sp>
      <p:sp>
        <p:nvSpPr>
          <p:cNvPr id="10243" name="Rectangle 3"/>
          <p:cNvSpPr>
            <a:spLocks noGrp="1" noChangeArrowheads="1"/>
          </p:cNvSpPr>
          <p:nvPr>
            <p:ph idx="1"/>
          </p:nvPr>
        </p:nvSpPr>
        <p:spPr>
          <a:xfrm>
            <a:off x="532827" y="1283941"/>
            <a:ext cx="8229600" cy="4525963"/>
          </a:xfrm>
        </p:spPr>
        <p:txBody>
          <a:bodyPr/>
          <a:lstStyle/>
          <a:p>
            <a:r>
              <a:rPr lang="en-US" dirty="0"/>
              <a:t>Closing a File</a:t>
            </a:r>
          </a:p>
          <a:p>
            <a:r>
              <a:rPr lang="en-US" dirty="0"/>
              <a:t>The </a:t>
            </a:r>
            <a:r>
              <a:rPr lang="en-US" dirty="0" err="1"/>
              <a:t>fclose</a:t>
            </a:r>
            <a:r>
              <a:rPr lang="en-US" dirty="0"/>
              <a:t>() function is used to close an open file:</a:t>
            </a:r>
          </a:p>
          <a:p>
            <a:pPr lvl="1"/>
            <a:r>
              <a:rPr lang="en-US" dirty="0" err="1"/>
              <a:t>E.g</a:t>
            </a:r>
            <a:r>
              <a:rPr lang="en-US" dirty="0"/>
              <a:t>:</a:t>
            </a:r>
          </a:p>
          <a:p>
            <a:pPr lvl="2"/>
            <a:r>
              <a:rPr lang="en-US" sz="2800" b="1" dirty="0">
                <a:solidFill>
                  <a:srgbClr val="C00000"/>
                </a:solidFill>
              </a:rPr>
              <a:t>	&lt;?</a:t>
            </a:r>
            <a:r>
              <a:rPr lang="en-US" sz="2800" b="1" dirty="0" err="1">
                <a:solidFill>
                  <a:srgbClr val="C00000"/>
                </a:solidFill>
              </a:rPr>
              <a:t>php</a:t>
            </a:r>
            <a:endParaRPr lang="en-US" sz="2800" b="1" dirty="0">
              <a:solidFill>
                <a:srgbClr val="C00000"/>
              </a:solidFill>
            </a:endParaRPr>
          </a:p>
          <a:p>
            <a:pPr lvl="2"/>
            <a:r>
              <a:rPr lang="en-US" sz="2800" b="1" dirty="0">
                <a:solidFill>
                  <a:srgbClr val="C00000"/>
                </a:solidFill>
              </a:rPr>
              <a:t>	$file = </a:t>
            </a:r>
            <a:r>
              <a:rPr lang="en-US" sz="2800" b="1" dirty="0" err="1">
                <a:solidFill>
                  <a:srgbClr val="C00000"/>
                </a:solidFill>
              </a:rPr>
              <a:t>fopen</a:t>
            </a:r>
            <a:r>
              <a:rPr lang="en-US" sz="2800" b="1" dirty="0">
                <a:solidFill>
                  <a:srgbClr val="C00000"/>
                </a:solidFill>
              </a:rPr>
              <a:t>("</a:t>
            </a:r>
            <a:r>
              <a:rPr lang="en-US" sz="2800" b="1" dirty="0" err="1">
                <a:solidFill>
                  <a:srgbClr val="C00000"/>
                </a:solidFill>
              </a:rPr>
              <a:t>test.txt","r</a:t>
            </a:r>
            <a:r>
              <a:rPr lang="en-US" sz="2800" b="1" dirty="0">
                <a:solidFill>
                  <a:srgbClr val="C00000"/>
                </a:solidFill>
              </a:rPr>
              <a:t>");</a:t>
            </a:r>
          </a:p>
          <a:p>
            <a:pPr lvl="2"/>
            <a:r>
              <a:rPr lang="en-US" sz="2800" b="1" dirty="0">
                <a:solidFill>
                  <a:srgbClr val="C00000"/>
                </a:solidFill>
              </a:rPr>
              <a:t>	//some code to be executed</a:t>
            </a:r>
          </a:p>
          <a:p>
            <a:pPr lvl="2"/>
            <a:r>
              <a:rPr lang="en-US" sz="2800" b="1" dirty="0">
                <a:solidFill>
                  <a:srgbClr val="C00000"/>
                </a:solidFill>
              </a:rPr>
              <a:t>	</a:t>
            </a:r>
            <a:r>
              <a:rPr lang="en-US" sz="2800" b="1" dirty="0" err="1">
                <a:solidFill>
                  <a:srgbClr val="C00000"/>
                </a:solidFill>
              </a:rPr>
              <a:t>fclose</a:t>
            </a:r>
            <a:r>
              <a:rPr lang="en-US" sz="2800" b="1" dirty="0">
                <a:solidFill>
                  <a:srgbClr val="C00000"/>
                </a:solidFill>
              </a:rPr>
              <a:t>($file);</a:t>
            </a:r>
          </a:p>
          <a:p>
            <a:pPr lvl="2"/>
            <a:r>
              <a:rPr lang="en-US" sz="2800" b="1" dirty="0">
                <a:solidFill>
                  <a:srgbClr val="C00000"/>
                </a:solidFill>
              </a:rPr>
              <a:t>	?&gt;</a:t>
            </a:r>
          </a:p>
        </p:txBody>
      </p:sp>
      <p:sp>
        <p:nvSpPr>
          <p:cNvPr id="2" name="Slide Number Placeholder 1">
            <a:extLst>
              <a:ext uri="{FF2B5EF4-FFF2-40B4-BE49-F238E27FC236}">
                <a16:creationId xmlns:a16="http://schemas.microsoft.com/office/drawing/2014/main" id="{B35D85CF-0473-4100-BEC6-B2208506059F}"/>
              </a:ext>
            </a:extLst>
          </p:cNvPr>
          <p:cNvSpPr>
            <a:spLocks noGrp="1"/>
          </p:cNvSpPr>
          <p:nvPr>
            <p:ph type="sldNum" sz="quarter" idx="12"/>
          </p:nvPr>
        </p:nvSpPr>
        <p:spPr/>
        <p:txBody>
          <a:bodyPr/>
          <a:lstStyle/>
          <a:p>
            <a:pPr>
              <a:defRPr/>
            </a:pPr>
            <a:fld id="{2807F527-F93A-4DFB-A6A5-8EC3CE84B904}" type="slidenum">
              <a:rPr lang="en-US" altLang="en-US" smtClean="0"/>
              <a:pPr>
                <a:defRPr/>
              </a:pPr>
              <a:t>8</a:t>
            </a:fld>
            <a:endParaRPr lang="en-US" altLang="en-US"/>
          </a:p>
        </p:txBody>
      </p:sp>
    </p:spTree>
    <p:extLst>
      <p:ext uri="{BB962C8B-B14F-4D97-AF65-F5344CB8AC3E}">
        <p14:creationId xmlns:p14="http://schemas.microsoft.com/office/powerpoint/2010/main" val="401027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p:cTn id="7" dur="1000" fill="hold"/>
                                        <p:tgtEl>
                                          <p:spTgt spid="1024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1024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4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10243">
                                            <p:txEl>
                                              <p:pRg st="1" end="1"/>
                                            </p:txEl>
                                          </p:spTgt>
                                        </p:tgtEl>
                                        <p:attrNameLst>
                                          <p:attrName>style.visibility</p:attrName>
                                        </p:attrNameLst>
                                      </p:cBhvr>
                                      <p:to>
                                        <p:strVal val="visible"/>
                                      </p:to>
                                    </p:set>
                                    <p:anim calcmode="lin" valueType="num">
                                      <p:cBhvr>
                                        <p:cTn id="14" dur="1000" fill="hold"/>
                                        <p:tgtEl>
                                          <p:spTgt spid="1024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1024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10243">
                                            <p:txEl>
                                              <p:pRg st="1" end="1"/>
                                            </p:txEl>
                                          </p:spTgt>
                                        </p:tgtEl>
                                      </p:cBhvr>
                                    </p:animEffect>
                                  </p:childTnLst>
                                </p:cTn>
                              </p:par>
                              <p:par>
                                <p:cTn id="17" presetID="29" presetClass="entr" presetSubtype="0" fill="hold" grpId="0" nodeType="with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anim calcmode="lin" valueType="num">
                                      <p:cBhvr>
                                        <p:cTn id="19" dur="1000" fill="hold"/>
                                        <p:tgtEl>
                                          <p:spTgt spid="10243">
                                            <p:txEl>
                                              <p:pRg st="2" end="2"/>
                                            </p:txEl>
                                          </p:spTgt>
                                        </p:tgtEl>
                                        <p:attrNameLst>
                                          <p:attrName>ppt_x</p:attrName>
                                        </p:attrNameLst>
                                      </p:cBhvr>
                                      <p:tavLst>
                                        <p:tav tm="0">
                                          <p:val>
                                            <p:strVal val="#ppt_x-.2"/>
                                          </p:val>
                                        </p:tav>
                                        <p:tav tm="100000">
                                          <p:val>
                                            <p:strVal val="#ppt_x"/>
                                          </p:val>
                                        </p:tav>
                                      </p:tavLst>
                                    </p:anim>
                                    <p:anim calcmode="lin" valueType="num">
                                      <p:cBhvr>
                                        <p:cTn id="20" dur="1000" fill="hold"/>
                                        <p:tgtEl>
                                          <p:spTgt spid="1024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1" dur="1000"/>
                                        <p:tgtEl>
                                          <p:spTgt spid="10243">
                                            <p:txEl>
                                              <p:pRg st="2" end="2"/>
                                            </p:txEl>
                                          </p:spTgt>
                                        </p:tgtEl>
                                      </p:cBhvr>
                                    </p:animEffect>
                                  </p:childTnLst>
                                </p:cTn>
                              </p:par>
                              <p:par>
                                <p:cTn id="22" presetID="29" presetClass="entr" presetSubtype="0" fill="hold" grpId="0" nodeType="withEffect">
                                  <p:stCondLst>
                                    <p:cond delay="0"/>
                                  </p:stCondLst>
                                  <p:childTnLst>
                                    <p:set>
                                      <p:cBhvr>
                                        <p:cTn id="23" dur="1" fill="hold">
                                          <p:stCondLst>
                                            <p:cond delay="0"/>
                                          </p:stCondLst>
                                        </p:cTn>
                                        <p:tgtEl>
                                          <p:spTgt spid="10243">
                                            <p:txEl>
                                              <p:pRg st="3" end="3"/>
                                            </p:txEl>
                                          </p:spTgt>
                                        </p:tgtEl>
                                        <p:attrNameLst>
                                          <p:attrName>style.visibility</p:attrName>
                                        </p:attrNameLst>
                                      </p:cBhvr>
                                      <p:to>
                                        <p:strVal val="visible"/>
                                      </p:to>
                                    </p:set>
                                    <p:anim calcmode="lin" valueType="num">
                                      <p:cBhvr>
                                        <p:cTn id="24" dur="1000" fill="hold"/>
                                        <p:tgtEl>
                                          <p:spTgt spid="10243">
                                            <p:txEl>
                                              <p:pRg st="3" end="3"/>
                                            </p:txEl>
                                          </p:spTgt>
                                        </p:tgtEl>
                                        <p:attrNameLst>
                                          <p:attrName>ppt_x</p:attrName>
                                        </p:attrNameLst>
                                      </p:cBhvr>
                                      <p:tavLst>
                                        <p:tav tm="0">
                                          <p:val>
                                            <p:strVal val="#ppt_x-.2"/>
                                          </p:val>
                                        </p:tav>
                                        <p:tav tm="100000">
                                          <p:val>
                                            <p:strVal val="#ppt_x"/>
                                          </p:val>
                                        </p:tav>
                                      </p:tavLst>
                                    </p:anim>
                                    <p:anim calcmode="lin" valueType="num">
                                      <p:cBhvr>
                                        <p:cTn id="25" dur="1000" fill="hold"/>
                                        <p:tgtEl>
                                          <p:spTgt spid="1024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6" dur="1000"/>
                                        <p:tgtEl>
                                          <p:spTgt spid="10243">
                                            <p:txEl>
                                              <p:pRg st="3" end="3"/>
                                            </p:txEl>
                                          </p:spTgt>
                                        </p:tgtEl>
                                      </p:cBhvr>
                                    </p:animEffect>
                                  </p:childTnLst>
                                </p:cTn>
                              </p:par>
                              <p:par>
                                <p:cTn id="27" presetID="29" presetClass="entr" presetSubtype="0" fill="hold" grpId="0" nodeType="withEffect">
                                  <p:stCondLst>
                                    <p:cond delay="0"/>
                                  </p:stCondLst>
                                  <p:childTnLst>
                                    <p:set>
                                      <p:cBhvr>
                                        <p:cTn id="28" dur="1" fill="hold">
                                          <p:stCondLst>
                                            <p:cond delay="0"/>
                                          </p:stCondLst>
                                        </p:cTn>
                                        <p:tgtEl>
                                          <p:spTgt spid="10243">
                                            <p:txEl>
                                              <p:pRg st="4" end="4"/>
                                            </p:txEl>
                                          </p:spTgt>
                                        </p:tgtEl>
                                        <p:attrNameLst>
                                          <p:attrName>style.visibility</p:attrName>
                                        </p:attrNameLst>
                                      </p:cBhvr>
                                      <p:to>
                                        <p:strVal val="visible"/>
                                      </p:to>
                                    </p:set>
                                    <p:anim calcmode="lin" valueType="num">
                                      <p:cBhvr>
                                        <p:cTn id="29" dur="1000" fill="hold"/>
                                        <p:tgtEl>
                                          <p:spTgt spid="10243">
                                            <p:txEl>
                                              <p:pRg st="4" end="4"/>
                                            </p:txEl>
                                          </p:spTgt>
                                        </p:tgtEl>
                                        <p:attrNameLst>
                                          <p:attrName>ppt_x</p:attrName>
                                        </p:attrNameLst>
                                      </p:cBhvr>
                                      <p:tavLst>
                                        <p:tav tm="0">
                                          <p:val>
                                            <p:strVal val="#ppt_x-.2"/>
                                          </p:val>
                                        </p:tav>
                                        <p:tav tm="100000">
                                          <p:val>
                                            <p:strVal val="#ppt_x"/>
                                          </p:val>
                                        </p:tav>
                                      </p:tavLst>
                                    </p:anim>
                                    <p:anim calcmode="lin" valueType="num">
                                      <p:cBhvr>
                                        <p:cTn id="30" dur="1000" fill="hold"/>
                                        <p:tgtEl>
                                          <p:spTgt spid="1024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1" dur="1000"/>
                                        <p:tgtEl>
                                          <p:spTgt spid="10243">
                                            <p:txEl>
                                              <p:pRg st="4" end="4"/>
                                            </p:txEl>
                                          </p:spTgt>
                                        </p:tgtEl>
                                      </p:cBhvr>
                                    </p:animEffect>
                                  </p:childTnLst>
                                </p:cTn>
                              </p:par>
                              <p:par>
                                <p:cTn id="32" presetID="29" presetClass="entr" presetSubtype="0" fill="hold" grpId="0" nodeType="withEffect">
                                  <p:stCondLst>
                                    <p:cond delay="0"/>
                                  </p:stCondLst>
                                  <p:childTnLst>
                                    <p:set>
                                      <p:cBhvr>
                                        <p:cTn id="33" dur="1" fill="hold">
                                          <p:stCondLst>
                                            <p:cond delay="0"/>
                                          </p:stCondLst>
                                        </p:cTn>
                                        <p:tgtEl>
                                          <p:spTgt spid="10243">
                                            <p:txEl>
                                              <p:pRg st="5" end="5"/>
                                            </p:txEl>
                                          </p:spTgt>
                                        </p:tgtEl>
                                        <p:attrNameLst>
                                          <p:attrName>style.visibility</p:attrName>
                                        </p:attrNameLst>
                                      </p:cBhvr>
                                      <p:to>
                                        <p:strVal val="visible"/>
                                      </p:to>
                                    </p:set>
                                    <p:anim calcmode="lin" valueType="num">
                                      <p:cBhvr>
                                        <p:cTn id="34" dur="1000" fill="hold"/>
                                        <p:tgtEl>
                                          <p:spTgt spid="10243">
                                            <p:txEl>
                                              <p:pRg st="5" end="5"/>
                                            </p:txEl>
                                          </p:spTgt>
                                        </p:tgtEl>
                                        <p:attrNameLst>
                                          <p:attrName>ppt_x</p:attrName>
                                        </p:attrNameLst>
                                      </p:cBhvr>
                                      <p:tavLst>
                                        <p:tav tm="0">
                                          <p:val>
                                            <p:strVal val="#ppt_x-.2"/>
                                          </p:val>
                                        </p:tav>
                                        <p:tav tm="100000">
                                          <p:val>
                                            <p:strVal val="#ppt_x"/>
                                          </p:val>
                                        </p:tav>
                                      </p:tavLst>
                                    </p:anim>
                                    <p:anim calcmode="lin" valueType="num">
                                      <p:cBhvr>
                                        <p:cTn id="35" dur="1000" fill="hold"/>
                                        <p:tgtEl>
                                          <p:spTgt spid="1024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6" dur="1000"/>
                                        <p:tgtEl>
                                          <p:spTgt spid="10243">
                                            <p:txEl>
                                              <p:pRg st="5" end="5"/>
                                            </p:txEl>
                                          </p:spTgt>
                                        </p:tgtEl>
                                      </p:cBhvr>
                                    </p:animEffect>
                                  </p:childTnLst>
                                </p:cTn>
                              </p:par>
                              <p:par>
                                <p:cTn id="37" presetID="29" presetClass="entr" presetSubtype="0" fill="hold" grpId="0" nodeType="withEffect">
                                  <p:stCondLst>
                                    <p:cond delay="0"/>
                                  </p:stCondLst>
                                  <p:childTnLst>
                                    <p:set>
                                      <p:cBhvr>
                                        <p:cTn id="38" dur="1" fill="hold">
                                          <p:stCondLst>
                                            <p:cond delay="0"/>
                                          </p:stCondLst>
                                        </p:cTn>
                                        <p:tgtEl>
                                          <p:spTgt spid="10243">
                                            <p:txEl>
                                              <p:pRg st="6" end="6"/>
                                            </p:txEl>
                                          </p:spTgt>
                                        </p:tgtEl>
                                        <p:attrNameLst>
                                          <p:attrName>style.visibility</p:attrName>
                                        </p:attrNameLst>
                                      </p:cBhvr>
                                      <p:to>
                                        <p:strVal val="visible"/>
                                      </p:to>
                                    </p:set>
                                    <p:anim calcmode="lin" valueType="num">
                                      <p:cBhvr>
                                        <p:cTn id="39" dur="1000" fill="hold"/>
                                        <p:tgtEl>
                                          <p:spTgt spid="10243">
                                            <p:txEl>
                                              <p:pRg st="6" end="6"/>
                                            </p:txEl>
                                          </p:spTgt>
                                        </p:tgtEl>
                                        <p:attrNameLst>
                                          <p:attrName>ppt_x</p:attrName>
                                        </p:attrNameLst>
                                      </p:cBhvr>
                                      <p:tavLst>
                                        <p:tav tm="0">
                                          <p:val>
                                            <p:strVal val="#ppt_x-.2"/>
                                          </p:val>
                                        </p:tav>
                                        <p:tav tm="100000">
                                          <p:val>
                                            <p:strVal val="#ppt_x"/>
                                          </p:val>
                                        </p:tav>
                                      </p:tavLst>
                                    </p:anim>
                                    <p:anim calcmode="lin" valueType="num">
                                      <p:cBhvr>
                                        <p:cTn id="40" dur="1000" fill="hold"/>
                                        <p:tgtEl>
                                          <p:spTgt spid="1024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1" dur="1000"/>
                                        <p:tgtEl>
                                          <p:spTgt spid="10243">
                                            <p:txEl>
                                              <p:pRg st="6" end="6"/>
                                            </p:txEl>
                                          </p:spTgt>
                                        </p:tgtEl>
                                      </p:cBhvr>
                                    </p:animEffect>
                                  </p:childTnLst>
                                </p:cTn>
                              </p:par>
                              <p:par>
                                <p:cTn id="42" presetID="29" presetClass="entr" presetSubtype="0" fill="hold" grpId="0" nodeType="withEffect">
                                  <p:stCondLst>
                                    <p:cond delay="0"/>
                                  </p:stCondLst>
                                  <p:childTnLst>
                                    <p:set>
                                      <p:cBhvr>
                                        <p:cTn id="43" dur="1" fill="hold">
                                          <p:stCondLst>
                                            <p:cond delay="0"/>
                                          </p:stCondLst>
                                        </p:cTn>
                                        <p:tgtEl>
                                          <p:spTgt spid="10243">
                                            <p:txEl>
                                              <p:pRg st="7" end="7"/>
                                            </p:txEl>
                                          </p:spTgt>
                                        </p:tgtEl>
                                        <p:attrNameLst>
                                          <p:attrName>style.visibility</p:attrName>
                                        </p:attrNameLst>
                                      </p:cBhvr>
                                      <p:to>
                                        <p:strVal val="visible"/>
                                      </p:to>
                                    </p:set>
                                    <p:anim calcmode="lin" valueType="num">
                                      <p:cBhvr>
                                        <p:cTn id="44" dur="1000" fill="hold"/>
                                        <p:tgtEl>
                                          <p:spTgt spid="10243">
                                            <p:txEl>
                                              <p:pRg st="7" end="7"/>
                                            </p:txEl>
                                          </p:spTgt>
                                        </p:tgtEl>
                                        <p:attrNameLst>
                                          <p:attrName>ppt_x</p:attrName>
                                        </p:attrNameLst>
                                      </p:cBhvr>
                                      <p:tavLst>
                                        <p:tav tm="0">
                                          <p:val>
                                            <p:strVal val="#ppt_x-.2"/>
                                          </p:val>
                                        </p:tav>
                                        <p:tav tm="100000">
                                          <p:val>
                                            <p:strVal val="#ppt_x"/>
                                          </p:val>
                                        </p:tav>
                                      </p:tavLst>
                                    </p:anim>
                                    <p:anim calcmode="lin" valueType="num">
                                      <p:cBhvr>
                                        <p:cTn id="45" dur="1000" fill="hold"/>
                                        <p:tgtEl>
                                          <p:spTgt spid="1024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10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99767"/>
            <a:ext cx="8229600" cy="839893"/>
          </a:xfrm>
        </p:spPr>
        <p:txBody>
          <a:bodyPr>
            <a:normAutofit/>
          </a:bodyPr>
          <a:lstStyle/>
          <a:p>
            <a:r>
              <a:rPr lang="en-US" dirty="0"/>
              <a:t>Writing to a file</a:t>
            </a:r>
          </a:p>
        </p:txBody>
      </p:sp>
      <p:sp>
        <p:nvSpPr>
          <p:cNvPr id="3" name="Content Placeholder 2"/>
          <p:cNvSpPr>
            <a:spLocks noGrp="1"/>
          </p:cNvSpPr>
          <p:nvPr>
            <p:ph idx="1"/>
          </p:nvPr>
        </p:nvSpPr>
        <p:spPr>
          <a:xfrm>
            <a:off x="457200" y="939659"/>
            <a:ext cx="8229600" cy="5708647"/>
          </a:xfrm>
        </p:spPr>
        <p:txBody>
          <a:bodyPr>
            <a:normAutofit fontScale="85000" lnSpcReduction="20000"/>
          </a:bodyPr>
          <a:lstStyle/>
          <a:p>
            <a:r>
              <a:rPr lang="en-US" dirty="0"/>
              <a:t>You can store data in two basic ways: in </a:t>
            </a:r>
            <a:r>
              <a:rPr lang="en-US" b="1" dirty="0">
                <a:solidFill>
                  <a:srgbClr val="C00000"/>
                </a:solidFill>
              </a:rPr>
              <a:t>flat </a:t>
            </a:r>
            <a:r>
              <a:rPr lang="en-US" dirty="0"/>
              <a:t>files or in a </a:t>
            </a:r>
            <a:r>
              <a:rPr lang="en-US" b="1" dirty="0">
                <a:solidFill>
                  <a:srgbClr val="C00000"/>
                </a:solidFill>
              </a:rPr>
              <a:t>database</a:t>
            </a:r>
            <a:r>
              <a:rPr lang="en-US" dirty="0"/>
              <a:t>.</a:t>
            </a:r>
          </a:p>
          <a:p>
            <a:r>
              <a:rPr lang="en-US" b="1" dirty="0">
                <a:solidFill>
                  <a:srgbClr val="C00000"/>
                </a:solidFill>
              </a:rPr>
              <a:t>A flat file </a:t>
            </a:r>
            <a:r>
              <a:rPr lang="en-US" dirty="0"/>
              <a:t>can have many formats, but in general, when we refer to a flat file, we mean </a:t>
            </a:r>
            <a:r>
              <a:rPr lang="en-US" b="1" dirty="0">
                <a:solidFill>
                  <a:srgbClr val="C00000"/>
                </a:solidFill>
              </a:rPr>
              <a:t>a simple text file</a:t>
            </a:r>
            <a:r>
              <a:rPr lang="en-US" dirty="0"/>
              <a:t>.</a:t>
            </a:r>
          </a:p>
          <a:p>
            <a:r>
              <a:rPr lang="en-US" dirty="0"/>
              <a:t>If you are dealing with information of any reasonable volume, you will probably want to use a database instead.</a:t>
            </a:r>
          </a:p>
          <a:p>
            <a:r>
              <a:rPr lang="en-US" dirty="0"/>
              <a:t>However, flat files have their uses, and in some situations, you need to know how to use them.</a:t>
            </a:r>
          </a:p>
          <a:p>
            <a:r>
              <a:rPr lang="en-US" dirty="0"/>
              <a:t>As I told you before, File handling is an important part of any web application. You often need to open and process a file for different tasks.</a:t>
            </a:r>
          </a:p>
          <a:p>
            <a:r>
              <a:rPr lang="en-US" dirty="0"/>
              <a:t>The processes of writing to and reading from files are very similar to many programming languages. </a:t>
            </a:r>
          </a:p>
          <a:p>
            <a:r>
              <a:rPr lang="en-US" dirty="0"/>
              <a:t>Writing data to a file requires three steps:</a:t>
            </a:r>
          </a:p>
          <a:p>
            <a:pPr lvl="1"/>
            <a:r>
              <a:rPr lang="en-US" dirty="0"/>
              <a:t>Open the file. If the file does not already exist, you need to create it.</a:t>
            </a:r>
          </a:p>
          <a:p>
            <a:pPr lvl="1"/>
            <a:r>
              <a:rPr lang="en-US" dirty="0"/>
              <a:t>Write the data to the file.</a:t>
            </a:r>
          </a:p>
          <a:p>
            <a:pPr lvl="1"/>
            <a:r>
              <a:rPr lang="en-US" dirty="0"/>
              <a:t>Close the file.</a:t>
            </a:r>
          </a:p>
          <a:p>
            <a:endParaRPr lang="en-US" dirty="0"/>
          </a:p>
        </p:txBody>
      </p:sp>
      <p:sp>
        <p:nvSpPr>
          <p:cNvPr id="2" name="Slide Number Placeholder 1">
            <a:extLst>
              <a:ext uri="{FF2B5EF4-FFF2-40B4-BE49-F238E27FC236}">
                <a16:creationId xmlns:a16="http://schemas.microsoft.com/office/drawing/2014/main" id="{43660DD1-8FFF-434B-B278-7FA13671C5D7}"/>
              </a:ext>
            </a:extLst>
          </p:cNvPr>
          <p:cNvSpPr>
            <a:spLocks noGrp="1"/>
          </p:cNvSpPr>
          <p:nvPr>
            <p:ph type="sldNum" sz="quarter" idx="12"/>
          </p:nvPr>
        </p:nvSpPr>
        <p:spPr/>
        <p:txBody>
          <a:bodyPr/>
          <a:lstStyle/>
          <a:p>
            <a:pPr>
              <a:defRPr/>
            </a:pPr>
            <a:fld id="{2807F527-F93A-4DFB-A6A5-8EC3CE84B904}" type="slidenum">
              <a:rPr lang="en-US" altLang="en-US" smtClean="0"/>
              <a:pPr>
                <a:defRPr/>
              </a:pPr>
              <a:t>9</a:t>
            </a:fld>
            <a:endParaRPr lang="en-US" altLang="en-US"/>
          </a:p>
        </p:txBody>
      </p:sp>
    </p:spTree>
    <p:extLst>
      <p:ext uri="{BB962C8B-B14F-4D97-AF65-F5344CB8AC3E}">
        <p14:creationId xmlns:p14="http://schemas.microsoft.com/office/powerpoint/2010/main" val="321173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3">
                                            <p:txEl>
                                              <p:pRg st="6" end="6"/>
                                            </p:txEl>
                                          </p:spTgt>
                                        </p:tgtEl>
                                      </p:cBhvr>
                                    </p:animEffect>
                                  </p:childTnLst>
                                </p:cTn>
                              </p:par>
                              <p:par>
                                <p:cTn id="52" presetID="29" presetClass="entr" presetSubtype="0" fill="hold" grpId="0" nodeType="with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p:cTn id="54"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55"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6" dur="1000"/>
                                        <p:tgtEl>
                                          <p:spTgt spid="3">
                                            <p:txEl>
                                              <p:pRg st="7" end="7"/>
                                            </p:txEl>
                                          </p:spTgt>
                                        </p:tgtEl>
                                      </p:cBhvr>
                                    </p:animEffect>
                                  </p:childTnLst>
                                </p:cTn>
                              </p:par>
                              <p:par>
                                <p:cTn id="57" presetID="29" presetClass="entr" presetSubtype="0" fill="hold" grpId="0" nodeType="with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 calcmode="lin" valueType="num">
                                      <p:cBhvr>
                                        <p:cTn id="59" dur="1000" fill="hold"/>
                                        <p:tgtEl>
                                          <p:spTgt spid="3">
                                            <p:txEl>
                                              <p:pRg st="8" end="8"/>
                                            </p:txEl>
                                          </p:spTgt>
                                        </p:tgtEl>
                                        <p:attrNameLst>
                                          <p:attrName>ppt_x</p:attrName>
                                        </p:attrNameLst>
                                      </p:cBhvr>
                                      <p:tavLst>
                                        <p:tav tm="0">
                                          <p:val>
                                            <p:strVal val="#ppt_x-.2"/>
                                          </p:val>
                                        </p:tav>
                                        <p:tav tm="100000">
                                          <p:val>
                                            <p:strVal val="#ppt_x"/>
                                          </p:val>
                                        </p:tav>
                                      </p:tavLst>
                                    </p:anim>
                                    <p:anim calcmode="lin" valueType="num">
                                      <p:cBhvr>
                                        <p:cTn id="60" dur="1000" fill="hold"/>
                                        <p:tgtEl>
                                          <p:spTgt spid="3">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61" dur="1000"/>
                                        <p:tgtEl>
                                          <p:spTgt spid="3">
                                            <p:txEl>
                                              <p:pRg st="8" end="8"/>
                                            </p:txEl>
                                          </p:spTgt>
                                        </p:tgtEl>
                                      </p:cBhvr>
                                    </p:animEffect>
                                  </p:childTnLst>
                                </p:cTn>
                              </p:par>
                              <p:par>
                                <p:cTn id="62" presetID="29" presetClass="entr" presetSubtype="0" fill="hold" grpId="0" nodeType="with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 calcmode="lin" valueType="num">
                                      <p:cBhvr>
                                        <p:cTn id="64" dur="1000" fill="hold"/>
                                        <p:tgtEl>
                                          <p:spTgt spid="3">
                                            <p:txEl>
                                              <p:pRg st="9" end="9"/>
                                            </p:txEl>
                                          </p:spTgt>
                                        </p:tgtEl>
                                        <p:attrNameLst>
                                          <p:attrName>ppt_x</p:attrName>
                                        </p:attrNameLst>
                                      </p:cBhvr>
                                      <p:tavLst>
                                        <p:tav tm="0">
                                          <p:val>
                                            <p:strVal val="#ppt_x-.2"/>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66"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122238"/>
            <a:ext cx="7543800" cy="487362"/>
          </a:xfrm>
        </p:spPr>
        <p:txBody>
          <a:bodyPr>
            <a:normAutofit fontScale="90000"/>
          </a:bodyPr>
          <a:lstStyle/>
          <a:p>
            <a:pPr algn="ctr" eaLnBrk="1" hangingPunct="1"/>
            <a:r>
              <a:rPr lang="en-US" sz="2800" b="1" dirty="0">
                <a:solidFill>
                  <a:srgbClr val="0000FF"/>
                </a:solidFill>
                <a:latin typeface="Maiandra GD" pitchFamily="34" charset="0"/>
              </a:rPr>
              <a:t>Writing to a file</a:t>
            </a:r>
          </a:p>
        </p:txBody>
      </p:sp>
      <p:sp>
        <p:nvSpPr>
          <p:cNvPr id="3" name="Content Placeholder 2"/>
          <p:cNvSpPr>
            <a:spLocks noGrp="1"/>
          </p:cNvSpPr>
          <p:nvPr>
            <p:ph idx="1"/>
          </p:nvPr>
        </p:nvSpPr>
        <p:spPr>
          <a:xfrm>
            <a:off x="457200" y="609600"/>
            <a:ext cx="8458200" cy="6096000"/>
          </a:xfrm>
        </p:spPr>
        <p:txBody>
          <a:bodyPr>
            <a:normAutofit lnSpcReduction="10000"/>
          </a:bodyPr>
          <a:lstStyle/>
          <a:p>
            <a:pPr eaLnBrk="1" hangingPunct="1"/>
            <a:r>
              <a:rPr lang="en-US" dirty="0"/>
              <a:t>You can write to a file using </a:t>
            </a:r>
            <a:r>
              <a:rPr lang="en-US" dirty="0" err="1">
                <a:solidFill>
                  <a:srgbClr val="0000FF"/>
                </a:solidFill>
              </a:rPr>
              <a:t>fwrite</a:t>
            </a:r>
            <a:r>
              <a:rPr lang="en-US" dirty="0">
                <a:solidFill>
                  <a:srgbClr val="0000FF"/>
                </a:solidFill>
              </a:rPr>
              <a:t>() </a:t>
            </a:r>
            <a:r>
              <a:rPr lang="en-US" dirty="0"/>
              <a:t>method (file write) or </a:t>
            </a:r>
            <a:r>
              <a:rPr lang="en-US" dirty="0" err="1"/>
              <a:t>fputs</a:t>
            </a:r>
            <a:r>
              <a:rPr lang="en-US" dirty="0"/>
              <a:t>() (file put string); </a:t>
            </a:r>
            <a:r>
              <a:rPr lang="en-US" dirty="0" err="1"/>
              <a:t>fputs</a:t>
            </a:r>
            <a:r>
              <a:rPr lang="en-US" dirty="0"/>
              <a:t>() is an alias to </a:t>
            </a:r>
            <a:r>
              <a:rPr lang="en-US" dirty="0" err="1"/>
              <a:t>fwrite</a:t>
            </a:r>
            <a:r>
              <a:rPr lang="en-US" dirty="0"/>
              <a:t>().</a:t>
            </a:r>
          </a:p>
          <a:p>
            <a:pPr eaLnBrk="1" hangingPunct="1"/>
            <a:r>
              <a:rPr lang="en-US" dirty="0"/>
              <a:t>You call </a:t>
            </a:r>
            <a:r>
              <a:rPr lang="en-US" dirty="0" err="1"/>
              <a:t>fwrite</a:t>
            </a:r>
            <a:r>
              <a:rPr lang="en-US" dirty="0"/>
              <a:t>() in the following way:</a:t>
            </a:r>
          </a:p>
          <a:p>
            <a:pPr lvl="1" eaLnBrk="1" hangingPunct="1"/>
            <a:r>
              <a:rPr lang="en-US" dirty="0" err="1">
                <a:solidFill>
                  <a:srgbClr val="0000FF"/>
                </a:solidFill>
              </a:rPr>
              <a:t>fwrite</a:t>
            </a:r>
            <a:r>
              <a:rPr lang="en-US" dirty="0">
                <a:solidFill>
                  <a:srgbClr val="0000FF"/>
                </a:solidFill>
              </a:rPr>
              <a:t>($</a:t>
            </a:r>
            <a:r>
              <a:rPr lang="en-US" dirty="0" err="1">
                <a:solidFill>
                  <a:srgbClr val="0000FF"/>
                </a:solidFill>
              </a:rPr>
              <a:t>fp</a:t>
            </a:r>
            <a:r>
              <a:rPr lang="en-US" dirty="0">
                <a:solidFill>
                  <a:srgbClr val="0000FF"/>
                </a:solidFill>
              </a:rPr>
              <a:t>, $</a:t>
            </a:r>
            <a:r>
              <a:rPr lang="en-US" dirty="0" err="1">
                <a:solidFill>
                  <a:srgbClr val="0000FF"/>
                </a:solidFill>
              </a:rPr>
              <a:t>outputstring</a:t>
            </a:r>
            <a:r>
              <a:rPr lang="en-US" dirty="0">
                <a:solidFill>
                  <a:srgbClr val="0000FF"/>
                </a:solidFill>
              </a:rPr>
              <a:t>);</a:t>
            </a:r>
          </a:p>
          <a:p>
            <a:pPr lvl="1"/>
            <a:r>
              <a:rPr lang="en-US" dirty="0"/>
              <a:t>This function call, tells PHP to </a:t>
            </a:r>
            <a:r>
              <a:rPr lang="en-US" dirty="0">
                <a:solidFill>
                  <a:srgbClr val="C00000"/>
                </a:solidFill>
              </a:rPr>
              <a:t>write the string stored in </a:t>
            </a:r>
            <a:r>
              <a:rPr lang="en-US" b="1" dirty="0">
                <a:solidFill>
                  <a:srgbClr val="C00000"/>
                </a:solidFill>
              </a:rPr>
              <a:t>$</a:t>
            </a:r>
            <a:r>
              <a:rPr lang="en-US" b="1" dirty="0" err="1">
                <a:solidFill>
                  <a:srgbClr val="C00000"/>
                </a:solidFill>
              </a:rPr>
              <a:t>outputstring</a:t>
            </a:r>
            <a:r>
              <a:rPr lang="en-US" b="1" dirty="0"/>
              <a:t> </a:t>
            </a:r>
            <a:r>
              <a:rPr lang="en-US" dirty="0"/>
              <a:t>to the </a:t>
            </a:r>
            <a:r>
              <a:rPr lang="en-US" dirty="0">
                <a:solidFill>
                  <a:srgbClr val="C00000"/>
                </a:solidFill>
              </a:rPr>
              <a:t>file pointed to by </a:t>
            </a:r>
            <a:r>
              <a:rPr lang="en-US" b="1" dirty="0">
                <a:solidFill>
                  <a:srgbClr val="C00000"/>
                </a:solidFill>
              </a:rPr>
              <a:t>$fp</a:t>
            </a:r>
            <a:r>
              <a:rPr lang="en-US" dirty="0"/>
              <a:t>.</a:t>
            </a:r>
          </a:p>
          <a:p>
            <a:pPr lvl="1"/>
            <a:r>
              <a:rPr lang="en-US" b="1" dirty="0"/>
              <a:t>Example1:</a:t>
            </a:r>
          </a:p>
          <a:p>
            <a:pPr marL="857250" lvl="2" indent="0">
              <a:buNone/>
            </a:pPr>
            <a:r>
              <a:rPr lang="en-US" sz="2400" b="1" dirty="0">
                <a:solidFill>
                  <a:srgbClr val="FF0000"/>
                </a:solidFill>
              </a:rPr>
              <a:t>&lt;?php</a:t>
            </a:r>
            <a:br>
              <a:rPr lang="en-US" sz="2400" b="1" dirty="0">
                <a:solidFill>
                  <a:srgbClr val="FF0000"/>
                </a:solidFill>
              </a:rPr>
            </a:br>
            <a:r>
              <a:rPr lang="en-US" sz="2400" b="1" dirty="0">
                <a:solidFill>
                  <a:srgbClr val="FF0000"/>
                </a:solidFill>
              </a:rPr>
              <a:t>$</a:t>
            </a:r>
            <a:r>
              <a:rPr lang="en-US" sz="2400" b="1" dirty="0" err="1">
                <a:solidFill>
                  <a:srgbClr val="FF0000"/>
                </a:solidFill>
              </a:rPr>
              <a:t>myfile</a:t>
            </a:r>
            <a:r>
              <a:rPr lang="en-US" sz="2400" b="1" dirty="0">
                <a:solidFill>
                  <a:srgbClr val="FF0000"/>
                </a:solidFill>
              </a:rPr>
              <a:t> = </a:t>
            </a:r>
            <a:r>
              <a:rPr lang="en-US" sz="2400" b="1" dirty="0" err="1">
                <a:solidFill>
                  <a:srgbClr val="FF0000"/>
                </a:solidFill>
              </a:rPr>
              <a:t>fopen</a:t>
            </a:r>
            <a:r>
              <a:rPr lang="en-US" sz="2400" b="1" dirty="0">
                <a:solidFill>
                  <a:srgbClr val="FF0000"/>
                </a:solidFill>
              </a:rPr>
              <a:t>("newfile.txt", "w") or die("Unable to open file!");</a:t>
            </a:r>
            <a:br>
              <a:rPr lang="en-US" sz="2400" b="1" dirty="0">
                <a:solidFill>
                  <a:srgbClr val="FF0000"/>
                </a:solidFill>
              </a:rPr>
            </a:br>
            <a:r>
              <a:rPr lang="en-US" sz="2400" b="1" dirty="0">
                <a:solidFill>
                  <a:srgbClr val="FF0000"/>
                </a:solidFill>
              </a:rPr>
              <a:t>$txt = “IT 3</a:t>
            </a:r>
            <a:r>
              <a:rPr lang="en-US" sz="2400" b="1" baseline="30000" dirty="0">
                <a:solidFill>
                  <a:srgbClr val="FF0000"/>
                </a:solidFill>
              </a:rPr>
              <a:t>rd</a:t>
            </a:r>
            <a:r>
              <a:rPr lang="en-US" sz="2400" b="1" dirty="0">
                <a:solidFill>
                  <a:srgbClr val="FF0000"/>
                </a:solidFill>
              </a:rPr>
              <a:t>  year Students \n";</a:t>
            </a:r>
            <a:br>
              <a:rPr lang="en-US" sz="2400" b="1" dirty="0">
                <a:solidFill>
                  <a:srgbClr val="FF0000"/>
                </a:solidFill>
              </a:rPr>
            </a:br>
            <a:r>
              <a:rPr lang="en-US" sz="2400" b="1" dirty="0" err="1">
                <a:solidFill>
                  <a:srgbClr val="FF0000"/>
                </a:solidFill>
              </a:rPr>
              <a:t>fwrite</a:t>
            </a:r>
            <a:r>
              <a:rPr lang="en-US" sz="2400" b="1" dirty="0">
                <a:solidFill>
                  <a:srgbClr val="FF0000"/>
                </a:solidFill>
              </a:rPr>
              <a:t>($</a:t>
            </a:r>
            <a:r>
              <a:rPr lang="en-US" sz="2400" b="1" dirty="0" err="1">
                <a:solidFill>
                  <a:srgbClr val="FF0000"/>
                </a:solidFill>
              </a:rPr>
              <a:t>myfile</a:t>
            </a:r>
            <a:r>
              <a:rPr lang="en-US" sz="2400" b="1" dirty="0">
                <a:solidFill>
                  <a:srgbClr val="FF0000"/>
                </a:solidFill>
              </a:rPr>
              <a:t>, $txt);</a:t>
            </a:r>
          </a:p>
          <a:p>
            <a:pPr marL="857250" lvl="2" indent="0">
              <a:buNone/>
            </a:pPr>
            <a:r>
              <a:rPr lang="en-US" sz="2400" b="1" dirty="0">
                <a:solidFill>
                  <a:srgbClr val="FF0000"/>
                </a:solidFill>
              </a:rPr>
              <a:t>     </a:t>
            </a:r>
            <a:r>
              <a:rPr lang="en-US" sz="2400" b="1" dirty="0" err="1">
                <a:solidFill>
                  <a:srgbClr val="FF0000"/>
                </a:solidFill>
              </a:rPr>
              <a:t>fclose</a:t>
            </a:r>
            <a:r>
              <a:rPr lang="en-US" sz="2400" b="1" dirty="0">
                <a:solidFill>
                  <a:srgbClr val="FF0000"/>
                </a:solidFill>
              </a:rPr>
              <a:t>($</a:t>
            </a:r>
            <a:r>
              <a:rPr lang="en-US" sz="2400" b="1" dirty="0" err="1">
                <a:solidFill>
                  <a:srgbClr val="FF0000"/>
                </a:solidFill>
              </a:rPr>
              <a:t>myfile</a:t>
            </a:r>
            <a:r>
              <a:rPr lang="en-US" sz="2400" b="1" dirty="0">
                <a:solidFill>
                  <a:srgbClr val="FF0000"/>
                </a:solidFill>
              </a:rPr>
              <a:t>);</a:t>
            </a:r>
            <a:br>
              <a:rPr lang="en-US" sz="2400" b="1" dirty="0">
                <a:solidFill>
                  <a:srgbClr val="FF0000"/>
                </a:solidFill>
              </a:rPr>
            </a:br>
            <a:r>
              <a:rPr lang="en-US" sz="2400" b="1" dirty="0">
                <a:solidFill>
                  <a:srgbClr val="FF0000"/>
                </a:solidFill>
              </a:rPr>
              <a:t> ?&gt; </a:t>
            </a:r>
          </a:p>
          <a:p>
            <a:pPr eaLnBrk="1" hangingPunct="1">
              <a:buFont typeface="Wingdings" pitchFamily="2" charset="2"/>
              <a:buNone/>
            </a:pPr>
            <a:r>
              <a:rPr lang="en-US" dirty="0">
                <a:solidFill>
                  <a:srgbClr val="FF0000"/>
                </a:solidFill>
                <a:latin typeface="Consolas" pitchFamily="49" charset="0"/>
                <a:ea typeface="Consolas" pitchFamily="49" charset="0"/>
                <a:cs typeface="Consolas" pitchFamily="49" charset="0"/>
              </a:rPr>
              <a:t>   </a:t>
            </a:r>
          </a:p>
        </p:txBody>
      </p:sp>
      <p:sp>
        <p:nvSpPr>
          <p:cNvPr id="2" name="Slide Number Placeholder 1">
            <a:extLst>
              <a:ext uri="{FF2B5EF4-FFF2-40B4-BE49-F238E27FC236}">
                <a16:creationId xmlns:a16="http://schemas.microsoft.com/office/drawing/2014/main" id="{8D3A9530-7982-44FD-8853-B4FFF6A19773}"/>
              </a:ext>
            </a:extLst>
          </p:cNvPr>
          <p:cNvSpPr>
            <a:spLocks noGrp="1"/>
          </p:cNvSpPr>
          <p:nvPr>
            <p:ph type="sldNum" sz="quarter" idx="12"/>
          </p:nvPr>
        </p:nvSpPr>
        <p:spPr/>
        <p:txBody>
          <a:bodyPr/>
          <a:lstStyle/>
          <a:p>
            <a:pPr>
              <a:defRPr/>
            </a:pPr>
            <a:fld id="{2807F527-F93A-4DFB-A6A5-8EC3CE84B904}" type="slidenum">
              <a:rPr lang="en-US" altLang="en-US" smtClean="0"/>
              <a:pPr>
                <a:defRPr/>
              </a:pPr>
              <a:t>10</a:t>
            </a:fld>
            <a:endParaRPr lang="en-US" altLang="en-US"/>
          </a:p>
        </p:txBody>
      </p:sp>
    </p:spTree>
    <p:extLst>
      <p:ext uri="{BB962C8B-B14F-4D97-AF65-F5344CB8AC3E}">
        <p14:creationId xmlns:p14="http://schemas.microsoft.com/office/powerpoint/2010/main" val="375207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par>
                                <p:cTn id="17" presetID="29"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1" dur="1000"/>
                                        <p:tgtEl>
                                          <p:spTgt spid="3">
                                            <p:txEl>
                                              <p:pRg st="2" end="2"/>
                                            </p:txEl>
                                          </p:spTgt>
                                        </p:tgtEl>
                                      </p:cBhvr>
                                    </p:animEffect>
                                  </p:childTnLst>
                                </p:cTn>
                              </p:par>
                              <p:par>
                                <p:cTn id="22" presetID="29"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p:cTn id="24"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5"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6" dur="1000"/>
                                        <p:tgtEl>
                                          <p:spTgt spid="3">
                                            <p:txEl>
                                              <p:pRg st="3" end="3"/>
                                            </p:txEl>
                                          </p:spTgt>
                                        </p:tgtEl>
                                      </p:cBhvr>
                                    </p:animEffect>
                                  </p:childTnLst>
                                </p:cTn>
                              </p:par>
                              <p:par>
                                <p:cTn id="27" presetID="29"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p:cTn id="29"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1" dur="1000"/>
                                        <p:tgtEl>
                                          <p:spTgt spid="3">
                                            <p:txEl>
                                              <p:pRg st="4" end="4"/>
                                            </p:txEl>
                                          </p:spTgt>
                                        </p:tgtEl>
                                      </p:cBhvr>
                                    </p:animEffect>
                                  </p:childTnLst>
                                </p:cTn>
                              </p:par>
                              <p:par>
                                <p:cTn id="32" presetID="29"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 calcmode="lin" valueType="num">
                                      <p:cBhvr>
                                        <p:cTn id="34"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6" dur="1000"/>
                                        <p:tgtEl>
                                          <p:spTgt spid="3">
                                            <p:txEl>
                                              <p:pRg st="5" end="5"/>
                                            </p:txEl>
                                          </p:spTgt>
                                        </p:tgtEl>
                                      </p:cBhvr>
                                    </p:animEffect>
                                  </p:childTnLst>
                                </p:cTn>
                              </p:par>
                              <p:par>
                                <p:cTn id="37" presetID="29"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p:cTn id="39"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1" dur="10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9" presetClass="entr" presetSubtype="0" fill="hold" grpId="0"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 calcmode="lin" valueType="num">
                                      <p:cBhvr>
                                        <p:cTn id="46"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47"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8"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148213"/>
            <a:ext cx="8229600" cy="839787"/>
          </a:xfrm>
        </p:spPr>
        <p:txBody>
          <a:bodyPr>
            <a:normAutofit/>
          </a:bodyPr>
          <a:lstStyle/>
          <a:p>
            <a:r>
              <a:rPr lang="en-US" dirty="0"/>
              <a:t>Writing to a file</a:t>
            </a:r>
          </a:p>
        </p:txBody>
      </p:sp>
      <p:sp>
        <p:nvSpPr>
          <p:cNvPr id="3" name="Content Placeholder 2"/>
          <p:cNvSpPr>
            <a:spLocks noGrp="1"/>
          </p:cNvSpPr>
          <p:nvPr>
            <p:ph idx="1"/>
          </p:nvPr>
        </p:nvSpPr>
        <p:spPr>
          <a:xfrm>
            <a:off x="592985" y="944722"/>
            <a:ext cx="7958030" cy="5522806"/>
          </a:xfrm>
        </p:spPr>
        <p:txBody>
          <a:bodyPr>
            <a:normAutofit fontScale="92500" lnSpcReduction="10000"/>
          </a:bodyPr>
          <a:lstStyle/>
          <a:p>
            <a:r>
              <a:rPr lang="en-US" b="1" dirty="0"/>
              <a:t>Example2: </a:t>
            </a:r>
          </a:p>
          <a:p>
            <a:pPr marL="400050" lvl="1" indent="0">
              <a:buNone/>
            </a:pPr>
            <a:r>
              <a:rPr lang="en-US" b="1" dirty="0">
                <a:solidFill>
                  <a:srgbClr val="C00000"/>
                </a:solidFill>
              </a:rPr>
              <a:t>&lt;?php</a:t>
            </a:r>
            <a:br>
              <a:rPr lang="en-US" b="1" dirty="0">
                <a:solidFill>
                  <a:srgbClr val="C00000"/>
                </a:solidFill>
              </a:rPr>
            </a:br>
            <a:r>
              <a:rPr lang="en-US" b="1" dirty="0">
                <a:solidFill>
                  <a:srgbClr val="C00000"/>
                </a:solidFill>
              </a:rPr>
              <a:t>$</a:t>
            </a:r>
            <a:r>
              <a:rPr lang="en-US" b="1" dirty="0" err="1">
                <a:solidFill>
                  <a:srgbClr val="C00000"/>
                </a:solidFill>
              </a:rPr>
              <a:t>myfile</a:t>
            </a:r>
            <a:r>
              <a:rPr lang="en-US" b="1" dirty="0">
                <a:solidFill>
                  <a:srgbClr val="C00000"/>
                </a:solidFill>
              </a:rPr>
              <a:t> = </a:t>
            </a:r>
            <a:r>
              <a:rPr lang="en-US" b="1" dirty="0" err="1">
                <a:solidFill>
                  <a:srgbClr val="C00000"/>
                </a:solidFill>
              </a:rPr>
              <a:t>fopen</a:t>
            </a:r>
            <a:r>
              <a:rPr lang="en-US" b="1" dirty="0">
                <a:solidFill>
                  <a:srgbClr val="C00000"/>
                </a:solidFill>
              </a:rPr>
              <a:t>("newfile.txt", "w") or die("Unable to open file!");</a:t>
            </a:r>
            <a:br>
              <a:rPr lang="en-US" b="1" dirty="0">
                <a:solidFill>
                  <a:srgbClr val="C00000"/>
                </a:solidFill>
              </a:rPr>
            </a:br>
            <a:r>
              <a:rPr lang="en-US" b="1" dirty="0" err="1">
                <a:solidFill>
                  <a:srgbClr val="C00000"/>
                </a:solidFill>
              </a:rPr>
              <a:t>fwrite</a:t>
            </a:r>
            <a:r>
              <a:rPr lang="en-US" b="1" dirty="0">
                <a:solidFill>
                  <a:srgbClr val="C00000"/>
                </a:solidFill>
              </a:rPr>
              <a:t>($</a:t>
            </a:r>
            <a:r>
              <a:rPr lang="en-US" b="1" dirty="0" err="1">
                <a:solidFill>
                  <a:srgbClr val="C00000"/>
                </a:solidFill>
              </a:rPr>
              <a:t>myfile</a:t>
            </a:r>
            <a:r>
              <a:rPr lang="en-US" b="1" dirty="0">
                <a:solidFill>
                  <a:srgbClr val="C00000"/>
                </a:solidFill>
              </a:rPr>
              <a:t>, “Hello from PHP!”);</a:t>
            </a:r>
          </a:p>
          <a:p>
            <a:pPr marL="400050" lvl="1" indent="0">
              <a:buNone/>
            </a:pPr>
            <a:r>
              <a:rPr lang="en-US" b="1" dirty="0" err="1">
                <a:solidFill>
                  <a:srgbClr val="C00000"/>
                </a:solidFill>
              </a:rPr>
              <a:t>fclose</a:t>
            </a:r>
            <a:r>
              <a:rPr lang="en-US" b="1" dirty="0">
                <a:solidFill>
                  <a:srgbClr val="C00000"/>
                </a:solidFill>
              </a:rPr>
              <a:t>($</a:t>
            </a:r>
            <a:r>
              <a:rPr lang="en-US" b="1" dirty="0" err="1">
                <a:solidFill>
                  <a:srgbClr val="C00000"/>
                </a:solidFill>
              </a:rPr>
              <a:t>myfile</a:t>
            </a:r>
            <a:r>
              <a:rPr lang="en-US" b="1" dirty="0">
                <a:solidFill>
                  <a:srgbClr val="C00000"/>
                </a:solidFill>
              </a:rPr>
              <a:t>);   </a:t>
            </a:r>
          </a:p>
          <a:p>
            <a:pPr marL="400050" lvl="1" indent="0">
              <a:buNone/>
            </a:pPr>
            <a:r>
              <a:rPr lang="en-US" b="1" dirty="0">
                <a:solidFill>
                  <a:srgbClr val="C00000"/>
                </a:solidFill>
              </a:rPr>
              <a:t>?&gt;</a:t>
            </a:r>
          </a:p>
          <a:p>
            <a:r>
              <a:rPr lang="en-US" dirty="0"/>
              <a:t>Example: lets have a form to accept user input to a file</a:t>
            </a:r>
          </a:p>
          <a:p>
            <a:pPr marL="457200" lvl="1" indent="0">
              <a:buNone/>
            </a:pPr>
            <a:r>
              <a:rPr lang="en-US" b="1" dirty="0">
                <a:solidFill>
                  <a:srgbClr val="C00000"/>
                </a:solidFill>
              </a:rPr>
              <a:t>&lt;form action="</a:t>
            </a:r>
            <a:r>
              <a:rPr lang="en-US" b="1" dirty="0" err="1">
                <a:solidFill>
                  <a:srgbClr val="C00000"/>
                </a:solidFill>
              </a:rPr>
              <a:t>file.php</a:t>
            </a:r>
            <a:r>
              <a:rPr lang="en-US" b="1" dirty="0">
                <a:solidFill>
                  <a:srgbClr val="C00000"/>
                </a:solidFill>
              </a:rPr>
              <a:t>" method="post"&gt;</a:t>
            </a:r>
          </a:p>
          <a:p>
            <a:pPr marL="457200" lvl="1" indent="0">
              <a:buNone/>
            </a:pPr>
            <a:r>
              <a:rPr lang="en-US" b="1" dirty="0">
                <a:solidFill>
                  <a:srgbClr val="C00000"/>
                </a:solidFill>
              </a:rPr>
              <a:t>	First Name:&lt;input type="text" name="</a:t>
            </a:r>
            <a:r>
              <a:rPr lang="en-US" b="1" dirty="0" err="1">
                <a:solidFill>
                  <a:srgbClr val="C00000"/>
                </a:solidFill>
              </a:rPr>
              <a:t>fname</a:t>
            </a:r>
            <a:r>
              <a:rPr lang="en-US" b="1" dirty="0">
                <a:solidFill>
                  <a:srgbClr val="C00000"/>
                </a:solidFill>
              </a:rPr>
              <a:t>"&gt;&lt;</a:t>
            </a:r>
            <a:r>
              <a:rPr lang="en-US" b="1" dirty="0" err="1">
                <a:solidFill>
                  <a:srgbClr val="C00000"/>
                </a:solidFill>
              </a:rPr>
              <a:t>br</a:t>
            </a:r>
            <a:r>
              <a:rPr lang="en-US" b="1" dirty="0">
                <a:solidFill>
                  <a:srgbClr val="C00000"/>
                </a:solidFill>
              </a:rPr>
              <a:t>&gt;</a:t>
            </a:r>
          </a:p>
          <a:p>
            <a:pPr marL="457200" lvl="1" indent="0">
              <a:buNone/>
            </a:pPr>
            <a:r>
              <a:rPr lang="en-US" b="1" dirty="0">
                <a:solidFill>
                  <a:srgbClr val="C00000"/>
                </a:solidFill>
              </a:rPr>
              <a:t>	Second Name:&lt;input type="text" name="</a:t>
            </a:r>
            <a:r>
              <a:rPr lang="en-US" b="1" dirty="0" err="1">
                <a:solidFill>
                  <a:srgbClr val="C00000"/>
                </a:solidFill>
              </a:rPr>
              <a:t>lname</a:t>
            </a:r>
            <a:r>
              <a:rPr lang="en-US" b="1" dirty="0">
                <a:solidFill>
                  <a:srgbClr val="C00000"/>
                </a:solidFill>
              </a:rPr>
              <a:t>"&gt;&lt;</a:t>
            </a:r>
            <a:r>
              <a:rPr lang="en-US" b="1" dirty="0" err="1">
                <a:solidFill>
                  <a:srgbClr val="C00000"/>
                </a:solidFill>
              </a:rPr>
              <a:t>br</a:t>
            </a:r>
            <a:r>
              <a:rPr lang="en-US" b="1" dirty="0">
                <a:solidFill>
                  <a:srgbClr val="C00000"/>
                </a:solidFill>
              </a:rPr>
              <a:t>&gt;</a:t>
            </a:r>
          </a:p>
          <a:p>
            <a:pPr marL="457200" lvl="1" indent="0">
              <a:buNone/>
            </a:pPr>
            <a:r>
              <a:rPr lang="en-US" b="1" dirty="0">
                <a:solidFill>
                  <a:srgbClr val="C00000"/>
                </a:solidFill>
              </a:rPr>
              <a:t>	Email:&lt;input type="text" name="email"&gt;&lt;</a:t>
            </a:r>
            <a:r>
              <a:rPr lang="en-US" b="1" dirty="0" err="1">
                <a:solidFill>
                  <a:srgbClr val="C00000"/>
                </a:solidFill>
              </a:rPr>
              <a:t>br</a:t>
            </a:r>
            <a:r>
              <a:rPr lang="en-US" b="1" dirty="0">
                <a:solidFill>
                  <a:srgbClr val="C00000"/>
                </a:solidFill>
              </a:rPr>
              <a:t>&gt;</a:t>
            </a:r>
          </a:p>
          <a:p>
            <a:pPr marL="457200" lvl="1" indent="0">
              <a:buNone/>
            </a:pPr>
            <a:r>
              <a:rPr lang="en-US" b="1" dirty="0">
                <a:solidFill>
                  <a:srgbClr val="C00000"/>
                </a:solidFill>
              </a:rPr>
              <a:t>    &lt;input type="submit" name="submit" value="Submit"&gt;</a:t>
            </a:r>
          </a:p>
          <a:p>
            <a:pPr marL="457200" lvl="1" indent="0">
              <a:buNone/>
            </a:pPr>
            <a:r>
              <a:rPr lang="en-US" b="1" dirty="0">
                <a:solidFill>
                  <a:srgbClr val="C00000"/>
                </a:solidFill>
              </a:rPr>
              <a:t>&lt;/form&gt;</a:t>
            </a:r>
          </a:p>
        </p:txBody>
      </p:sp>
      <p:sp>
        <p:nvSpPr>
          <p:cNvPr id="7" name="Slide Number Placeholder 6">
            <a:extLst>
              <a:ext uri="{FF2B5EF4-FFF2-40B4-BE49-F238E27FC236}">
                <a16:creationId xmlns:a16="http://schemas.microsoft.com/office/drawing/2014/main" id="{D78BE03C-1CCB-4049-86BA-AEEA62AC58D7}"/>
              </a:ext>
            </a:extLst>
          </p:cNvPr>
          <p:cNvSpPr>
            <a:spLocks noGrp="1"/>
          </p:cNvSpPr>
          <p:nvPr>
            <p:ph type="sldNum" sz="quarter" idx="12"/>
          </p:nvPr>
        </p:nvSpPr>
        <p:spPr/>
        <p:txBody>
          <a:bodyPr/>
          <a:lstStyle/>
          <a:p>
            <a:pPr>
              <a:defRPr/>
            </a:pPr>
            <a:fld id="{2807F527-F93A-4DFB-A6A5-8EC3CE84B904}" type="slidenum">
              <a:rPr lang="en-US" altLang="en-US" smtClean="0"/>
              <a:pPr>
                <a:defRPr/>
              </a:pPr>
              <a:t>11</a:t>
            </a:fld>
            <a:endParaRPr lang="en-US" altLang="en-US"/>
          </a:p>
        </p:txBody>
      </p:sp>
    </p:spTree>
    <p:extLst>
      <p:ext uri="{BB962C8B-B14F-4D97-AF65-F5344CB8AC3E}">
        <p14:creationId xmlns:p14="http://schemas.microsoft.com/office/powerpoint/2010/main" val="231216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3">
                                            <p:txEl>
                                              <p:pRg st="1" end="1"/>
                                            </p:txEl>
                                          </p:spTgt>
                                        </p:tgtEl>
                                      </p:cBhvr>
                                    </p:animEffect>
                                  </p:childTnLst>
                                </p:cTn>
                              </p:par>
                              <p:par>
                                <p:cTn id="15" presetID="29"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18"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9" dur="1000"/>
                                        <p:tgtEl>
                                          <p:spTgt spid="3">
                                            <p:txEl>
                                              <p:pRg st="2" end="2"/>
                                            </p:txEl>
                                          </p:spTgt>
                                        </p:tgtEl>
                                      </p:cBhvr>
                                    </p:animEffect>
                                  </p:childTnLst>
                                </p:cTn>
                              </p:par>
                              <p:par>
                                <p:cTn id="20" presetID="29"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4" dur="10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p:cTn id="29"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1" dur="1000"/>
                                        <p:tgtEl>
                                          <p:spTgt spid="3">
                                            <p:txEl>
                                              <p:pRg st="4" end="4"/>
                                            </p:txEl>
                                          </p:spTgt>
                                        </p:tgtEl>
                                      </p:cBhvr>
                                    </p:animEffect>
                                  </p:childTnLst>
                                </p:cTn>
                              </p:par>
                              <p:par>
                                <p:cTn id="32" presetID="29"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 calcmode="lin" valueType="num">
                                      <p:cBhvr>
                                        <p:cTn id="34"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35"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6" dur="1000"/>
                                        <p:tgtEl>
                                          <p:spTgt spid="3">
                                            <p:txEl>
                                              <p:pRg st="5" end="5"/>
                                            </p:txEl>
                                          </p:spTgt>
                                        </p:tgtEl>
                                      </p:cBhvr>
                                    </p:animEffect>
                                  </p:childTnLst>
                                </p:cTn>
                              </p:par>
                              <p:par>
                                <p:cTn id="37" presetID="29"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p:cTn id="39"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1" dur="1000"/>
                                        <p:tgtEl>
                                          <p:spTgt spid="3">
                                            <p:txEl>
                                              <p:pRg st="6" end="6"/>
                                            </p:txEl>
                                          </p:spTgt>
                                        </p:tgtEl>
                                      </p:cBhvr>
                                    </p:animEffect>
                                  </p:childTnLst>
                                </p:cTn>
                              </p:par>
                              <p:par>
                                <p:cTn id="42" presetID="29" presetClass="entr" presetSubtype="0" fill="hold" grpId="0" nodeType="with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 calcmode="lin" valueType="num">
                                      <p:cBhvr>
                                        <p:cTn id="44"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45"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6" dur="1000"/>
                                        <p:tgtEl>
                                          <p:spTgt spid="3">
                                            <p:txEl>
                                              <p:pRg st="7" end="7"/>
                                            </p:txEl>
                                          </p:spTgt>
                                        </p:tgtEl>
                                      </p:cBhvr>
                                    </p:animEffect>
                                  </p:childTnLst>
                                </p:cTn>
                              </p:par>
                              <p:par>
                                <p:cTn id="47" presetID="29" presetClass="entr" presetSubtype="0" fill="hold" grpId="0"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p:cTn id="49" dur="1000" fill="hold"/>
                                        <p:tgtEl>
                                          <p:spTgt spid="3">
                                            <p:txEl>
                                              <p:pRg st="8" end="8"/>
                                            </p:txEl>
                                          </p:spTgt>
                                        </p:tgtEl>
                                        <p:attrNameLst>
                                          <p:attrName>ppt_x</p:attrName>
                                        </p:attrNameLst>
                                      </p:cBhvr>
                                      <p:tavLst>
                                        <p:tav tm="0">
                                          <p:val>
                                            <p:strVal val="#ppt_x-.2"/>
                                          </p:val>
                                        </p:tav>
                                        <p:tav tm="100000">
                                          <p:val>
                                            <p:strVal val="#ppt_x"/>
                                          </p:val>
                                        </p:tav>
                                      </p:tavLst>
                                    </p:anim>
                                    <p:anim calcmode="lin" valueType="num">
                                      <p:cBhvr>
                                        <p:cTn id="50" dur="1000" fill="hold"/>
                                        <p:tgtEl>
                                          <p:spTgt spid="3">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3">
                                            <p:txEl>
                                              <p:pRg st="8" end="8"/>
                                            </p:txEl>
                                          </p:spTgt>
                                        </p:tgtEl>
                                      </p:cBhvr>
                                    </p:animEffect>
                                  </p:childTnLst>
                                </p:cTn>
                              </p:par>
                              <p:par>
                                <p:cTn id="52" presetID="29" presetClass="entr" presetSubtype="0" fill="hold" grpId="0" nodeType="with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 calcmode="lin" valueType="num">
                                      <p:cBhvr>
                                        <p:cTn id="54" dur="1000" fill="hold"/>
                                        <p:tgtEl>
                                          <p:spTgt spid="3">
                                            <p:txEl>
                                              <p:pRg st="9" end="9"/>
                                            </p:txEl>
                                          </p:spTgt>
                                        </p:tgtEl>
                                        <p:attrNameLst>
                                          <p:attrName>ppt_x</p:attrName>
                                        </p:attrNameLst>
                                      </p:cBhvr>
                                      <p:tavLst>
                                        <p:tav tm="0">
                                          <p:val>
                                            <p:strVal val="#ppt_x-.2"/>
                                          </p:val>
                                        </p:tav>
                                        <p:tav tm="100000">
                                          <p:val>
                                            <p:strVal val="#ppt_x"/>
                                          </p:val>
                                        </p:tav>
                                      </p:tavLst>
                                    </p:anim>
                                    <p:anim calcmode="lin" valueType="num">
                                      <p:cBhvr>
                                        <p:cTn id="55" dur="1000" fill="hold"/>
                                        <p:tgtEl>
                                          <p:spTgt spid="3">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56" dur="1000"/>
                                        <p:tgtEl>
                                          <p:spTgt spid="3">
                                            <p:txEl>
                                              <p:pRg st="9" end="9"/>
                                            </p:txEl>
                                          </p:spTgt>
                                        </p:tgtEl>
                                      </p:cBhvr>
                                    </p:animEffect>
                                  </p:childTnLst>
                                </p:cTn>
                              </p:par>
                              <p:par>
                                <p:cTn id="57" presetID="29" presetClass="entr" presetSubtype="0" fill="hold" grpId="0" nodeType="with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 calcmode="lin" valueType="num">
                                      <p:cBhvr>
                                        <p:cTn id="59" dur="1000" fill="hold"/>
                                        <p:tgtEl>
                                          <p:spTgt spid="3">
                                            <p:txEl>
                                              <p:pRg st="10" end="10"/>
                                            </p:txEl>
                                          </p:spTgt>
                                        </p:tgtEl>
                                        <p:attrNameLst>
                                          <p:attrName>ppt_x</p:attrName>
                                        </p:attrNameLst>
                                      </p:cBhvr>
                                      <p:tavLst>
                                        <p:tav tm="0">
                                          <p:val>
                                            <p:strVal val="#ppt_x-.2"/>
                                          </p:val>
                                        </p:tav>
                                        <p:tav tm="100000">
                                          <p:val>
                                            <p:strVal val="#ppt_x"/>
                                          </p:val>
                                        </p:tav>
                                      </p:tavLst>
                                    </p:anim>
                                    <p:anim calcmode="lin" valueType="num">
                                      <p:cBhvr>
                                        <p:cTn id="60" dur="1000" fill="hold"/>
                                        <p:tgtEl>
                                          <p:spTgt spid="3">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61" dur="1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223520"/>
            <a:ext cx="8229600" cy="839893"/>
          </a:xfrm>
        </p:spPr>
        <p:txBody>
          <a:bodyPr/>
          <a:lstStyle/>
          <a:p>
            <a:r>
              <a:rPr lang="en-US"/>
              <a:t>Cont’d</a:t>
            </a:r>
          </a:p>
        </p:txBody>
      </p:sp>
      <p:sp>
        <p:nvSpPr>
          <p:cNvPr id="3" name="Content Placeholder 2"/>
          <p:cNvSpPr>
            <a:spLocks noGrp="1"/>
          </p:cNvSpPr>
          <p:nvPr>
            <p:ph idx="1"/>
          </p:nvPr>
        </p:nvSpPr>
        <p:spPr>
          <a:xfrm>
            <a:off x="457200" y="983152"/>
            <a:ext cx="8229600" cy="5362646"/>
          </a:xfrm>
        </p:spPr>
        <p:txBody>
          <a:bodyPr>
            <a:normAutofit fontScale="92500" lnSpcReduction="20000"/>
          </a:bodyPr>
          <a:lstStyle/>
          <a:p>
            <a:r>
              <a:rPr lang="en-US" dirty="0"/>
              <a:t>lets have again a PHP script to write the user inputs to a file</a:t>
            </a:r>
          </a:p>
          <a:p>
            <a:pPr marL="457200" lvl="1" indent="0">
              <a:buNone/>
            </a:pPr>
            <a:r>
              <a:rPr lang="en-US" b="1" dirty="0">
                <a:solidFill>
                  <a:srgbClr val="C00000"/>
                </a:solidFill>
              </a:rPr>
              <a:t>&lt;?</a:t>
            </a:r>
            <a:r>
              <a:rPr lang="en-US" b="1" dirty="0" err="1">
                <a:solidFill>
                  <a:srgbClr val="C00000"/>
                </a:solidFill>
              </a:rPr>
              <a:t>php</a:t>
            </a:r>
            <a:endParaRPr lang="en-US" b="1" dirty="0">
              <a:solidFill>
                <a:srgbClr val="C00000"/>
              </a:solidFill>
            </a:endParaRPr>
          </a:p>
          <a:p>
            <a:pPr marL="457200" lvl="1" indent="0">
              <a:buNone/>
            </a:pPr>
            <a:r>
              <a:rPr lang="en-US" b="1" dirty="0">
                <a:solidFill>
                  <a:srgbClr val="C00000"/>
                </a:solidFill>
              </a:rPr>
              <a:t>  $</a:t>
            </a:r>
            <a:r>
              <a:rPr lang="en-US" b="1" dirty="0" err="1">
                <a:solidFill>
                  <a:srgbClr val="C00000"/>
                </a:solidFill>
              </a:rPr>
              <a:t>fname</a:t>
            </a:r>
            <a:r>
              <a:rPr lang="en-US" b="1" dirty="0">
                <a:solidFill>
                  <a:srgbClr val="C00000"/>
                </a:solidFill>
              </a:rPr>
              <a:t>=$_POST["</a:t>
            </a:r>
            <a:r>
              <a:rPr lang="en-US" b="1" dirty="0" err="1">
                <a:solidFill>
                  <a:srgbClr val="C00000"/>
                </a:solidFill>
              </a:rPr>
              <a:t>fname</a:t>
            </a:r>
            <a:r>
              <a:rPr lang="en-US" b="1" dirty="0">
                <a:solidFill>
                  <a:srgbClr val="C00000"/>
                </a:solidFill>
              </a:rPr>
              <a:t>"];</a:t>
            </a:r>
          </a:p>
          <a:p>
            <a:pPr marL="457200" lvl="1" indent="0">
              <a:buNone/>
            </a:pPr>
            <a:r>
              <a:rPr lang="en-US" b="1" dirty="0">
                <a:solidFill>
                  <a:srgbClr val="C00000"/>
                </a:solidFill>
              </a:rPr>
              <a:t>  $</a:t>
            </a:r>
            <a:r>
              <a:rPr lang="en-US" b="1" dirty="0" err="1">
                <a:solidFill>
                  <a:srgbClr val="C00000"/>
                </a:solidFill>
              </a:rPr>
              <a:t>lname</a:t>
            </a:r>
            <a:r>
              <a:rPr lang="en-US" b="1" dirty="0">
                <a:solidFill>
                  <a:srgbClr val="C00000"/>
                </a:solidFill>
              </a:rPr>
              <a:t>=$_POST["</a:t>
            </a:r>
            <a:r>
              <a:rPr lang="en-US" b="1" dirty="0" err="1">
                <a:solidFill>
                  <a:srgbClr val="C00000"/>
                </a:solidFill>
              </a:rPr>
              <a:t>lname</a:t>
            </a:r>
            <a:r>
              <a:rPr lang="en-US" b="1" dirty="0">
                <a:solidFill>
                  <a:srgbClr val="C00000"/>
                </a:solidFill>
              </a:rPr>
              <a:t>"];</a:t>
            </a:r>
          </a:p>
          <a:p>
            <a:pPr marL="457200" lvl="1" indent="0">
              <a:buNone/>
            </a:pPr>
            <a:r>
              <a:rPr lang="en-US" b="1" dirty="0">
                <a:solidFill>
                  <a:srgbClr val="C00000"/>
                </a:solidFill>
              </a:rPr>
              <a:t>  $mail=$_POST["email"];</a:t>
            </a:r>
          </a:p>
          <a:p>
            <a:pPr marL="457200" lvl="1" indent="0">
              <a:buNone/>
            </a:pPr>
            <a:r>
              <a:rPr lang="en-US" b="1" dirty="0">
                <a:solidFill>
                  <a:srgbClr val="C00000"/>
                </a:solidFill>
              </a:rPr>
              <a:t>  $</a:t>
            </a:r>
            <a:r>
              <a:rPr lang="en-US" b="1" dirty="0" err="1">
                <a:solidFill>
                  <a:srgbClr val="C00000"/>
                </a:solidFill>
              </a:rPr>
              <a:t>fh</a:t>
            </a:r>
            <a:r>
              <a:rPr lang="en-US" b="1" dirty="0">
                <a:solidFill>
                  <a:srgbClr val="C00000"/>
                </a:solidFill>
              </a:rPr>
              <a:t>= </a:t>
            </a:r>
            <a:r>
              <a:rPr lang="en-US" b="1" dirty="0" err="1">
                <a:solidFill>
                  <a:srgbClr val="C00000"/>
                </a:solidFill>
              </a:rPr>
              <a:t>fopen</a:t>
            </a:r>
            <a:r>
              <a:rPr lang="en-US" b="1" dirty="0">
                <a:solidFill>
                  <a:srgbClr val="C00000"/>
                </a:solidFill>
              </a:rPr>
              <a:t>("guest.txt", “w+");</a:t>
            </a:r>
          </a:p>
          <a:p>
            <a:pPr marL="457200" lvl="1" indent="0">
              <a:buNone/>
            </a:pPr>
            <a:r>
              <a:rPr lang="en-US" b="1" dirty="0">
                <a:solidFill>
                  <a:srgbClr val="C00000"/>
                </a:solidFill>
              </a:rPr>
              <a:t>  if(!$</a:t>
            </a:r>
            <a:r>
              <a:rPr lang="en-US" b="1" dirty="0" err="1">
                <a:solidFill>
                  <a:srgbClr val="C00000"/>
                </a:solidFill>
              </a:rPr>
              <a:t>fh</a:t>
            </a:r>
            <a:r>
              <a:rPr lang="en-US" b="1" dirty="0">
                <a:solidFill>
                  <a:srgbClr val="C00000"/>
                </a:solidFill>
              </a:rPr>
              <a:t>)</a:t>
            </a:r>
          </a:p>
          <a:p>
            <a:pPr marL="457200" lvl="1" indent="0">
              <a:buNone/>
            </a:pPr>
            <a:r>
              <a:rPr lang="en-US" b="1" dirty="0">
                <a:solidFill>
                  <a:srgbClr val="C00000"/>
                </a:solidFill>
              </a:rPr>
              <a:t>    echo "the info is not saved, the file doesn't exists";</a:t>
            </a:r>
          </a:p>
          <a:p>
            <a:pPr marL="457200" lvl="1" indent="0">
              <a:buNone/>
            </a:pPr>
            <a:r>
              <a:rPr lang="en-US" b="1" dirty="0">
                <a:solidFill>
                  <a:srgbClr val="C00000"/>
                </a:solidFill>
              </a:rPr>
              <a:t>  else {</a:t>
            </a:r>
          </a:p>
          <a:p>
            <a:pPr marL="457200" lvl="1" indent="0">
              <a:buNone/>
            </a:pPr>
            <a:r>
              <a:rPr lang="en-US" b="1" dirty="0">
                <a:solidFill>
                  <a:srgbClr val="C00000"/>
                </a:solidFill>
              </a:rPr>
              <a:t>    </a:t>
            </a:r>
            <a:r>
              <a:rPr lang="en-US" b="1" dirty="0" err="1">
                <a:solidFill>
                  <a:srgbClr val="C00000"/>
                </a:solidFill>
              </a:rPr>
              <a:t>fwrite</a:t>
            </a:r>
            <a:r>
              <a:rPr lang="en-US" b="1" dirty="0">
                <a:solidFill>
                  <a:srgbClr val="C00000"/>
                </a:solidFill>
              </a:rPr>
              <a:t>($</a:t>
            </a:r>
            <a:r>
              <a:rPr lang="en-US" b="1" dirty="0" err="1">
                <a:solidFill>
                  <a:srgbClr val="C00000"/>
                </a:solidFill>
              </a:rPr>
              <a:t>fh</a:t>
            </a:r>
            <a:r>
              <a:rPr lang="en-US" b="1" dirty="0">
                <a:solidFill>
                  <a:srgbClr val="C00000"/>
                </a:solidFill>
              </a:rPr>
              <a:t>, $</a:t>
            </a:r>
            <a:r>
              <a:rPr lang="en-US" b="1" dirty="0" err="1">
                <a:solidFill>
                  <a:srgbClr val="C00000"/>
                </a:solidFill>
              </a:rPr>
              <a:t>fname</a:t>
            </a:r>
            <a:r>
              <a:rPr lang="en-US" b="1" dirty="0">
                <a:solidFill>
                  <a:srgbClr val="C00000"/>
                </a:solidFill>
              </a:rPr>
              <a:t>."\t".$</a:t>
            </a:r>
            <a:r>
              <a:rPr lang="en-US" b="1" dirty="0" err="1">
                <a:solidFill>
                  <a:srgbClr val="C00000"/>
                </a:solidFill>
              </a:rPr>
              <a:t>lname</a:t>
            </a:r>
            <a:r>
              <a:rPr lang="en-US" b="1" dirty="0">
                <a:solidFill>
                  <a:srgbClr val="C00000"/>
                </a:solidFill>
              </a:rPr>
              <a:t>."\</a:t>
            </a:r>
            <a:r>
              <a:rPr lang="en-US" b="1" dirty="0" err="1">
                <a:solidFill>
                  <a:srgbClr val="C00000"/>
                </a:solidFill>
              </a:rPr>
              <a:t>t".$mail</a:t>
            </a:r>
            <a:r>
              <a:rPr lang="en-US" b="1" dirty="0">
                <a:solidFill>
                  <a:srgbClr val="C00000"/>
                </a:solidFill>
              </a:rPr>
              <a:t>."\t"); </a:t>
            </a:r>
          </a:p>
          <a:p>
            <a:pPr marL="457200" lvl="1" indent="0">
              <a:buNone/>
            </a:pPr>
            <a:r>
              <a:rPr lang="en-US" b="1" dirty="0">
                <a:solidFill>
                  <a:srgbClr val="C00000"/>
                </a:solidFill>
              </a:rPr>
              <a:t>	echo "&lt;</a:t>
            </a:r>
            <a:r>
              <a:rPr lang="en-US" b="1" dirty="0" err="1">
                <a:solidFill>
                  <a:srgbClr val="C00000"/>
                </a:solidFill>
              </a:rPr>
              <a:t>br</a:t>
            </a:r>
            <a:r>
              <a:rPr lang="en-US" b="1" dirty="0">
                <a:solidFill>
                  <a:srgbClr val="C00000"/>
                </a:solidFill>
              </a:rPr>
              <a:t> /&gt;";</a:t>
            </a:r>
          </a:p>
          <a:p>
            <a:pPr marL="457200" lvl="1" indent="0">
              <a:buNone/>
            </a:pPr>
            <a:r>
              <a:rPr lang="en-US" b="1" dirty="0">
                <a:solidFill>
                  <a:srgbClr val="C00000"/>
                </a:solidFill>
              </a:rPr>
              <a:t>echo "Ur data is Saved!!"."&lt;</a:t>
            </a:r>
            <a:r>
              <a:rPr lang="en-US" b="1" dirty="0" err="1">
                <a:solidFill>
                  <a:srgbClr val="C00000"/>
                </a:solidFill>
              </a:rPr>
              <a:t>br</a:t>
            </a:r>
            <a:r>
              <a:rPr lang="en-US" b="1" dirty="0">
                <a:solidFill>
                  <a:srgbClr val="C00000"/>
                </a:solidFill>
              </a:rPr>
              <a:t>/&gt;";</a:t>
            </a:r>
          </a:p>
          <a:p>
            <a:pPr marL="457200" lvl="1" indent="0">
              <a:buNone/>
            </a:pPr>
            <a:r>
              <a:rPr lang="en-US" b="1" dirty="0">
                <a:solidFill>
                  <a:srgbClr val="C00000"/>
                </a:solidFill>
              </a:rPr>
              <a:t>    </a:t>
            </a:r>
            <a:r>
              <a:rPr lang="en-US" b="1" dirty="0" err="1">
                <a:solidFill>
                  <a:srgbClr val="C00000"/>
                </a:solidFill>
              </a:rPr>
              <a:t>fclose</a:t>
            </a:r>
            <a:r>
              <a:rPr lang="en-US" b="1" dirty="0">
                <a:solidFill>
                  <a:srgbClr val="C00000"/>
                </a:solidFill>
              </a:rPr>
              <a:t>($</a:t>
            </a:r>
            <a:r>
              <a:rPr lang="en-US" b="1" dirty="0" err="1">
                <a:solidFill>
                  <a:srgbClr val="C00000"/>
                </a:solidFill>
              </a:rPr>
              <a:t>fh</a:t>
            </a:r>
            <a:r>
              <a:rPr lang="en-US" b="1" dirty="0">
                <a:solidFill>
                  <a:srgbClr val="C00000"/>
                </a:solidFill>
              </a:rPr>
              <a:t>);</a:t>
            </a:r>
          </a:p>
          <a:p>
            <a:pPr marL="457200" lvl="1" indent="0">
              <a:buNone/>
            </a:pPr>
            <a:r>
              <a:rPr lang="en-US" b="1" dirty="0">
                <a:solidFill>
                  <a:srgbClr val="C00000"/>
                </a:solidFill>
              </a:rPr>
              <a:t>  }</a:t>
            </a:r>
          </a:p>
          <a:p>
            <a:pPr marL="457200" lvl="1" indent="0">
              <a:buNone/>
            </a:pPr>
            <a:r>
              <a:rPr lang="en-US" b="1" dirty="0">
                <a:solidFill>
                  <a:srgbClr val="C00000"/>
                </a:solidFill>
              </a:rPr>
              <a:t>?&gt;</a:t>
            </a:r>
          </a:p>
        </p:txBody>
      </p:sp>
      <p:sp>
        <p:nvSpPr>
          <p:cNvPr id="5" name="Slide Number Placeholder 4">
            <a:extLst>
              <a:ext uri="{FF2B5EF4-FFF2-40B4-BE49-F238E27FC236}">
                <a16:creationId xmlns:a16="http://schemas.microsoft.com/office/drawing/2014/main" id="{A84B5D6C-BA36-4D77-9C8F-604094720D42}"/>
              </a:ext>
            </a:extLst>
          </p:cNvPr>
          <p:cNvSpPr>
            <a:spLocks noGrp="1"/>
          </p:cNvSpPr>
          <p:nvPr>
            <p:ph type="sldNum" sz="quarter" idx="12"/>
          </p:nvPr>
        </p:nvSpPr>
        <p:spPr/>
        <p:txBody>
          <a:bodyPr/>
          <a:lstStyle/>
          <a:p>
            <a:pPr>
              <a:defRPr/>
            </a:pPr>
            <a:fld id="{2807F527-F93A-4DFB-A6A5-8EC3CE84B904}" type="slidenum">
              <a:rPr lang="en-US" altLang="en-US" smtClean="0"/>
              <a:pPr>
                <a:defRPr/>
              </a:pPr>
              <a:t>12</a:t>
            </a:fld>
            <a:endParaRPr lang="en-US" altLang="en-US"/>
          </a:p>
        </p:txBody>
      </p:sp>
    </p:spTree>
    <p:extLst>
      <p:ext uri="{BB962C8B-B14F-4D97-AF65-F5344CB8AC3E}">
        <p14:creationId xmlns:p14="http://schemas.microsoft.com/office/powerpoint/2010/main" val="236683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3"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3">
                                            <p:txEl>
                                              <p:pRg st="1" end="1"/>
                                            </p:txEl>
                                          </p:spTgt>
                                        </p:tgtEl>
                                      </p:cBhvr>
                                    </p:animEffect>
                                  </p:childTnLst>
                                </p:cTn>
                              </p:par>
                              <p:par>
                                <p:cTn id="15" presetID="29"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18"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9" dur="1000"/>
                                        <p:tgtEl>
                                          <p:spTgt spid="3">
                                            <p:txEl>
                                              <p:pRg st="2" end="2"/>
                                            </p:txEl>
                                          </p:spTgt>
                                        </p:tgtEl>
                                      </p:cBhvr>
                                    </p:animEffect>
                                  </p:childTnLst>
                                </p:cTn>
                              </p:par>
                              <p:par>
                                <p:cTn id="20" presetID="29"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4" dur="1000"/>
                                        <p:tgtEl>
                                          <p:spTgt spid="3">
                                            <p:txEl>
                                              <p:pRg st="3" end="3"/>
                                            </p:txEl>
                                          </p:spTgt>
                                        </p:tgtEl>
                                      </p:cBhvr>
                                    </p:animEffect>
                                  </p:childTnLst>
                                </p:cTn>
                              </p:par>
                              <p:par>
                                <p:cTn id="25" presetID="29"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29" dur="1000"/>
                                        <p:tgtEl>
                                          <p:spTgt spid="3">
                                            <p:txEl>
                                              <p:pRg st="4" end="4"/>
                                            </p:txEl>
                                          </p:spTgt>
                                        </p:tgtEl>
                                      </p:cBhvr>
                                    </p:animEffect>
                                  </p:childTnLst>
                                </p:cTn>
                              </p:par>
                              <p:par>
                                <p:cTn id="30" presetID="29" presetClass="entr" presetSubtype="0" fill="hold" grpId="0"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3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4" dur="1000"/>
                                        <p:tgtEl>
                                          <p:spTgt spid="3">
                                            <p:txEl>
                                              <p:pRg st="5" end="5"/>
                                            </p:txEl>
                                          </p:spTgt>
                                        </p:tgtEl>
                                      </p:cBhvr>
                                    </p:animEffect>
                                  </p:childTnLst>
                                </p:cTn>
                              </p:par>
                              <p:par>
                                <p:cTn id="35" presetID="29" presetClass="entr" presetSubtype="0"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p:cTn id="37"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38"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39" dur="1000"/>
                                        <p:tgtEl>
                                          <p:spTgt spid="3">
                                            <p:txEl>
                                              <p:pRg st="6" end="6"/>
                                            </p:txEl>
                                          </p:spTgt>
                                        </p:tgtEl>
                                      </p:cBhvr>
                                    </p:animEffect>
                                  </p:childTnLst>
                                </p:cTn>
                              </p:par>
                              <p:par>
                                <p:cTn id="40" presetID="29" presetClass="entr" presetSubtype="0" fill="hold" grpId="0"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p:cTn id="42"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7" end="7"/>
                                            </p:txEl>
                                          </p:spTgt>
                                        </p:tgtEl>
                                      </p:cBhvr>
                                    </p:animEffect>
                                  </p:childTnLst>
                                </p:cTn>
                              </p:par>
                              <p:par>
                                <p:cTn id="45" presetID="29" presetClass="entr" presetSubtype="0"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p:cTn id="47" dur="1000" fill="hold"/>
                                        <p:tgtEl>
                                          <p:spTgt spid="3">
                                            <p:txEl>
                                              <p:pRg st="8" end="8"/>
                                            </p:txEl>
                                          </p:spTgt>
                                        </p:tgtEl>
                                        <p:attrNameLst>
                                          <p:attrName>ppt_x</p:attrName>
                                        </p:attrNameLst>
                                      </p:cBhvr>
                                      <p:tavLst>
                                        <p:tav tm="0">
                                          <p:val>
                                            <p:strVal val="#ppt_x-.2"/>
                                          </p:val>
                                        </p:tav>
                                        <p:tav tm="100000">
                                          <p:val>
                                            <p:strVal val="#ppt_x"/>
                                          </p:val>
                                        </p:tav>
                                      </p:tavLst>
                                    </p:anim>
                                    <p:anim calcmode="lin" valueType="num">
                                      <p:cBhvr>
                                        <p:cTn id="48" dur="1000" fill="hold"/>
                                        <p:tgtEl>
                                          <p:spTgt spid="3">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49" dur="1000"/>
                                        <p:tgtEl>
                                          <p:spTgt spid="3">
                                            <p:txEl>
                                              <p:pRg st="8" end="8"/>
                                            </p:txEl>
                                          </p:spTgt>
                                        </p:tgtEl>
                                      </p:cBhvr>
                                    </p:animEffect>
                                  </p:childTnLst>
                                </p:cTn>
                              </p:par>
                              <p:par>
                                <p:cTn id="50" presetID="29" presetClass="entr" presetSubtype="0" fill="hold" grpId="0"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calcmode="lin" valueType="num">
                                      <p:cBhvr>
                                        <p:cTn id="52" dur="1000" fill="hold"/>
                                        <p:tgtEl>
                                          <p:spTgt spid="3">
                                            <p:txEl>
                                              <p:pRg st="9" end="9"/>
                                            </p:txEl>
                                          </p:spTgt>
                                        </p:tgtEl>
                                        <p:attrNameLst>
                                          <p:attrName>ppt_x</p:attrName>
                                        </p:attrNameLst>
                                      </p:cBhvr>
                                      <p:tavLst>
                                        <p:tav tm="0">
                                          <p:val>
                                            <p:strVal val="#ppt_x-.2"/>
                                          </p:val>
                                        </p:tav>
                                        <p:tav tm="100000">
                                          <p:val>
                                            <p:strVal val="#ppt_x"/>
                                          </p:val>
                                        </p:tav>
                                      </p:tavLst>
                                    </p:anim>
                                    <p:anim calcmode="lin" valueType="num">
                                      <p:cBhvr>
                                        <p:cTn id="53" dur="1000" fill="hold"/>
                                        <p:tgtEl>
                                          <p:spTgt spid="3">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54" dur="1000"/>
                                        <p:tgtEl>
                                          <p:spTgt spid="3">
                                            <p:txEl>
                                              <p:pRg st="9" end="9"/>
                                            </p:txEl>
                                          </p:spTgt>
                                        </p:tgtEl>
                                      </p:cBhvr>
                                    </p:animEffect>
                                  </p:childTnLst>
                                </p:cTn>
                              </p:par>
                              <p:par>
                                <p:cTn id="55" presetID="29" presetClass="entr" presetSubtype="0" fill="hold" grpId="0"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 calcmode="lin" valueType="num">
                                      <p:cBhvr>
                                        <p:cTn id="57" dur="1000" fill="hold"/>
                                        <p:tgtEl>
                                          <p:spTgt spid="3">
                                            <p:txEl>
                                              <p:pRg st="10" end="10"/>
                                            </p:txEl>
                                          </p:spTgt>
                                        </p:tgtEl>
                                        <p:attrNameLst>
                                          <p:attrName>ppt_x</p:attrName>
                                        </p:attrNameLst>
                                      </p:cBhvr>
                                      <p:tavLst>
                                        <p:tav tm="0">
                                          <p:val>
                                            <p:strVal val="#ppt_x-.2"/>
                                          </p:val>
                                        </p:tav>
                                        <p:tav tm="100000">
                                          <p:val>
                                            <p:strVal val="#ppt_x"/>
                                          </p:val>
                                        </p:tav>
                                      </p:tavLst>
                                    </p:anim>
                                    <p:anim calcmode="lin" valueType="num">
                                      <p:cBhvr>
                                        <p:cTn id="58" dur="1000" fill="hold"/>
                                        <p:tgtEl>
                                          <p:spTgt spid="3">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59" dur="1000"/>
                                        <p:tgtEl>
                                          <p:spTgt spid="3">
                                            <p:txEl>
                                              <p:pRg st="10" end="10"/>
                                            </p:txEl>
                                          </p:spTgt>
                                        </p:tgtEl>
                                      </p:cBhvr>
                                    </p:animEffect>
                                  </p:childTnLst>
                                </p:cTn>
                              </p:par>
                              <p:par>
                                <p:cTn id="60" presetID="29" presetClass="entr" presetSubtype="0" fill="hold" grpId="0" nodeType="with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 calcmode="lin" valueType="num">
                                      <p:cBhvr>
                                        <p:cTn id="62" dur="1000" fill="hold"/>
                                        <p:tgtEl>
                                          <p:spTgt spid="3">
                                            <p:txEl>
                                              <p:pRg st="11" end="11"/>
                                            </p:txEl>
                                          </p:spTgt>
                                        </p:tgtEl>
                                        <p:attrNameLst>
                                          <p:attrName>ppt_x</p:attrName>
                                        </p:attrNameLst>
                                      </p:cBhvr>
                                      <p:tavLst>
                                        <p:tav tm="0">
                                          <p:val>
                                            <p:strVal val="#ppt_x-.2"/>
                                          </p:val>
                                        </p:tav>
                                        <p:tav tm="100000">
                                          <p:val>
                                            <p:strVal val="#ppt_x"/>
                                          </p:val>
                                        </p:tav>
                                      </p:tavLst>
                                    </p:anim>
                                    <p:anim calcmode="lin" valueType="num">
                                      <p:cBhvr>
                                        <p:cTn id="63" dur="1000" fill="hold"/>
                                        <p:tgtEl>
                                          <p:spTgt spid="3">
                                            <p:txEl>
                                              <p:pRg st="11" end="11"/>
                                            </p:txEl>
                                          </p:spTgt>
                                        </p:tgtEl>
                                        <p:attrNameLst>
                                          <p:attrName>ppt_y</p:attrName>
                                        </p:attrNameLst>
                                      </p:cBhvr>
                                      <p:tavLst>
                                        <p:tav tm="0">
                                          <p:val>
                                            <p:strVal val="#ppt_y"/>
                                          </p:val>
                                        </p:tav>
                                        <p:tav tm="100000">
                                          <p:val>
                                            <p:strVal val="#ppt_y"/>
                                          </p:val>
                                        </p:tav>
                                      </p:tavLst>
                                    </p:anim>
                                    <p:animEffect transition="in" filter="wipe(right)" prLst="gradientSize: 0.1">
                                      <p:cBhvr>
                                        <p:cTn id="64" dur="1000"/>
                                        <p:tgtEl>
                                          <p:spTgt spid="3">
                                            <p:txEl>
                                              <p:pRg st="11" end="11"/>
                                            </p:txEl>
                                          </p:spTgt>
                                        </p:tgtEl>
                                      </p:cBhvr>
                                    </p:animEffect>
                                  </p:childTnLst>
                                </p:cTn>
                              </p:par>
                              <p:par>
                                <p:cTn id="65" presetID="29" presetClass="entr" presetSubtype="0" fill="hold" grpId="0" nodeType="with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 calcmode="lin" valueType="num">
                                      <p:cBhvr>
                                        <p:cTn id="67" dur="1000" fill="hold"/>
                                        <p:tgtEl>
                                          <p:spTgt spid="3">
                                            <p:txEl>
                                              <p:pRg st="12" end="12"/>
                                            </p:txEl>
                                          </p:spTgt>
                                        </p:tgtEl>
                                        <p:attrNameLst>
                                          <p:attrName>ppt_x</p:attrName>
                                        </p:attrNameLst>
                                      </p:cBhvr>
                                      <p:tavLst>
                                        <p:tav tm="0">
                                          <p:val>
                                            <p:strVal val="#ppt_x-.2"/>
                                          </p:val>
                                        </p:tav>
                                        <p:tav tm="100000">
                                          <p:val>
                                            <p:strVal val="#ppt_x"/>
                                          </p:val>
                                        </p:tav>
                                      </p:tavLst>
                                    </p:anim>
                                    <p:anim calcmode="lin" valueType="num">
                                      <p:cBhvr>
                                        <p:cTn id="68" dur="1000" fill="hold"/>
                                        <p:tgtEl>
                                          <p:spTgt spid="3">
                                            <p:txEl>
                                              <p:pRg st="12" end="12"/>
                                            </p:txEl>
                                          </p:spTgt>
                                        </p:tgtEl>
                                        <p:attrNameLst>
                                          <p:attrName>ppt_y</p:attrName>
                                        </p:attrNameLst>
                                      </p:cBhvr>
                                      <p:tavLst>
                                        <p:tav tm="0">
                                          <p:val>
                                            <p:strVal val="#ppt_y"/>
                                          </p:val>
                                        </p:tav>
                                        <p:tav tm="100000">
                                          <p:val>
                                            <p:strVal val="#ppt_y"/>
                                          </p:val>
                                        </p:tav>
                                      </p:tavLst>
                                    </p:anim>
                                    <p:animEffect transition="in" filter="wipe(right)" prLst="gradientSize: 0.1">
                                      <p:cBhvr>
                                        <p:cTn id="69" dur="1000"/>
                                        <p:tgtEl>
                                          <p:spTgt spid="3">
                                            <p:txEl>
                                              <p:pRg st="12" end="12"/>
                                            </p:txEl>
                                          </p:spTgt>
                                        </p:tgtEl>
                                      </p:cBhvr>
                                    </p:animEffect>
                                  </p:childTnLst>
                                </p:cTn>
                              </p:par>
                              <p:par>
                                <p:cTn id="70" presetID="29" presetClass="entr" presetSubtype="0" fill="hold" grpId="0" nodeType="with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 calcmode="lin" valueType="num">
                                      <p:cBhvr>
                                        <p:cTn id="72" dur="1000" fill="hold"/>
                                        <p:tgtEl>
                                          <p:spTgt spid="3">
                                            <p:txEl>
                                              <p:pRg st="13" end="13"/>
                                            </p:txEl>
                                          </p:spTgt>
                                        </p:tgtEl>
                                        <p:attrNameLst>
                                          <p:attrName>ppt_x</p:attrName>
                                        </p:attrNameLst>
                                      </p:cBhvr>
                                      <p:tavLst>
                                        <p:tav tm="0">
                                          <p:val>
                                            <p:strVal val="#ppt_x-.2"/>
                                          </p:val>
                                        </p:tav>
                                        <p:tav tm="100000">
                                          <p:val>
                                            <p:strVal val="#ppt_x"/>
                                          </p:val>
                                        </p:tav>
                                      </p:tavLst>
                                    </p:anim>
                                    <p:anim calcmode="lin" valueType="num">
                                      <p:cBhvr>
                                        <p:cTn id="73" dur="1000" fill="hold"/>
                                        <p:tgtEl>
                                          <p:spTgt spid="3">
                                            <p:txEl>
                                              <p:pRg st="13" end="13"/>
                                            </p:txEl>
                                          </p:spTgt>
                                        </p:tgtEl>
                                        <p:attrNameLst>
                                          <p:attrName>ppt_y</p:attrName>
                                        </p:attrNameLst>
                                      </p:cBhvr>
                                      <p:tavLst>
                                        <p:tav tm="0">
                                          <p:val>
                                            <p:strVal val="#ppt_y"/>
                                          </p:val>
                                        </p:tav>
                                        <p:tav tm="100000">
                                          <p:val>
                                            <p:strVal val="#ppt_y"/>
                                          </p:val>
                                        </p:tav>
                                      </p:tavLst>
                                    </p:anim>
                                    <p:animEffect transition="in" filter="wipe(right)" prLst="gradientSize: 0.1">
                                      <p:cBhvr>
                                        <p:cTn id="74" dur="1000"/>
                                        <p:tgtEl>
                                          <p:spTgt spid="3">
                                            <p:txEl>
                                              <p:pRg st="13" end="13"/>
                                            </p:txEl>
                                          </p:spTgt>
                                        </p:tgtEl>
                                      </p:cBhvr>
                                    </p:animEffect>
                                  </p:childTnLst>
                                </p:cTn>
                              </p:par>
                              <p:par>
                                <p:cTn id="75" presetID="29" presetClass="entr" presetSubtype="0" fill="hold" grpId="0" nodeType="with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 calcmode="lin" valueType="num">
                                      <p:cBhvr>
                                        <p:cTn id="77" dur="1000" fill="hold"/>
                                        <p:tgtEl>
                                          <p:spTgt spid="3">
                                            <p:txEl>
                                              <p:pRg st="14" end="14"/>
                                            </p:txEl>
                                          </p:spTgt>
                                        </p:tgtEl>
                                        <p:attrNameLst>
                                          <p:attrName>ppt_x</p:attrName>
                                        </p:attrNameLst>
                                      </p:cBhvr>
                                      <p:tavLst>
                                        <p:tav tm="0">
                                          <p:val>
                                            <p:strVal val="#ppt_x-.2"/>
                                          </p:val>
                                        </p:tav>
                                        <p:tav tm="100000">
                                          <p:val>
                                            <p:strVal val="#ppt_x"/>
                                          </p:val>
                                        </p:tav>
                                      </p:tavLst>
                                    </p:anim>
                                    <p:anim calcmode="lin" valueType="num">
                                      <p:cBhvr>
                                        <p:cTn id="78" dur="1000" fill="hold"/>
                                        <p:tgtEl>
                                          <p:spTgt spid="3">
                                            <p:txEl>
                                              <p:pRg st="14" end="14"/>
                                            </p:txEl>
                                          </p:spTgt>
                                        </p:tgtEl>
                                        <p:attrNameLst>
                                          <p:attrName>ppt_y</p:attrName>
                                        </p:attrNameLst>
                                      </p:cBhvr>
                                      <p:tavLst>
                                        <p:tav tm="0">
                                          <p:val>
                                            <p:strVal val="#ppt_y"/>
                                          </p:val>
                                        </p:tav>
                                        <p:tav tm="100000">
                                          <p:val>
                                            <p:strVal val="#ppt_y"/>
                                          </p:val>
                                        </p:tav>
                                      </p:tavLst>
                                    </p:anim>
                                    <p:animEffect transition="in" filter="wipe(right)" prLst="gradientSize: 0.1">
                                      <p:cBhvr>
                                        <p:cTn id="79" dur="1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23520"/>
            <a:ext cx="8229600" cy="839893"/>
          </a:xfrm>
        </p:spPr>
        <p:txBody>
          <a:bodyPr>
            <a:normAutofit/>
          </a:bodyPr>
          <a:lstStyle/>
          <a:p>
            <a:r>
              <a:rPr lang="en-US" dirty="0"/>
              <a:t>Reading from a File</a:t>
            </a:r>
          </a:p>
        </p:txBody>
      </p:sp>
      <p:sp>
        <p:nvSpPr>
          <p:cNvPr id="52228" name="Rectangle 3"/>
          <p:cNvSpPr>
            <a:spLocks noGrp="1" noChangeArrowheads="1"/>
          </p:cNvSpPr>
          <p:nvPr>
            <p:ph idx="1"/>
          </p:nvPr>
        </p:nvSpPr>
        <p:spPr>
          <a:xfrm>
            <a:off x="512202" y="1001749"/>
            <a:ext cx="8229600" cy="5399052"/>
          </a:xfrm>
        </p:spPr>
        <p:txBody>
          <a:bodyPr>
            <a:normAutofit fontScale="92500" lnSpcReduction="10000"/>
          </a:bodyPr>
          <a:lstStyle/>
          <a:p>
            <a:r>
              <a:rPr lang="en-US" dirty="0"/>
              <a:t>Similarly, reading data from a file takes three steps:</a:t>
            </a:r>
          </a:p>
          <a:p>
            <a:pPr lvl="1"/>
            <a:r>
              <a:rPr lang="en-US" dirty="0"/>
              <a:t>Open the file. If you cannot open the file (for example, if it doesn’t exist), you need to recognize this and exit gracefully.</a:t>
            </a:r>
          </a:p>
          <a:p>
            <a:pPr lvl="1"/>
            <a:r>
              <a:rPr lang="en-US" dirty="0"/>
              <a:t>Read data from the file.</a:t>
            </a:r>
          </a:p>
          <a:p>
            <a:pPr lvl="1"/>
            <a:r>
              <a:rPr lang="en-US" dirty="0"/>
              <a:t>Close the file.</a:t>
            </a:r>
          </a:p>
          <a:p>
            <a:r>
              <a:rPr lang="en-US" dirty="0"/>
              <a:t>When you want to read data from a file, you have many choices about how much of the file to read at a time.</a:t>
            </a:r>
          </a:p>
          <a:p>
            <a:r>
              <a:rPr lang="en-US" dirty="0"/>
              <a:t>Again, you open the file by using </a:t>
            </a:r>
            <a:r>
              <a:rPr lang="en-US" b="1" dirty="0" err="1">
                <a:solidFill>
                  <a:srgbClr val="C00000"/>
                </a:solidFill>
              </a:rPr>
              <a:t>fopen</a:t>
            </a:r>
            <a:r>
              <a:rPr lang="en-US" b="1" dirty="0">
                <a:solidFill>
                  <a:srgbClr val="C00000"/>
                </a:solidFill>
              </a:rPr>
              <a:t>(). </a:t>
            </a:r>
            <a:r>
              <a:rPr lang="en-US" dirty="0"/>
              <a:t>In this case, you open the file for reading only, so you use the file mode </a:t>
            </a:r>
            <a:r>
              <a:rPr lang="en-US" b="1" dirty="0">
                <a:solidFill>
                  <a:srgbClr val="C00000"/>
                </a:solidFill>
              </a:rPr>
              <a:t>r</a:t>
            </a:r>
            <a:r>
              <a:rPr lang="en-US" dirty="0"/>
              <a:t>.</a:t>
            </a:r>
          </a:p>
          <a:p>
            <a:r>
              <a:rPr lang="en-US" dirty="0"/>
              <a:t>The </a:t>
            </a:r>
            <a:r>
              <a:rPr lang="en-US" b="1" dirty="0" err="1">
                <a:solidFill>
                  <a:srgbClr val="C00000"/>
                </a:solidFill>
              </a:rPr>
              <a:t>fread</a:t>
            </a:r>
            <a:r>
              <a:rPr lang="en-US" b="1" dirty="0">
                <a:solidFill>
                  <a:srgbClr val="C00000"/>
                </a:solidFill>
              </a:rPr>
              <a:t>() </a:t>
            </a:r>
            <a:r>
              <a:rPr lang="en-US" dirty="0"/>
              <a:t>function reads from an open file.</a:t>
            </a:r>
          </a:p>
          <a:p>
            <a:r>
              <a:rPr lang="en-US" dirty="0"/>
              <a:t>The first parameter of </a:t>
            </a:r>
            <a:r>
              <a:rPr lang="en-US" b="1" dirty="0" err="1">
                <a:solidFill>
                  <a:srgbClr val="C00000"/>
                </a:solidFill>
              </a:rPr>
              <a:t>fread</a:t>
            </a:r>
            <a:r>
              <a:rPr lang="en-US" b="1" dirty="0">
                <a:solidFill>
                  <a:srgbClr val="C00000"/>
                </a:solidFill>
              </a:rPr>
              <a:t>() </a:t>
            </a:r>
            <a:r>
              <a:rPr lang="en-US" dirty="0"/>
              <a:t>contains the name of the file to read from and the second parameter specifies the maximum number of bytes to read.</a:t>
            </a:r>
          </a:p>
          <a:p>
            <a:endParaRPr lang="en-US" dirty="0"/>
          </a:p>
        </p:txBody>
      </p:sp>
      <p:sp>
        <p:nvSpPr>
          <p:cNvPr id="4" name="Slide Number Placeholder 3">
            <a:extLst>
              <a:ext uri="{FF2B5EF4-FFF2-40B4-BE49-F238E27FC236}">
                <a16:creationId xmlns:a16="http://schemas.microsoft.com/office/drawing/2014/main" id="{8F4C4C3A-7157-4045-873E-823CA7C70E03}"/>
              </a:ext>
            </a:extLst>
          </p:cNvPr>
          <p:cNvSpPr>
            <a:spLocks noGrp="1"/>
          </p:cNvSpPr>
          <p:nvPr>
            <p:ph type="sldNum" sz="quarter" idx="12"/>
          </p:nvPr>
        </p:nvSpPr>
        <p:spPr/>
        <p:txBody>
          <a:bodyPr/>
          <a:lstStyle/>
          <a:p>
            <a:pPr>
              <a:defRPr/>
            </a:pPr>
            <a:fld id="{2807F527-F93A-4DFB-A6A5-8EC3CE84B904}" type="slidenum">
              <a:rPr lang="en-US" altLang="en-US" smtClean="0"/>
              <a:pPr>
                <a:defRPr/>
              </a:pPr>
              <a:t>13</a:t>
            </a:fld>
            <a:endParaRPr lang="en-US" altLang="en-US"/>
          </a:p>
        </p:txBody>
      </p:sp>
    </p:spTree>
    <p:extLst>
      <p:ext uri="{BB962C8B-B14F-4D97-AF65-F5344CB8AC3E}">
        <p14:creationId xmlns:p14="http://schemas.microsoft.com/office/powerpoint/2010/main" val="1400621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 calcmode="lin" valueType="num">
                                      <p:cBhvr>
                                        <p:cTn id="7" dur="1000" fill="hold"/>
                                        <p:tgtEl>
                                          <p:spTgt spid="52228">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52228">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2228">
                                            <p:txEl>
                                              <p:pRg st="0" end="0"/>
                                            </p:txEl>
                                          </p:spTgt>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52228">
                                            <p:txEl>
                                              <p:pRg st="1" end="1"/>
                                            </p:txEl>
                                          </p:spTgt>
                                        </p:tgtEl>
                                        <p:attrNameLst>
                                          <p:attrName>style.visibility</p:attrName>
                                        </p:attrNameLst>
                                      </p:cBhvr>
                                      <p:to>
                                        <p:strVal val="visible"/>
                                      </p:to>
                                    </p:set>
                                    <p:anim calcmode="lin" valueType="num">
                                      <p:cBhvr>
                                        <p:cTn id="12" dur="1000" fill="hold"/>
                                        <p:tgtEl>
                                          <p:spTgt spid="52228">
                                            <p:txEl>
                                              <p:pRg st="1" end="1"/>
                                            </p:txEl>
                                          </p:spTgt>
                                        </p:tgtEl>
                                        <p:attrNameLst>
                                          <p:attrName>ppt_x</p:attrName>
                                        </p:attrNameLst>
                                      </p:cBhvr>
                                      <p:tavLst>
                                        <p:tav tm="0">
                                          <p:val>
                                            <p:strVal val="#ppt_x-.2"/>
                                          </p:val>
                                        </p:tav>
                                        <p:tav tm="100000">
                                          <p:val>
                                            <p:strVal val="#ppt_x"/>
                                          </p:val>
                                        </p:tav>
                                      </p:tavLst>
                                    </p:anim>
                                    <p:anim calcmode="lin" valueType="num">
                                      <p:cBhvr>
                                        <p:cTn id="13" dur="1000" fill="hold"/>
                                        <p:tgtEl>
                                          <p:spTgt spid="52228">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52228">
                                            <p:txEl>
                                              <p:pRg st="1" end="1"/>
                                            </p:txEl>
                                          </p:spTgt>
                                        </p:tgtEl>
                                      </p:cBhvr>
                                    </p:animEffect>
                                  </p:childTnLst>
                                </p:cTn>
                              </p:par>
                              <p:par>
                                <p:cTn id="15" presetID="29" presetClass="entr" presetSubtype="0" fill="hold" grpId="0" nodeType="withEffect">
                                  <p:stCondLst>
                                    <p:cond delay="0"/>
                                  </p:stCondLst>
                                  <p:childTnLst>
                                    <p:set>
                                      <p:cBhvr>
                                        <p:cTn id="16" dur="1" fill="hold">
                                          <p:stCondLst>
                                            <p:cond delay="0"/>
                                          </p:stCondLst>
                                        </p:cTn>
                                        <p:tgtEl>
                                          <p:spTgt spid="52228">
                                            <p:txEl>
                                              <p:pRg st="2" end="2"/>
                                            </p:txEl>
                                          </p:spTgt>
                                        </p:tgtEl>
                                        <p:attrNameLst>
                                          <p:attrName>style.visibility</p:attrName>
                                        </p:attrNameLst>
                                      </p:cBhvr>
                                      <p:to>
                                        <p:strVal val="visible"/>
                                      </p:to>
                                    </p:set>
                                    <p:anim calcmode="lin" valueType="num">
                                      <p:cBhvr>
                                        <p:cTn id="17" dur="1000" fill="hold"/>
                                        <p:tgtEl>
                                          <p:spTgt spid="52228">
                                            <p:txEl>
                                              <p:pRg st="2" end="2"/>
                                            </p:txEl>
                                          </p:spTgt>
                                        </p:tgtEl>
                                        <p:attrNameLst>
                                          <p:attrName>ppt_x</p:attrName>
                                        </p:attrNameLst>
                                      </p:cBhvr>
                                      <p:tavLst>
                                        <p:tav tm="0">
                                          <p:val>
                                            <p:strVal val="#ppt_x-.2"/>
                                          </p:val>
                                        </p:tav>
                                        <p:tav tm="100000">
                                          <p:val>
                                            <p:strVal val="#ppt_x"/>
                                          </p:val>
                                        </p:tav>
                                      </p:tavLst>
                                    </p:anim>
                                    <p:anim calcmode="lin" valueType="num">
                                      <p:cBhvr>
                                        <p:cTn id="18" dur="1000" fill="hold"/>
                                        <p:tgtEl>
                                          <p:spTgt spid="52228">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19" dur="1000"/>
                                        <p:tgtEl>
                                          <p:spTgt spid="52228">
                                            <p:txEl>
                                              <p:pRg st="2" end="2"/>
                                            </p:txEl>
                                          </p:spTgt>
                                        </p:tgtEl>
                                      </p:cBhvr>
                                    </p:animEffect>
                                  </p:childTnLst>
                                </p:cTn>
                              </p:par>
                              <p:par>
                                <p:cTn id="20" presetID="29" presetClass="entr" presetSubtype="0" fill="hold" grpId="0" nodeType="withEffect">
                                  <p:stCondLst>
                                    <p:cond delay="0"/>
                                  </p:stCondLst>
                                  <p:childTnLst>
                                    <p:set>
                                      <p:cBhvr>
                                        <p:cTn id="21" dur="1" fill="hold">
                                          <p:stCondLst>
                                            <p:cond delay="0"/>
                                          </p:stCondLst>
                                        </p:cTn>
                                        <p:tgtEl>
                                          <p:spTgt spid="52228">
                                            <p:txEl>
                                              <p:pRg st="3" end="3"/>
                                            </p:txEl>
                                          </p:spTgt>
                                        </p:tgtEl>
                                        <p:attrNameLst>
                                          <p:attrName>style.visibility</p:attrName>
                                        </p:attrNameLst>
                                      </p:cBhvr>
                                      <p:to>
                                        <p:strVal val="visible"/>
                                      </p:to>
                                    </p:set>
                                    <p:anim calcmode="lin" valueType="num">
                                      <p:cBhvr>
                                        <p:cTn id="22" dur="1000" fill="hold"/>
                                        <p:tgtEl>
                                          <p:spTgt spid="52228">
                                            <p:txEl>
                                              <p:pRg st="3" end="3"/>
                                            </p:txEl>
                                          </p:spTgt>
                                        </p:tgtEl>
                                        <p:attrNameLst>
                                          <p:attrName>ppt_x</p:attrName>
                                        </p:attrNameLst>
                                      </p:cBhvr>
                                      <p:tavLst>
                                        <p:tav tm="0">
                                          <p:val>
                                            <p:strVal val="#ppt_x-.2"/>
                                          </p:val>
                                        </p:tav>
                                        <p:tav tm="100000">
                                          <p:val>
                                            <p:strVal val="#ppt_x"/>
                                          </p:val>
                                        </p:tav>
                                      </p:tavLst>
                                    </p:anim>
                                    <p:anim calcmode="lin" valueType="num">
                                      <p:cBhvr>
                                        <p:cTn id="23" dur="1000" fill="hold"/>
                                        <p:tgtEl>
                                          <p:spTgt spid="52228">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4" dur="1000"/>
                                        <p:tgtEl>
                                          <p:spTgt spid="52228">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9" presetClass="entr" presetSubtype="0" fill="hold" grpId="0" nodeType="clickEffect">
                                  <p:stCondLst>
                                    <p:cond delay="0"/>
                                  </p:stCondLst>
                                  <p:childTnLst>
                                    <p:set>
                                      <p:cBhvr>
                                        <p:cTn id="28" dur="1" fill="hold">
                                          <p:stCondLst>
                                            <p:cond delay="0"/>
                                          </p:stCondLst>
                                        </p:cTn>
                                        <p:tgtEl>
                                          <p:spTgt spid="52228">
                                            <p:txEl>
                                              <p:pRg st="4" end="4"/>
                                            </p:txEl>
                                          </p:spTgt>
                                        </p:tgtEl>
                                        <p:attrNameLst>
                                          <p:attrName>style.visibility</p:attrName>
                                        </p:attrNameLst>
                                      </p:cBhvr>
                                      <p:to>
                                        <p:strVal val="visible"/>
                                      </p:to>
                                    </p:set>
                                    <p:anim calcmode="lin" valueType="num">
                                      <p:cBhvr>
                                        <p:cTn id="29" dur="1000" fill="hold"/>
                                        <p:tgtEl>
                                          <p:spTgt spid="52228">
                                            <p:txEl>
                                              <p:pRg st="4" end="4"/>
                                            </p:txEl>
                                          </p:spTgt>
                                        </p:tgtEl>
                                        <p:attrNameLst>
                                          <p:attrName>ppt_x</p:attrName>
                                        </p:attrNameLst>
                                      </p:cBhvr>
                                      <p:tavLst>
                                        <p:tav tm="0">
                                          <p:val>
                                            <p:strVal val="#ppt_x-.2"/>
                                          </p:val>
                                        </p:tav>
                                        <p:tav tm="100000">
                                          <p:val>
                                            <p:strVal val="#ppt_x"/>
                                          </p:val>
                                        </p:tav>
                                      </p:tavLst>
                                    </p:anim>
                                    <p:anim calcmode="lin" valueType="num">
                                      <p:cBhvr>
                                        <p:cTn id="30" dur="1000" fill="hold"/>
                                        <p:tgtEl>
                                          <p:spTgt spid="52228">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1" dur="1000"/>
                                        <p:tgtEl>
                                          <p:spTgt spid="52228">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9" presetClass="entr" presetSubtype="0" fill="hold" grpId="0" nodeType="clickEffect">
                                  <p:stCondLst>
                                    <p:cond delay="0"/>
                                  </p:stCondLst>
                                  <p:childTnLst>
                                    <p:set>
                                      <p:cBhvr>
                                        <p:cTn id="35" dur="1" fill="hold">
                                          <p:stCondLst>
                                            <p:cond delay="0"/>
                                          </p:stCondLst>
                                        </p:cTn>
                                        <p:tgtEl>
                                          <p:spTgt spid="52228">
                                            <p:txEl>
                                              <p:pRg st="5" end="5"/>
                                            </p:txEl>
                                          </p:spTgt>
                                        </p:tgtEl>
                                        <p:attrNameLst>
                                          <p:attrName>style.visibility</p:attrName>
                                        </p:attrNameLst>
                                      </p:cBhvr>
                                      <p:to>
                                        <p:strVal val="visible"/>
                                      </p:to>
                                    </p:set>
                                    <p:anim calcmode="lin" valueType="num">
                                      <p:cBhvr>
                                        <p:cTn id="36" dur="1000" fill="hold"/>
                                        <p:tgtEl>
                                          <p:spTgt spid="52228">
                                            <p:txEl>
                                              <p:pRg st="5" end="5"/>
                                            </p:txEl>
                                          </p:spTgt>
                                        </p:tgtEl>
                                        <p:attrNameLst>
                                          <p:attrName>ppt_x</p:attrName>
                                        </p:attrNameLst>
                                      </p:cBhvr>
                                      <p:tavLst>
                                        <p:tav tm="0">
                                          <p:val>
                                            <p:strVal val="#ppt_x-.2"/>
                                          </p:val>
                                        </p:tav>
                                        <p:tav tm="100000">
                                          <p:val>
                                            <p:strVal val="#ppt_x"/>
                                          </p:val>
                                        </p:tav>
                                      </p:tavLst>
                                    </p:anim>
                                    <p:anim calcmode="lin" valueType="num">
                                      <p:cBhvr>
                                        <p:cTn id="37" dur="1000" fill="hold"/>
                                        <p:tgtEl>
                                          <p:spTgt spid="52228">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8" dur="1000"/>
                                        <p:tgtEl>
                                          <p:spTgt spid="52228">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9" presetClass="entr" presetSubtype="0" fill="hold" grpId="0" nodeType="clickEffect">
                                  <p:stCondLst>
                                    <p:cond delay="0"/>
                                  </p:stCondLst>
                                  <p:childTnLst>
                                    <p:set>
                                      <p:cBhvr>
                                        <p:cTn id="42" dur="1" fill="hold">
                                          <p:stCondLst>
                                            <p:cond delay="0"/>
                                          </p:stCondLst>
                                        </p:cTn>
                                        <p:tgtEl>
                                          <p:spTgt spid="52228">
                                            <p:txEl>
                                              <p:pRg st="6" end="6"/>
                                            </p:txEl>
                                          </p:spTgt>
                                        </p:tgtEl>
                                        <p:attrNameLst>
                                          <p:attrName>style.visibility</p:attrName>
                                        </p:attrNameLst>
                                      </p:cBhvr>
                                      <p:to>
                                        <p:strVal val="visible"/>
                                      </p:to>
                                    </p:set>
                                    <p:anim calcmode="lin" valueType="num">
                                      <p:cBhvr>
                                        <p:cTn id="43" dur="1000" fill="hold"/>
                                        <p:tgtEl>
                                          <p:spTgt spid="52228">
                                            <p:txEl>
                                              <p:pRg st="6" end="6"/>
                                            </p:txEl>
                                          </p:spTgt>
                                        </p:tgtEl>
                                        <p:attrNameLst>
                                          <p:attrName>ppt_x</p:attrName>
                                        </p:attrNameLst>
                                      </p:cBhvr>
                                      <p:tavLst>
                                        <p:tav tm="0">
                                          <p:val>
                                            <p:strVal val="#ppt_x-.2"/>
                                          </p:val>
                                        </p:tav>
                                        <p:tav tm="100000">
                                          <p:val>
                                            <p:strVal val="#ppt_x"/>
                                          </p:val>
                                        </p:tav>
                                      </p:tavLst>
                                    </p:anim>
                                    <p:anim calcmode="lin" valueType="num">
                                      <p:cBhvr>
                                        <p:cTn id="44" dur="1000" fill="hold"/>
                                        <p:tgtEl>
                                          <p:spTgt spid="52228">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5" dur="1000"/>
                                        <p:tgtEl>
                                          <p:spTgt spid="52228">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9" presetClass="entr" presetSubtype="0" fill="hold" grpId="0" nodeType="clickEffect">
                                  <p:stCondLst>
                                    <p:cond delay="0"/>
                                  </p:stCondLst>
                                  <p:childTnLst>
                                    <p:set>
                                      <p:cBhvr>
                                        <p:cTn id="49" dur="1" fill="hold">
                                          <p:stCondLst>
                                            <p:cond delay="0"/>
                                          </p:stCondLst>
                                        </p:cTn>
                                        <p:tgtEl>
                                          <p:spTgt spid="52228">
                                            <p:txEl>
                                              <p:pRg st="7" end="7"/>
                                            </p:txEl>
                                          </p:spTgt>
                                        </p:tgtEl>
                                        <p:attrNameLst>
                                          <p:attrName>style.visibility</p:attrName>
                                        </p:attrNameLst>
                                      </p:cBhvr>
                                      <p:to>
                                        <p:strVal val="visible"/>
                                      </p:to>
                                    </p:set>
                                    <p:anim calcmode="lin" valueType="num">
                                      <p:cBhvr>
                                        <p:cTn id="50" dur="1000" fill="hold"/>
                                        <p:tgtEl>
                                          <p:spTgt spid="52228">
                                            <p:txEl>
                                              <p:pRg st="7" end="7"/>
                                            </p:txEl>
                                          </p:spTgt>
                                        </p:tgtEl>
                                        <p:attrNameLst>
                                          <p:attrName>ppt_x</p:attrName>
                                        </p:attrNameLst>
                                      </p:cBhvr>
                                      <p:tavLst>
                                        <p:tav tm="0">
                                          <p:val>
                                            <p:strVal val="#ppt_x-.2"/>
                                          </p:val>
                                        </p:tav>
                                        <p:tav tm="100000">
                                          <p:val>
                                            <p:strVal val="#ppt_x"/>
                                          </p:val>
                                        </p:tav>
                                      </p:tavLst>
                                    </p:anim>
                                    <p:anim calcmode="lin" valueType="num">
                                      <p:cBhvr>
                                        <p:cTn id="51" dur="1000" fill="hold"/>
                                        <p:tgtEl>
                                          <p:spTgt spid="52228">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2" dur="1000"/>
                                        <p:tgtEl>
                                          <p:spTgt spid="5222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20710"/>
            <a:ext cx="8229600" cy="839787"/>
          </a:xfrm>
        </p:spPr>
        <p:txBody>
          <a:bodyPr>
            <a:normAutofit/>
          </a:bodyPr>
          <a:lstStyle/>
          <a:p>
            <a:r>
              <a:rPr lang="en-US" dirty="0"/>
              <a:t>Reading from a File</a:t>
            </a:r>
          </a:p>
        </p:txBody>
      </p:sp>
      <p:sp>
        <p:nvSpPr>
          <p:cNvPr id="52228" name="Rectangle 3"/>
          <p:cNvSpPr>
            <a:spLocks noGrp="1" noChangeArrowheads="1"/>
          </p:cNvSpPr>
          <p:nvPr>
            <p:ph idx="1"/>
          </p:nvPr>
        </p:nvSpPr>
        <p:spPr>
          <a:xfrm>
            <a:off x="457200" y="960497"/>
            <a:ext cx="8329290" cy="5653434"/>
          </a:xfrm>
        </p:spPr>
        <p:txBody>
          <a:bodyPr>
            <a:normAutofit fontScale="92500" lnSpcReduction="10000"/>
          </a:bodyPr>
          <a:lstStyle/>
          <a:p>
            <a:r>
              <a:rPr lang="en-US" dirty="0"/>
              <a:t>The </a:t>
            </a:r>
            <a:r>
              <a:rPr lang="en-US" b="1" dirty="0" err="1">
                <a:solidFill>
                  <a:srgbClr val="C00000"/>
                </a:solidFill>
              </a:rPr>
              <a:t>readfile</a:t>
            </a:r>
            <a:r>
              <a:rPr lang="en-US" b="1" dirty="0">
                <a:solidFill>
                  <a:srgbClr val="C00000"/>
                </a:solidFill>
              </a:rPr>
              <a:t>() </a:t>
            </a:r>
            <a:r>
              <a:rPr lang="en-US" dirty="0"/>
              <a:t>function also reads a file and writes it to the output buffer.</a:t>
            </a:r>
          </a:p>
          <a:p>
            <a:r>
              <a:rPr lang="en-US" b="1" dirty="0" err="1">
                <a:solidFill>
                  <a:srgbClr val="C00000"/>
                </a:solidFill>
              </a:rPr>
              <a:t>fgets</a:t>
            </a:r>
            <a:r>
              <a:rPr lang="en-US" b="1" dirty="0">
                <a:solidFill>
                  <a:srgbClr val="C00000"/>
                </a:solidFill>
              </a:rPr>
              <a:t>() </a:t>
            </a:r>
            <a:r>
              <a:rPr lang="en-US" dirty="0"/>
              <a:t>and </a:t>
            </a:r>
            <a:r>
              <a:rPr lang="en-US" b="1" dirty="0" err="1">
                <a:solidFill>
                  <a:srgbClr val="C00000"/>
                </a:solidFill>
              </a:rPr>
              <a:t>fgetc</a:t>
            </a:r>
            <a:r>
              <a:rPr lang="en-US" b="1" dirty="0">
                <a:solidFill>
                  <a:srgbClr val="C00000"/>
                </a:solidFill>
              </a:rPr>
              <a:t>() </a:t>
            </a:r>
            <a:r>
              <a:rPr lang="en-US" dirty="0"/>
              <a:t>are functions used to read single line at a time and single character at a time respectively. </a:t>
            </a:r>
          </a:p>
          <a:p>
            <a:r>
              <a:rPr lang="en-US" b="1" dirty="0" err="1">
                <a:solidFill>
                  <a:srgbClr val="C00000"/>
                </a:solidFill>
              </a:rPr>
              <a:t>feof</a:t>
            </a:r>
            <a:r>
              <a:rPr lang="en-US" b="1" dirty="0">
                <a:solidFill>
                  <a:srgbClr val="C00000"/>
                </a:solidFill>
              </a:rPr>
              <a:t>() </a:t>
            </a:r>
            <a:r>
              <a:rPr lang="en-US" dirty="0"/>
              <a:t>function is used along with these functions to check if the "end-of-file" (EOF) has been reached. The </a:t>
            </a:r>
            <a:r>
              <a:rPr lang="en-US" dirty="0" err="1"/>
              <a:t>feof</a:t>
            </a:r>
            <a:r>
              <a:rPr lang="en-US" dirty="0"/>
              <a:t>() function is also useful for looping through data of unknown length.</a:t>
            </a:r>
          </a:p>
          <a:p>
            <a:r>
              <a:rPr lang="en-US" dirty="0"/>
              <a:t>Example:</a:t>
            </a:r>
          </a:p>
          <a:p>
            <a:pPr lvl="2"/>
            <a:r>
              <a:rPr lang="en-US" sz="2600" b="1" dirty="0">
                <a:solidFill>
                  <a:srgbClr val="C00000"/>
                </a:solidFill>
              </a:rPr>
              <a:t>&lt;?</a:t>
            </a:r>
            <a:r>
              <a:rPr lang="en-US" sz="2600" b="1" dirty="0" err="1">
                <a:solidFill>
                  <a:srgbClr val="C00000"/>
                </a:solidFill>
              </a:rPr>
              <a:t>php</a:t>
            </a:r>
            <a:br>
              <a:rPr lang="en-US" sz="2600" b="1" dirty="0">
                <a:solidFill>
                  <a:srgbClr val="C00000"/>
                </a:solidFill>
              </a:rPr>
            </a:br>
            <a:r>
              <a:rPr lang="en-US" sz="2600" b="1" dirty="0">
                <a:solidFill>
                  <a:srgbClr val="C00000"/>
                </a:solidFill>
              </a:rPr>
              <a:t>$</a:t>
            </a:r>
            <a:r>
              <a:rPr lang="en-US" sz="2600" b="1" dirty="0" err="1">
                <a:solidFill>
                  <a:srgbClr val="C00000"/>
                </a:solidFill>
              </a:rPr>
              <a:t>myfile</a:t>
            </a:r>
            <a:r>
              <a:rPr lang="en-US" sz="2600" b="1" dirty="0">
                <a:solidFill>
                  <a:srgbClr val="C00000"/>
                </a:solidFill>
              </a:rPr>
              <a:t> = </a:t>
            </a:r>
            <a:r>
              <a:rPr lang="en-US" sz="2600" b="1" dirty="0" err="1">
                <a:solidFill>
                  <a:srgbClr val="C00000"/>
                </a:solidFill>
              </a:rPr>
              <a:t>fopen</a:t>
            </a:r>
            <a:r>
              <a:rPr lang="en-US" sz="2600" b="1" dirty="0">
                <a:solidFill>
                  <a:srgbClr val="C00000"/>
                </a:solidFill>
              </a:rPr>
              <a:t>("webdictionary.txt", "r") or die("Unable to open file!");</a:t>
            </a:r>
            <a:br>
              <a:rPr lang="en-US" sz="2600" b="1" dirty="0">
                <a:solidFill>
                  <a:srgbClr val="C00000"/>
                </a:solidFill>
              </a:rPr>
            </a:br>
            <a:r>
              <a:rPr lang="en-US" sz="2600" b="1" dirty="0">
                <a:solidFill>
                  <a:srgbClr val="C00000"/>
                </a:solidFill>
              </a:rPr>
              <a:t>echo </a:t>
            </a:r>
            <a:r>
              <a:rPr lang="en-US" sz="2600" b="1" dirty="0" err="1">
                <a:solidFill>
                  <a:srgbClr val="C00000"/>
                </a:solidFill>
              </a:rPr>
              <a:t>fread</a:t>
            </a:r>
            <a:r>
              <a:rPr lang="en-US" sz="2600" b="1" dirty="0">
                <a:solidFill>
                  <a:srgbClr val="C00000"/>
                </a:solidFill>
              </a:rPr>
              <a:t>($</a:t>
            </a:r>
            <a:r>
              <a:rPr lang="en-US" sz="2600" b="1" dirty="0" err="1">
                <a:solidFill>
                  <a:srgbClr val="C00000"/>
                </a:solidFill>
              </a:rPr>
              <a:t>myfile,filesize</a:t>
            </a:r>
            <a:r>
              <a:rPr lang="en-US" sz="2600" b="1" dirty="0">
                <a:solidFill>
                  <a:srgbClr val="C00000"/>
                </a:solidFill>
              </a:rPr>
              <a:t>("webdictionary.txt"));</a:t>
            </a:r>
            <a:br>
              <a:rPr lang="en-US" sz="2600" b="1" dirty="0">
                <a:solidFill>
                  <a:srgbClr val="C00000"/>
                </a:solidFill>
              </a:rPr>
            </a:br>
            <a:r>
              <a:rPr lang="en-US" sz="2600" b="1" dirty="0" err="1">
                <a:solidFill>
                  <a:srgbClr val="C00000"/>
                </a:solidFill>
              </a:rPr>
              <a:t>fclose</a:t>
            </a:r>
            <a:r>
              <a:rPr lang="en-US" sz="2600" b="1" dirty="0">
                <a:solidFill>
                  <a:srgbClr val="C00000"/>
                </a:solidFill>
              </a:rPr>
              <a:t>($</a:t>
            </a:r>
            <a:r>
              <a:rPr lang="en-US" sz="2600" b="1" dirty="0" err="1">
                <a:solidFill>
                  <a:srgbClr val="C00000"/>
                </a:solidFill>
              </a:rPr>
              <a:t>myfile</a:t>
            </a:r>
            <a:r>
              <a:rPr lang="en-US" sz="2600" b="1" dirty="0">
                <a:solidFill>
                  <a:srgbClr val="C00000"/>
                </a:solidFill>
              </a:rPr>
              <a:t>);</a:t>
            </a:r>
            <a:br>
              <a:rPr lang="en-US" sz="2600" b="1" dirty="0">
                <a:solidFill>
                  <a:srgbClr val="C00000"/>
                </a:solidFill>
              </a:rPr>
            </a:br>
            <a:r>
              <a:rPr lang="en-US" sz="2600" b="1" dirty="0">
                <a:solidFill>
                  <a:srgbClr val="C00000"/>
                </a:solidFill>
              </a:rPr>
              <a:t>?&gt; </a:t>
            </a:r>
          </a:p>
        </p:txBody>
      </p:sp>
      <p:sp>
        <p:nvSpPr>
          <p:cNvPr id="4" name="Slide Number Placeholder 3">
            <a:extLst>
              <a:ext uri="{FF2B5EF4-FFF2-40B4-BE49-F238E27FC236}">
                <a16:creationId xmlns:a16="http://schemas.microsoft.com/office/drawing/2014/main" id="{AFFB6ACC-7B5C-490B-AB22-F961FB656A5A}"/>
              </a:ext>
            </a:extLst>
          </p:cNvPr>
          <p:cNvSpPr>
            <a:spLocks noGrp="1"/>
          </p:cNvSpPr>
          <p:nvPr>
            <p:ph type="sldNum" sz="quarter" idx="12"/>
          </p:nvPr>
        </p:nvSpPr>
        <p:spPr/>
        <p:txBody>
          <a:bodyPr/>
          <a:lstStyle/>
          <a:p>
            <a:pPr>
              <a:defRPr/>
            </a:pPr>
            <a:fld id="{2807F527-F93A-4DFB-A6A5-8EC3CE84B904}" type="slidenum">
              <a:rPr lang="en-US" altLang="en-US" smtClean="0"/>
              <a:pPr>
                <a:defRPr/>
              </a:pPr>
              <a:t>14</a:t>
            </a:fld>
            <a:endParaRPr lang="en-US" altLang="en-US"/>
          </a:p>
        </p:txBody>
      </p:sp>
    </p:spTree>
    <p:extLst>
      <p:ext uri="{BB962C8B-B14F-4D97-AF65-F5344CB8AC3E}">
        <p14:creationId xmlns:p14="http://schemas.microsoft.com/office/powerpoint/2010/main" val="363706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 calcmode="lin" valueType="num">
                                      <p:cBhvr>
                                        <p:cTn id="7" dur="1000" fill="hold"/>
                                        <p:tgtEl>
                                          <p:spTgt spid="52228">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52228">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222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52228">
                                            <p:txEl>
                                              <p:pRg st="1" end="1"/>
                                            </p:txEl>
                                          </p:spTgt>
                                        </p:tgtEl>
                                        <p:attrNameLst>
                                          <p:attrName>style.visibility</p:attrName>
                                        </p:attrNameLst>
                                      </p:cBhvr>
                                      <p:to>
                                        <p:strVal val="visible"/>
                                      </p:to>
                                    </p:set>
                                    <p:anim calcmode="lin" valueType="num">
                                      <p:cBhvr>
                                        <p:cTn id="14" dur="1000" fill="hold"/>
                                        <p:tgtEl>
                                          <p:spTgt spid="52228">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52228">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5222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grpId="0" nodeType="clickEffect">
                                  <p:stCondLst>
                                    <p:cond delay="0"/>
                                  </p:stCondLst>
                                  <p:childTnLst>
                                    <p:set>
                                      <p:cBhvr>
                                        <p:cTn id="20" dur="1" fill="hold">
                                          <p:stCondLst>
                                            <p:cond delay="0"/>
                                          </p:stCondLst>
                                        </p:cTn>
                                        <p:tgtEl>
                                          <p:spTgt spid="52228">
                                            <p:txEl>
                                              <p:pRg st="2" end="2"/>
                                            </p:txEl>
                                          </p:spTgt>
                                        </p:tgtEl>
                                        <p:attrNameLst>
                                          <p:attrName>style.visibility</p:attrName>
                                        </p:attrNameLst>
                                      </p:cBhvr>
                                      <p:to>
                                        <p:strVal val="visible"/>
                                      </p:to>
                                    </p:set>
                                    <p:anim calcmode="lin" valueType="num">
                                      <p:cBhvr>
                                        <p:cTn id="21" dur="1000" fill="hold"/>
                                        <p:tgtEl>
                                          <p:spTgt spid="52228">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52228">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5222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grpId="0" nodeType="clickEffect">
                                  <p:stCondLst>
                                    <p:cond delay="0"/>
                                  </p:stCondLst>
                                  <p:childTnLst>
                                    <p:set>
                                      <p:cBhvr>
                                        <p:cTn id="27" dur="1" fill="hold">
                                          <p:stCondLst>
                                            <p:cond delay="0"/>
                                          </p:stCondLst>
                                        </p:cTn>
                                        <p:tgtEl>
                                          <p:spTgt spid="52228">
                                            <p:txEl>
                                              <p:pRg st="3" end="3"/>
                                            </p:txEl>
                                          </p:spTgt>
                                        </p:tgtEl>
                                        <p:attrNameLst>
                                          <p:attrName>style.visibility</p:attrName>
                                        </p:attrNameLst>
                                      </p:cBhvr>
                                      <p:to>
                                        <p:strVal val="visible"/>
                                      </p:to>
                                    </p:set>
                                    <p:anim calcmode="lin" valueType="num">
                                      <p:cBhvr>
                                        <p:cTn id="28" dur="1000" fill="hold"/>
                                        <p:tgtEl>
                                          <p:spTgt spid="52228">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52228">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52228">
                                            <p:txEl>
                                              <p:pRg st="3" end="3"/>
                                            </p:txEl>
                                          </p:spTgt>
                                        </p:tgtEl>
                                      </p:cBhvr>
                                    </p:animEffect>
                                  </p:childTnLst>
                                </p:cTn>
                              </p:par>
                              <p:par>
                                <p:cTn id="31" presetID="29" presetClass="entr" presetSubtype="0" fill="hold" grpId="0" nodeType="withEffect">
                                  <p:stCondLst>
                                    <p:cond delay="0"/>
                                  </p:stCondLst>
                                  <p:childTnLst>
                                    <p:set>
                                      <p:cBhvr>
                                        <p:cTn id="32" dur="1" fill="hold">
                                          <p:stCondLst>
                                            <p:cond delay="0"/>
                                          </p:stCondLst>
                                        </p:cTn>
                                        <p:tgtEl>
                                          <p:spTgt spid="52228">
                                            <p:txEl>
                                              <p:pRg st="4" end="4"/>
                                            </p:txEl>
                                          </p:spTgt>
                                        </p:tgtEl>
                                        <p:attrNameLst>
                                          <p:attrName>style.visibility</p:attrName>
                                        </p:attrNameLst>
                                      </p:cBhvr>
                                      <p:to>
                                        <p:strVal val="visible"/>
                                      </p:to>
                                    </p:set>
                                    <p:anim calcmode="lin" valueType="num">
                                      <p:cBhvr>
                                        <p:cTn id="33" dur="1000" fill="hold"/>
                                        <p:tgtEl>
                                          <p:spTgt spid="52228">
                                            <p:txEl>
                                              <p:pRg st="4" end="4"/>
                                            </p:txEl>
                                          </p:spTgt>
                                        </p:tgtEl>
                                        <p:attrNameLst>
                                          <p:attrName>ppt_x</p:attrName>
                                        </p:attrNameLst>
                                      </p:cBhvr>
                                      <p:tavLst>
                                        <p:tav tm="0">
                                          <p:val>
                                            <p:strVal val="#ppt_x-.2"/>
                                          </p:val>
                                        </p:tav>
                                        <p:tav tm="100000">
                                          <p:val>
                                            <p:strVal val="#ppt_x"/>
                                          </p:val>
                                        </p:tav>
                                      </p:tavLst>
                                    </p:anim>
                                    <p:anim calcmode="lin" valueType="num">
                                      <p:cBhvr>
                                        <p:cTn id="34" dur="1000" fill="hold"/>
                                        <p:tgtEl>
                                          <p:spTgt spid="52228">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5" dur="1000"/>
                                        <p:tgtEl>
                                          <p:spTgt spid="5222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13834"/>
            <a:ext cx="8229600" cy="839787"/>
          </a:xfrm>
        </p:spPr>
        <p:txBody>
          <a:bodyPr>
            <a:normAutofit/>
          </a:bodyPr>
          <a:lstStyle/>
          <a:p>
            <a:r>
              <a:rPr lang="en-US" dirty="0"/>
              <a:t>Reading a file line by line</a:t>
            </a:r>
          </a:p>
        </p:txBody>
      </p:sp>
      <p:sp>
        <p:nvSpPr>
          <p:cNvPr id="52228" name="Rectangle 3"/>
          <p:cNvSpPr>
            <a:spLocks noGrp="1" noChangeArrowheads="1"/>
          </p:cNvSpPr>
          <p:nvPr>
            <p:ph idx="1"/>
          </p:nvPr>
        </p:nvSpPr>
        <p:spPr>
          <a:xfrm>
            <a:off x="505327" y="932995"/>
            <a:ext cx="8229600" cy="5467804"/>
          </a:xfrm>
        </p:spPr>
        <p:txBody>
          <a:bodyPr>
            <a:normAutofit fontScale="92500" lnSpcReduction="20000"/>
          </a:bodyPr>
          <a:lstStyle/>
          <a:p>
            <a:r>
              <a:rPr lang="en-US" dirty="0"/>
              <a:t>The </a:t>
            </a:r>
            <a:r>
              <a:rPr lang="en-US" b="1" dirty="0" err="1">
                <a:solidFill>
                  <a:srgbClr val="C00000"/>
                </a:solidFill>
              </a:rPr>
              <a:t>fgets</a:t>
            </a:r>
            <a:r>
              <a:rPr lang="en-US" b="1" dirty="0">
                <a:solidFill>
                  <a:srgbClr val="C00000"/>
                </a:solidFill>
              </a:rPr>
              <a:t>() </a:t>
            </a:r>
            <a:r>
              <a:rPr lang="en-US" dirty="0"/>
              <a:t>function is used to read a single line from a file.</a:t>
            </a:r>
          </a:p>
          <a:p>
            <a:r>
              <a:rPr lang="en-US" b="1" dirty="0">
                <a:solidFill>
                  <a:srgbClr val="C00000"/>
                </a:solidFill>
              </a:rPr>
              <a:t>Note: </a:t>
            </a:r>
            <a:r>
              <a:rPr lang="en-US" dirty="0"/>
              <a:t>After a call to this function the file pointer has moved to the next line. </a:t>
            </a:r>
          </a:p>
          <a:p>
            <a:r>
              <a:rPr lang="en-US" dirty="0"/>
              <a:t>Example:</a:t>
            </a:r>
          </a:p>
          <a:p>
            <a:pPr lvl="1"/>
            <a:r>
              <a:rPr lang="en-US" dirty="0"/>
              <a:t>The example below reads a file line by line, until the end of file is reached:</a:t>
            </a:r>
          </a:p>
          <a:p>
            <a:pPr marL="457200" lvl="1" indent="0">
              <a:buNone/>
            </a:pPr>
            <a:r>
              <a:rPr lang="en-US" b="1" dirty="0">
                <a:solidFill>
                  <a:srgbClr val="C00000"/>
                </a:solidFill>
              </a:rPr>
              <a:t>&lt;?</a:t>
            </a:r>
            <a:r>
              <a:rPr lang="en-US" b="1" dirty="0" err="1">
                <a:solidFill>
                  <a:srgbClr val="C00000"/>
                </a:solidFill>
              </a:rPr>
              <a:t>php</a:t>
            </a:r>
            <a:r>
              <a:rPr lang="en-US" b="1" dirty="0">
                <a:solidFill>
                  <a:srgbClr val="C00000"/>
                </a:solidFill>
              </a:rPr>
              <a:t> </a:t>
            </a:r>
          </a:p>
          <a:p>
            <a:pPr marL="457200" lvl="1" indent="0">
              <a:buNone/>
            </a:pPr>
            <a:r>
              <a:rPr lang="en-US" b="1" dirty="0">
                <a:solidFill>
                  <a:srgbClr val="C00000"/>
                </a:solidFill>
              </a:rPr>
              <a:t>    $file = </a:t>
            </a:r>
            <a:r>
              <a:rPr lang="en-US" b="1" dirty="0" err="1">
                <a:solidFill>
                  <a:srgbClr val="C00000"/>
                </a:solidFill>
              </a:rPr>
              <a:t>fopen</a:t>
            </a:r>
            <a:r>
              <a:rPr lang="en-US" b="1" dirty="0">
                <a:solidFill>
                  <a:srgbClr val="C00000"/>
                </a:solidFill>
              </a:rPr>
              <a:t>(“guest.txt”, “r”) or exit(“Unable to open file!”); </a:t>
            </a:r>
          </a:p>
          <a:p>
            <a:pPr marL="457200" lvl="1" indent="0">
              <a:buNone/>
            </a:pPr>
            <a:r>
              <a:rPr lang="en-US" b="1" dirty="0">
                <a:solidFill>
                  <a:srgbClr val="C00000"/>
                </a:solidFill>
              </a:rPr>
              <a:t>//Output a line of the file until the end is reached </a:t>
            </a:r>
          </a:p>
          <a:p>
            <a:pPr marL="457200" lvl="1" indent="0">
              <a:buNone/>
            </a:pPr>
            <a:r>
              <a:rPr lang="en-US" b="1" dirty="0">
                <a:solidFill>
                  <a:srgbClr val="C00000"/>
                </a:solidFill>
              </a:rPr>
              <a:t>     while(!</a:t>
            </a:r>
            <a:r>
              <a:rPr lang="en-US" b="1" dirty="0" err="1">
                <a:solidFill>
                  <a:srgbClr val="C00000"/>
                </a:solidFill>
              </a:rPr>
              <a:t>feof</a:t>
            </a:r>
            <a:r>
              <a:rPr lang="en-US" b="1" dirty="0">
                <a:solidFill>
                  <a:srgbClr val="C00000"/>
                </a:solidFill>
              </a:rPr>
              <a:t>($file))</a:t>
            </a:r>
          </a:p>
          <a:p>
            <a:pPr marL="457200" lvl="1" indent="0">
              <a:buNone/>
            </a:pPr>
            <a:r>
              <a:rPr lang="en-US" b="1" dirty="0">
                <a:solidFill>
                  <a:srgbClr val="C00000"/>
                </a:solidFill>
              </a:rPr>
              <a:t>        { </a:t>
            </a:r>
          </a:p>
          <a:p>
            <a:pPr marL="457200" lvl="1" indent="0">
              <a:buNone/>
            </a:pPr>
            <a:r>
              <a:rPr lang="en-US" b="1" dirty="0">
                <a:solidFill>
                  <a:srgbClr val="C00000"/>
                </a:solidFill>
              </a:rPr>
              <a:t>             echo </a:t>
            </a:r>
            <a:r>
              <a:rPr lang="en-US" b="1" dirty="0" err="1">
                <a:solidFill>
                  <a:srgbClr val="C00000"/>
                </a:solidFill>
              </a:rPr>
              <a:t>fgets</a:t>
            </a:r>
            <a:r>
              <a:rPr lang="en-US" b="1" dirty="0">
                <a:solidFill>
                  <a:srgbClr val="C00000"/>
                </a:solidFill>
              </a:rPr>
              <a:t>($file). "&lt;</a:t>
            </a:r>
            <a:r>
              <a:rPr lang="en-US" b="1" dirty="0" err="1">
                <a:solidFill>
                  <a:srgbClr val="C00000"/>
                </a:solidFill>
              </a:rPr>
              <a:t>br</a:t>
            </a:r>
            <a:r>
              <a:rPr lang="en-US" b="1" dirty="0">
                <a:solidFill>
                  <a:srgbClr val="C00000"/>
                </a:solidFill>
              </a:rPr>
              <a:t> /&gt;"; </a:t>
            </a:r>
          </a:p>
          <a:p>
            <a:pPr marL="457200" lvl="1" indent="0">
              <a:buNone/>
            </a:pPr>
            <a:r>
              <a:rPr lang="en-US" b="1" dirty="0">
                <a:solidFill>
                  <a:srgbClr val="C00000"/>
                </a:solidFill>
              </a:rPr>
              <a:t>        }</a:t>
            </a:r>
          </a:p>
          <a:p>
            <a:pPr marL="457200" lvl="1" indent="0">
              <a:buNone/>
            </a:pPr>
            <a:r>
              <a:rPr lang="en-US" b="1" dirty="0">
                <a:solidFill>
                  <a:srgbClr val="C00000"/>
                </a:solidFill>
              </a:rPr>
              <a:t>    </a:t>
            </a:r>
            <a:r>
              <a:rPr lang="en-US" b="1" dirty="0" err="1">
                <a:solidFill>
                  <a:srgbClr val="C00000"/>
                </a:solidFill>
              </a:rPr>
              <a:t>fclose</a:t>
            </a:r>
            <a:r>
              <a:rPr lang="en-US" b="1" dirty="0">
                <a:solidFill>
                  <a:srgbClr val="C00000"/>
                </a:solidFill>
              </a:rPr>
              <a:t>($file); </a:t>
            </a:r>
          </a:p>
          <a:p>
            <a:pPr marL="457200" lvl="1" indent="0">
              <a:buNone/>
            </a:pPr>
            <a:r>
              <a:rPr lang="en-US" b="1" dirty="0">
                <a:solidFill>
                  <a:srgbClr val="C00000"/>
                </a:solidFill>
              </a:rPr>
              <a:t>?&gt;</a:t>
            </a:r>
          </a:p>
        </p:txBody>
      </p:sp>
      <p:sp>
        <p:nvSpPr>
          <p:cNvPr id="4" name="Slide Number Placeholder 3">
            <a:extLst>
              <a:ext uri="{FF2B5EF4-FFF2-40B4-BE49-F238E27FC236}">
                <a16:creationId xmlns:a16="http://schemas.microsoft.com/office/drawing/2014/main" id="{8011BB35-9E3A-4BEF-8745-8753907AF0D1}"/>
              </a:ext>
            </a:extLst>
          </p:cNvPr>
          <p:cNvSpPr>
            <a:spLocks noGrp="1"/>
          </p:cNvSpPr>
          <p:nvPr>
            <p:ph type="sldNum" sz="quarter" idx="12"/>
          </p:nvPr>
        </p:nvSpPr>
        <p:spPr/>
        <p:txBody>
          <a:bodyPr/>
          <a:lstStyle/>
          <a:p>
            <a:pPr>
              <a:defRPr/>
            </a:pPr>
            <a:fld id="{2807F527-F93A-4DFB-A6A5-8EC3CE84B904}" type="slidenum">
              <a:rPr lang="en-US" altLang="en-US" smtClean="0"/>
              <a:pPr>
                <a:defRPr/>
              </a:pPr>
              <a:t>15</a:t>
            </a:fld>
            <a:endParaRPr lang="en-US" altLang="en-US"/>
          </a:p>
        </p:txBody>
      </p:sp>
    </p:spTree>
    <p:extLst>
      <p:ext uri="{BB962C8B-B14F-4D97-AF65-F5344CB8AC3E}">
        <p14:creationId xmlns:p14="http://schemas.microsoft.com/office/powerpoint/2010/main" val="45185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 calcmode="lin" valueType="num">
                                      <p:cBhvr>
                                        <p:cTn id="7" dur="1000" fill="hold"/>
                                        <p:tgtEl>
                                          <p:spTgt spid="52228">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52228">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222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52228">
                                            <p:txEl>
                                              <p:pRg st="1" end="1"/>
                                            </p:txEl>
                                          </p:spTgt>
                                        </p:tgtEl>
                                        <p:attrNameLst>
                                          <p:attrName>style.visibility</p:attrName>
                                        </p:attrNameLst>
                                      </p:cBhvr>
                                      <p:to>
                                        <p:strVal val="visible"/>
                                      </p:to>
                                    </p:set>
                                    <p:anim calcmode="lin" valueType="num">
                                      <p:cBhvr>
                                        <p:cTn id="14" dur="1000" fill="hold"/>
                                        <p:tgtEl>
                                          <p:spTgt spid="52228">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52228">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5222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grpId="0" nodeType="clickEffect">
                                  <p:stCondLst>
                                    <p:cond delay="0"/>
                                  </p:stCondLst>
                                  <p:childTnLst>
                                    <p:set>
                                      <p:cBhvr>
                                        <p:cTn id="20" dur="1" fill="hold">
                                          <p:stCondLst>
                                            <p:cond delay="0"/>
                                          </p:stCondLst>
                                        </p:cTn>
                                        <p:tgtEl>
                                          <p:spTgt spid="52228">
                                            <p:txEl>
                                              <p:pRg st="2" end="2"/>
                                            </p:txEl>
                                          </p:spTgt>
                                        </p:tgtEl>
                                        <p:attrNameLst>
                                          <p:attrName>style.visibility</p:attrName>
                                        </p:attrNameLst>
                                      </p:cBhvr>
                                      <p:to>
                                        <p:strVal val="visible"/>
                                      </p:to>
                                    </p:set>
                                    <p:anim calcmode="lin" valueType="num">
                                      <p:cBhvr>
                                        <p:cTn id="21" dur="1000" fill="hold"/>
                                        <p:tgtEl>
                                          <p:spTgt spid="52228">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52228">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52228">
                                            <p:txEl>
                                              <p:pRg st="2" end="2"/>
                                            </p:txEl>
                                          </p:spTgt>
                                        </p:tgtEl>
                                      </p:cBhvr>
                                    </p:animEffect>
                                  </p:childTnLst>
                                </p:cTn>
                              </p:par>
                              <p:par>
                                <p:cTn id="24" presetID="29" presetClass="entr" presetSubtype="0" fill="hold" grpId="0" nodeType="withEffect">
                                  <p:stCondLst>
                                    <p:cond delay="0"/>
                                  </p:stCondLst>
                                  <p:childTnLst>
                                    <p:set>
                                      <p:cBhvr>
                                        <p:cTn id="25" dur="1" fill="hold">
                                          <p:stCondLst>
                                            <p:cond delay="0"/>
                                          </p:stCondLst>
                                        </p:cTn>
                                        <p:tgtEl>
                                          <p:spTgt spid="52228">
                                            <p:txEl>
                                              <p:pRg st="3" end="3"/>
                                            </p:txEl>
                                          </p:spTgt>
                                        </p:tgtEl>
                                        <p:attrNameLst>
                                          <p:attrName>style.visibility</p:attrName>
                                        </p:attrNameLst>
                                      </p:cBhvr>
                                      <p:to>
                                        <p:strVal val="visible"/>
                                      </p:to>
                                    </p:set>
                                    <p:anim calcmode="lin" valueType="num">
                                      <p:cBhvr>
                                        <p:cTn id="26" dur="1000" fill="hold"/>
                                        <p:tgtEl>
                                          <p:spTgt spid="52228">
                                            <p:txEl>
                                              <p:pRg st="3" end="3"/>
                                            </p:txEl>
                                          </p:spTgt>
                                        </p:tgtEl>
                                        <p:attrNameLst>
                                          <p:attrName>ppt_x</p:attrName>
                                        </p:attrNameLst>
                                      </p:cBhvr>
                                      <p:tavLst>
                                        <p:tav tm="0">
                                          <p:val>
                                            <p:strVal val="#ppt_x-.2"/>
                                          </p:val>
                                        </p:tav>
                                        <p:tav tm="100000">
                                          <p:val>
                                            <p:strVal val="#ppt_x"/>
                                          </p:val>
                                        </p:tav>
                                      </p:tavLst>
                                    </p:anim>
                                    <p:anim calcmode="lin" valueType="num">
                                      <p:cBhvr>
                                        <p:cTn id="27" dur="1000" fill="hold"/>
                                        <p:tgtEl>
                                          <p:spTgt spid="52228">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8" dur="1000"/>
                                        <p:tgtEl>
                                          <p:spTgt spid="52228">
                                            <p:txEl>
                                              <p:pRg st="3" end="3"/>
                                            </p:txEl>
                                          </p:spTgt>
                                        </p:tgtEl>
                                      </p:cBhvr>
                                    </p:animEffect>
                                  </p:childTnLst>
                                </p:cTn>
                              </p:par>
                              <p:par>
                                <p:cTn id="29" presetID="29" presetClass="entr" presetSubtype="0" fill="hold" grpId="0" nodeType="withEffect">
                                  <p:stCondLst>
                                    <p:cond delay="0"/>
                                  </p:stCondLst>
                                  <p:childTnLst>
                                    <p:set>
                                      <p:cBhvr>
                                        <p:cTn id="30" dur="1" fill="hold">
                                          <p:stCondLst>
                                            <p:cond delay="0"/>
                                          </p:stCondLst>
                                        </p:cTn>
                                        <p:tgtEl>
                                          <p:spTgt spid="52228">
                                            <p:txEl>
                                              <p:pRg st="4" end="4"/>
                                            </p:txEl>
                                          </p:spTgt>
                                        </p:tgtEl>
                                        <p:attrNameLst>
                                          <p:attrName>style.visibility</p:attrName>
                                        </p:attrNameLst>
                                      </p:cBhvr>
                                      <p:to>
                                        <p:strVal val="visible"/>
                                      </p:to>
                                    </p:set>
                                    <p:anim calcmode="lin" valueType="num">
                                      <p:cBhvr>
                                        <p:cTn id="31" dur="1000" fill="hold"/>
                                        <p:tgtEl>
                                          <p:spTgt spid="52228">
                                            <p:txEl>
                                              <p:pRg st="4" end="4"/>
                                            </p:txEl>
                                          </p:spTgt>
                                        </p:tgtEl>
                                        <p:attrNameLst>
                                          <p:attrName>ppt_x</p:attrName>
                                        </p:attrNameLst>
                                      </p:cBhvr>
                                      <p:tavLst>
                                        <p:tav tm="0">
                                          <p:val>
                                            <p:strVal val="#ppt_x-.2"/>
                                          </p:val>
                                        </p:tav>
                                        <p:tav tm="100000">
                                          <p:val>
                                            <p:strVal val="#ppt_x"/>
                                          </p:val>
                                        </p:tav>
                                      </p:tavLst>
                                    </p:anim>
                                    <p:anim calcmode="lin" valueType="num">
                                      <p:cBhvr>
                                        <p:cTn id="32" dur="1000" fill="hold"/>
                                        <p:tgtEl>
                                          <p:spTgt spid="52228">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3" dur="1000"/>
                                        <p:tgtEl>
                                          <p:spTgt spid="52228">
                                            <p:txEl>
                                              <p:pRg st="4" end="4"/>
                                            </p:txEl>
                                          </p:spTgt>
                                        </p:tgtEl>
                                      </p:cBhvr>
                                    </p:animEffect>
                                  </p:childTnLst>
                                </p:cTn>
                              </p:par>
                              <p:par>
                                <p:cTn id="34" presetID="29" presetClass="entr" presetSubtype="0" fill="hold" grpId="0" nodeType="withEffect">
                                  <p:stCondLst>
                                    <p:cond delay="0"/>
                                  </p:stCondLst>
                                  <p:childTnLst>
                                    <p:set>
                                      <p:cBhvr>
                                        <p:cTn id="35" dur="1" fill="hold">
                                          <p:stCondLst>
                                            <p:cond delay="0"/>
                                          </p:stCondLst>
                                        </p:cTn>
                                        <p:tgtEl>
                                          <p:spTgt spid="52228">
                                            <p:txEl>
                                              <p:pRg st="5" end="5"/>
                                            </p:txEl>
                                          </p:spTgt>
                                        </p:tgtEl>
                                        <p:attrNameLst>
                                          <p:attrName>style.visibility</p:attrName>
                                        </p:attrNameLst>
                                      </p:cBhvr>
                                      <p:to>
                                        <p:strVal val="visible"/>
                                      </p:to>
                                    </p:set>
                                    <p:anim calcmode="lin" valueType="num">
                                      <p:cBhvr>
                                        <p:cTn id="36" dur="1000" fill="hold"/>
                                        <p:tgtEl>
                                          <p:spTgt spid="52228">
                                            <p:txEl>
                                              <p:pRg st="5" end="5"/>
                                            </p:txEl>
                                          </p:spTgt>
                                        </p:tgtEl>
                                        <p:attrNameLst>
                                          <p:attrName>ppt_x</p:attrName>
                                        </p:attrNameLst>
                                      </p:cBhvr>
                                      <p:tavLst>
                                        <p:tav tm="0">
                                          <p:val>
                                            <p:strVal val="#ppt_x-.2"/>
                                          </p:val>
                                        </p:tav>
                                        <p:tav tm="100000">
                                          <p:val>
                                            <p:strVal val="#ppt_x"/>
                                          </p:val>
                                        </p:tav>
                                      </p:tavLst>
                                    </p:anim>
                                    <p:anim calcmode="lin" valueType="num">
                                      <p:cBhvr>
                                        <p:cTn id="37" dur="1000" fill="hold"/>
                                        <p:tgtEl>
                                          <p:spTgt spid="52228">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8" dur="1000"/>
                                        <p:tgtEl>
                                          <p:spTgt spid="52228">
                                            <p:txEl>
                                              <p:pRg st="5" end="5"/>
                                            </p:txEl>
                                          </p:spTgt>
                                        </p:tgtEl>
                                      </p:cBhvr>
                                    </p:animEffect>
                                  </p:childTnLst>
                                </p:cTn>
                              </p:par>
                              <p:par>
                                <p:cTn id="39" presetID="29" presetClass="entr" presetSubtype="0" fill="hold" grpId="0" nodeType="withEffect">
                                  <p:stCondLst>
                                    <p:cond delay="0"/>
                                  </p:stCondLst>
                                  <p:childTnLst>
                                    <p:set>
                                      <p:cBhvr>
                                        <p:cTn id="40" dur="1" fill="hold">
                                          <p:stCondLst>
                                            <p:cond delay="0"/>
                                          </p:stCondLst>
                                        </p:cTn>
                                        <p:tgtEl>
                                          <p:spTgt spid="52228">
                                            <p:txEl>
                                              <p:pRg st="6" end="6"/>
                                            </p:txEl>
                                          </p:spTgt>
                                        </p:tgtEl>
                                        <p:attrNameLst>
                                          <p:attrName>style.visibility</p:attrName>
                                        </p:attrNameLst>
                                      </p:cBhvr>
                                      <p:to>
                                        <p:strVal val="visible"/>
                                      </p:to>
                                    </p:set>
                                    <p:anim calcmode="lin" valueType="num">
                                      <p:cBhvr>
                                        <p:cTn id="41" dur="1000" fill="hold"/>
                                        <p:tgtEl>
                                          <p:spTgt spid="52228">
                                            <p:txEl>
                                              <p:pRg st="6" end="6"/>
                                            </p:txEl>
                                          </p:spTgt>
                                        </p:tgtEl>
                                        <p:attrNameLst>
                                          <p:attrName>ppt_x</p:attrName>
                                        </p:attrNameLst>
                                      </p:cBhvr>
                                      <p:tavLst>
                                        <p:tav tm="0">
                                          <p:val>
                                            <p:strVal val="#ppt_x-.2"/>
                                          </p:val>
                                        </p:tav>
                                        <p:tav tm="100000">
                                          <p:val>
                                            <p:strVal val="#ppt_x"/>
                                          </p:val>
                                        </p:tav>
                                      </p:tavLst>
                                    </p:anim>
                                    <p:anim calcmode="lin" valueType="num">
                                      <p:cBhvr>
                                        <p:cTn id="42" dur="1000" fill="hold"/>
                                        <p:tgtEl>
                                          <p:spTgt spid="52228">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52228">
                                            <p:txEl>
                                              <p:pRg st="6" end="6"/>
                                            </p:txEl>
                                          </p:spTgt>
                                        </p:tgtEl>
                                      </p:cBhvr>
                                    </p:animEffect>
                                  </p:childTnLst>
                                </p:cTn>
                              </p:par>
                              <p:par>
                                <p:cTn id="44" presetID="29" presetClass="entr" presetSubtype="0" fill="hold" grpId="0" nodeType="withEffect">
                                  <p:stCondLst>
                                    <p:cond delay="0"/>
                                  </p:stCondLst>
                                  <p:childTnLst>
                                    <p:set>
                                      <p:cBhvr>
                                        <p:cTn id="45" dur="1" fill="hold">
                                          <p:stCondLst>
                                            <p:cond delay="0"/>
                                          </p:stCondLst>
                                        </p:cTn>
                                        <p:tgtEl>
                                          <p:spTgt spid="52228">
                                            <p:txEl>
                                              <p:pRg st="7" end="7"/>
                                            </p:txEl>
                                          </p:spTgt>
                                        </p:tgtEl>
                                        <p:attrNameLst>
                                          <p:attrName>style.visibility</p:attrName>
                                        </p:attrNameLst>
                                      </p:cBhvr>
                                      <p:to>
                                        <p:strVal val="visible"/>
                                      </p:to>
                                    </p:set>
                                    <p:anim calcmode="lin" valueType="num">
                                      <p:cBhvr>
                                        <p:cTn id="46" dur="1000" fill="hold"/>
                                        <p:tgtEl>
                                          <p:spTgt spid="52228">
                                            <p:txEl>
                                              <p:pRg st="7" end="7"/>
                                            </p:txEl>
                                          </p:spTgt>
                                        </p:tgtEl>
                                        <p:attrNameLst>
                                          <p:attrName>ppt_x</p:attrName>
                                        </p:attrNameLst>
                                      </p:cBhvr>
                                      <p:tavLst>
                                        <p:tav tm="0">
                                          <p:val>
                                            <p:strVal val="#ppt_x-.2"/>
                                          </p:val>
                                        </p:tav>
                                        <p:tav tm="100000">
                                          <p:val>
                                            <p:strVal val="#ppt_x"/>
                                          </p:val>
                                        </p:tav>
                                      </p:tavLst>
                                    </p:anim>
                                    <p:anim calcmode="lin" valueType="num">
                                      <p:cBhvr>
                                        <p:cTn id="47" dur="1000" fill="hold"/>
                                        <p:tgtEl>
                                          <p:spTgt spid="52228">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8" dur="1000"/>
                                        <p:tgtEl>
                                          <p:spTgt spid="52228">
                                            <p:txEl>
                                              <p:pRg st="7" end="7"/>
                                            </p:txEl>
                                          </p:spTgt>
                                        </p:tgtEl>
                                      </p:cBhvr>
                                    </p:animEffect>
                                  </p:childTnLst>
                                </p:cTn>
                              </p:par>
                              <p:par>
                                <p:cTn id="49" presetID="29" presetClass="entr" presetSubtype="0" fill="hold" grpId="0" nodeType="withEffect">
                                  <p:stCondLst>
                                    <p:cond delay="0"/>
                                  </p:stCondLst>
                                  <p:childTnLst>
                                    <p:set>
                                      <p:cBhvr>
                                        <p:cTn id="50" dur="1" fill="hold">
                                          <p:stCondLst>
                                            <p:cond delay="0"/>
                                          </p:stCondLst>
                                        </p:cTn>
                                        <p:tgtEl>
                                          <p:spTgt spid="52228">
                                            <p:txEl>
                                              <p:pRg st="8" end="8"/>
                                            </p:txEl>
                                          </p:spTgt>
                                        </p:tgtEl>
                                        <p:attrNameLst>
                                          <p:attrName>style.visibility</p:attrName>
                                        </p:attrNameLst>
                                      </p:cBhvr>
                                      <p:to>
                                        <p:strVal val="visible"/>
                                      </p:to>
                                    </p:set>
                                    <p:anim calcmode="lin" valueType="num">
                                      <p:cBhvr>
                                        <p:cTn id="51" dur="1000" fill="hold"/>
                                        <p:tgtEl>
                                          <p:spTgt spid="52228">
                                            <p:txEl>
                                              <p:pRg st="8" end="8"/>
                                            </p:txEl>
                                          </p:spTgt>
                                        </p:tgtEl>
                                        <p:attrNameLst>
                                          <p:attrName>ppt_x</p:attrName>
                                        </p:attrNameLst>
                                      </p:cBhvr>
                                      <p:tavLst>
                                        <p:tav tm="0">
                                          <p:val>
                                            <p:strVal val="#ppt_x-.2"/>
                                          </p:val>
                                        </p:tav>
                                        <p:tav tm="100000">
                                          <p:val>
                                            <p:strVal val="#ppt_x"/>
                                          </p:val>
                                        </p:tav>
                                      </p:tavLst>
                                    </p:anim>
                                    <p:anim calcmode="lin" valueType="num">
                                      <p:cBhvr>
                                        <p:cTn id="52" dur="1000" fill="hold"/>
                                        <p:tgtEl>
                                          <p:spTgt spid="52228">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53" dur="1000"/>
                                        <p:tgtEl>
                                          <p:spTgt spid="52228">
                                            <p:txEl>
                                              <p:pRg st="8" end="8"/>
                                            </p:txEl>
                                          </p:spTgt>
                                        </p:tgtEl>
                                      </p:cBhvr>
                                    </p:animEffect>
                                  </p:childTnLst>
                                </p:cTn>
                              </p:par>
                              <p:par>
                                <p:cTn id="54" presetID="29" presetClass="entr" presetSubtype="0" fill="hold" grpId="0" nodeType="withEffect">
                                  <p:stCondLst>
                                    <p:cond delay="0"/>
                                  </p:stCondLst>
                                  <p:childTnLst>
                                    <p:set>
                                      <p:cBhvr>
                                        <p:cTn id="55" dur="1" fill="hold">
                                          <p:stCondLst>
                                            <p:cond delay="0"/>
                                          </p:stCondLst>
                                        </p:cTn>
                                        <p:tgtEl>
                                          <p:spTgt spid="52228">
                                            <p:txEl>
                                              <p:pRg st="9" end="9"/>
                                            </p:txEl>
                                          </p:spTgt>
                                        </p:tgtEl>
                                        <p:attrNameLst>
                                          <p:attrName>style.visibility</p:attrName>
                                        </p:attrNameLst>
                                      </p:cBhvr>
                                      <p:to>
                                        <p:strVal val="visible"/>
                                      </p:to>
                                    </p:set>
                                    <p:anim calcmode="lin" valueType="num">
                                      <p:cBhvr>
                                        <p:cTn id="56" dur="1000" fill="hold"/>
                                        <p:tgtEl>
                                          <p:spTgt spid="52228">
                                            <p:txEl>
                                              <p:pRg st="9" end="9"/>
                                            </p:txEl>
                                          </p:spTgt>
                                        </p:tgtEl>
                                        <p:attrNameLst>
                                          <p:attrName>ppt_x</p:attrName>
                                        </p:attrNameLst>
                                      </p:cBhvr>
                                      <p:tavLst>
                                        <p:tav tm="0">
                                          <p:val>
                                            <p:strVal val="#ppt_x-.2"/>
                                          </p:val>
                                        </p:tav>
                                        <p:tav tm="100000">
                                          <p:val>
                                            <p:strVal val="#ppt_x"/>
                                          </p:val>
                                        </p:tav>
                                      </p:tavLst>
                                    </p:anim>
                                    <p:anim calcmode="lin" valueType="num">
                                      <p:cBhvr>
                                        <p:cTn id="57" dur="1000" fill="hold"/>
                                        <p:tgtEl>
                                          <p:spTgt spid="52228">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52228">
                                            <p:txEl>
                                              <p:pRg st="9" end="9"/>
                                            </p:txEl>
                                          </p:spTgt>
                                        </p:tgtEl>
                                      </p:cBhvr>
                                    </p:animEffect>
                                  </p:childTnLst>
                                </p:cTn>
                              </p:par>
                              <p:par>
                                <p:cTn id="59" presetID="29" presetClass="entr" presetSubtype="0" fill="hold" grpId="0" nodeType="withEffect">
                                  <p:stCondLst>
                                    <p:cond delay="0"/>
                                  </p:stCondLst>
                                  <p:childTnLst>
                                    <p:set>
                                      <p:cBhvr>
                                        <p:cTn id="60" dur="1" fill="hold">
                                          <p:stCondLst>
                                            <p:cond delay="0"/>
                                          </p:stCondLst>
                                        </p:cTn>
                                        <p:tgtEl>
                                          <p:spTgt spid="52228">
                                            <p:txEl>
                                              <p:pRg st="10" end="10"/>
                                            </p:txEl>
                                          </p:spTgt>
                                        </p:tgtEl>
                                        <p:attrNameLst>
                                          <p:attrName>style.visibility</p:attrName>
                                        </p:attrNameLst>
                                      </p:cBhvr>
                                      <p:to>
                                        <p:strVal val="visible"/>
                                      </p:to>
                                    </p:set>
                                    <p:anim calcmode="lin" valueType="num">
                                      <p:cBhvr>
                                        <p:cTn id="61" dur="1000" fill="hold"/>
                                        <p:tgtEl>
                                          <p:spTgt spid="52228">
                                            <p:txEl>
                                              <p:pRg st="10" end="10"/>
                                            </p:txEl>
                                          </p:spTgt>
                                        </p:tgtEl>
                                        <p:attrNameLst>
                                          <p:attrName>ppt_x</p:attrName>
                                        </p:attrNameLst>
                                      </p:cBhvr>
                                      <p:tavLst>
                                        <p:tav tm="0">
                                          <p:val>
                                            <p:strVal val="#ppt_x-.2"/>
                                          </p:val>
                                        </p:tav>
                                        <p:tav tm="100000">
                                          <p:val>
                                            <p:strVal val="#ppt_x"/>
                                          </p:val>
                                        </p:tav>
                                      </p:tavLst>
                                    </p:anim>
                                    <p:anim calcmode="lin" valueType="num">
                                      <p:cBhvr>
                                        <p:cTn id="62" dur="1000" fill="hold"/>
                                        <p:tgtEl>
                                          <p:spTgt spid="52228">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63" dur="1000"/>
                                        <p:tgtEl>
                                          <p:spTgt spid="52228">
                                            <p:txEl>
                                              <p:pRg st="10" end="10"/>
                                            </p:txEl>
                                          </p:spTgt>
                                        </p:tgtEl>
                                      </p:cBhvr>
                                    </p:animEffect>
                                  </p:childTnLst>
                                </p:cTn>
                              </p:par>
                              <p:par>
                                <p:cTn id="64" presetID="29" presetClass="entr" presetSubtype="0" fill="hold" grpId="0" nodeType="withEffect">
                                  <p:stCondLst>
                                    <p:cond delay="0"/>
                                  </p:stCondLst>
                                  <p:childTnLst>
                                    <p:set>
                                      <p:cBhvr>
                                        <p:cTn id="65" dur="1" fill="hold">
                                          <p:stCondLst>
                                            <p:cond delay="0"/>
                                          </p:stCondLst>
                                        </p:cTn>
                                        <p:tgtEl>
                                          <p:spTgt spid="52228">
                                            <p:txEl>
                                              <p:pRg st="11" end="11"/>
                                            </p:txEl>
                                          </p:spTgt>
                                        </p:tgtEl>
                                        <p:attrNameLst>
                                          <p:attrName>style.visibility</p:attrName>
                                        </p:attrNameLst>
                                      </p:cBhvr>
                                      <p:to>
                                        <p:strVal val="visible"/>
                                      </p:to>
                                    </p:set>
                                    <p:anim calcmode="lin" valueType="num">
                                      <p:cBhvr>
                                        <p:cTn id="66" dur="1000" fill="hold"/>
                                        <p:tgtEl>
                                          <p:spTgt spid="52228">
                                            <p:txEl>
                                              <p:pRg st="11" end="11"/>
                                            </p:txEl>
                                          </p:spTgt>
                                        </p:tgtEl>
                                        <p:attrNameLst>
                                          <p:attrName>ppt_x</p:attrName>
                                        </p:attrNameLst>
                                      </p:cBhvr>
                                      <p:tavLst>
                                        <p:tav tm="0">
                                          <p:val>
                                            <p:strVal val="#ppt_x-.2"/>
                                          </p:val>
                                        </p:tav>
                                        <p:tav tm="100000">
                                          <p:val>
                                            <p:strVal val="#ppt_x"/>
                                          </p:val>
                                        </p:tav>
                                      </p:tavLst>
                                    </p:anim>
                                    <p:anim calcmode="lin" valueType="num">
                                      <p:cBhvr>
                                        <p:cTn id="67" dur="1000" fill="hold"/>
                                        <p:tgtEl>
                                          <p:spTgt spid="52228">
                                            <p:txEl>
                                              <p:pRg st="11" end="11"/>
                                            </p:txEl>
                                          </p:spTgt>
                                        </p:tgtEl>
                                        <p:attrNameLst>
                                          <p:attrName>ppt_y</p:attrName>
                                        </p:attrNameLst>
                                      </p:cBhvr>
                                      <p:tavLst>
                                        <p:tav tm="0">
                                          <p:val>
                                            <p:strVal val="#ppt_y"/>
                                          </p:val>
                                        </p:tav>
                                        <p:tav tm="100000">
                                          <p:val>
                                            <p:strVal val="#ppt_y"/>
                                          </p:val>
                                        </p:tav>
                                      </p:tavLst>
                                    </p:anim>
                                    <p:animEffect transition="in" filter="wipe(right)" prLst="gradientSize: 0.1">
                                      <p:cBhvr>
                                        <p:cTn id="68" dur="1000"/>
                                        <p:tgtEl>
                                          <p:spTgt spid="52228">
                                            <p:txEl>
                                              <p:pRg st="11" end="11"/>
                                            </p:txEl>
                                          </p:spTgt>
                                        </p:tgtEl>
                                      </p:cBhvr>
                                    </p:animEffect>
                                  </p:childTnLst>
                                </p:cTn>
                              </p:par>
                              <p:par>
                                <p:cTn id="69" presetID="29" presetClass="entr" presetSubtype="0" fill="hold" grpId="0" nodeType="withEffect">
                                  <p:stCondLst>
                                    <p:cond delay="0"/>
                                  </p:stCondLst>
                                  <p:childTnLst>
                                    <p:set>
                                      <p:cBhvr>
                                        <p:cTn id="70" dur="1" fill="hold">
                                          <p:stCondLst>
                                            <p:cond delay="0"/>
                                          </p:stCondLst>
                                        </p:cTn>
                                        <p:tgtEl>
                                          <p:spTgt spid="52228">
                                            <p:txEl>
                                              <p:pRg st="12" end="12"/>
                                            </p:txEl>
                                          </p:spTgt>
                                        </p:tgtEl>
                                        <p:attrNameLst>
                                          <p:attrName>style.visibility</p:attrName>
                                        </p:attrNameLst>
                                      </p:cBhvr>
                                      <p:to>
                                        <p:strVal val="visible"/>
                                      </p:to>
                                    </p:set>
                                    <p:anim calcmode="lin" valueType="num">
                                      <p:cBhvr>
                                        <p:cTn id="71" dur="1000" fill="hold"/>
                                        <p:tgtEl>
                                          <p:spTgt spid="52228">
                                            <p:txEl>
                                              <p:pRg st="12" end="12"/>
                                            </p:txEl>
                                          </p:spTgt>
                                        </p:tgtEl>
                                        <p:attrNameLst>
                                          <p:attrName>ppt_x</p:attrName>
                                        </p:attrNameLst>
                                      </p:cBhvr>
                                      <p:tavLst>
                                        <p:tav tm="0">
                                          <p:val>
                                            <p:strVal val="#ppt_x-.2"/>
                                          </p:val>
                                        </p:tav>
                                        <p:tav tm="100000">
                                          <p:val>
                                            <p:strVal val="#ppt_x"/>
                                          </p:val>
                                        </p:tav>
                                      </p:tavLst>
                                    </p:anim>
                                    <p:anim calcmode="lin" valueType="num">
                                      <p:cBhvr>
                                        <p:cTn id="72" dur="1000" fill="hold"/>
                                        <p:tgtEl>
                                          <p:spTgt spid="52228">
                                            <p:txEl>
                                              <p:pRg st="12" end="12"/>
                                            </p:txEl>
                                          </p:spTgt>
                                        </p:tgtEl>
                                        <p:attrNameLst>
                                          <p:attrName>ppt_y</p:attrName>
                                        </p:attrNameLst>
                                      </p:cBhvr>
                                      <p:tavLst>
                                        <p:tav tm="0">
                                          <p:val>
                                            <p:strVal val="#ppt_y"/>
                                          </p:val>
                                        </p:tav>
                                        <p:tav tm="100000">
                                          <p:val>
                                            <p:strVal val="#ppt_y"/>
                                          </p:val>
                                        </p:tav>
                                      </p:tavLst>
                                    </p:anim>
                                    <p:animEffect transition="in" filter="wipe(right)" prLst="gradientSize: 0.1">
                                      <p:cBhvr>
                                        <p:cTn id="73" dur="1000"/>
                                        <p:tgtEl>
                                          <p:spTgt spid="5222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20713"/>
            <a:ext cx="8229600" cy="839787"/>
          </a:xfrm>
        </p:spPr>
        <p:txBody>
          <a:bodyPr>
            <a:normAutofit fontScale="90000"/>
          </a:bodyPr>
          <a:lstStyle/>
          <a:p>
            <a:r>
              <a:rPr lang="en-US" dirty="0"/>
              <a:t>Reading a file character by character</a:t>
            </a:r>
          </a:p>
        </p:txBody>
      </p:sp>
      <p:sp>
        <p:nvSpPr>
          <p:cNvPr id="53252" name="Rectangle 3"/>
          <p:cNvSpPr>
            <a:spLocks noGrp="1" noChangeArrowheads="1"/>
          </p:cNvSpPr>
          <p:nvPr>
            <p:ph idx="1"/>
          </p:nvPr>
        </p:nvSpPr>
        <p:spPr>
          <a:xfrm>
            <a:off x="457200" y="866277"/>
            <a:ext cx="8229600" cy="5637652"/>
          </a:xfrm>
        </p:spPr>
        <p:txBody>
          <a:bodyPr>
            <a:normAutofit fontScale="92500" lnSpcReduction="20000"/>
          </a:bodyPr>
          <a:lstStyle/>
          <a:p>
            <a:r>
              <a:rPr lang="en-US" dirty="0"/>
              <a:t>The </a:t>
            </a:r>
            <a:r>
              <a:rPr lang="en-US" b="1" dirty="0" err="1">
                <a:solidFill>
                  <a:srgbClr val="C00000"/>
                </a:solidFill>
              </a:rPr>
              <a:t>fgetc</a:t>
            </a:r>
            <a:r>
              <a:rPr lang="en-US" b="1" dirty="0">
                <a:solidFill>
                  <a:srgbClr val="C00000"/>
                </a:solidFill>
              </a:rPr>
              <a:t>() </a:t>
            </a:r>
            <a:r>
              <a:rPr lang="en-US" dirty="0"/>
              <a:t>function is used to read a single character from a file.</a:t>
            </a:r>
          </a:p>
          <a:p>
            <a:r>
              <a:rPr lang="en-US" b="1" dirty="0">
                <a:solidFill>
                  <a:srgbClr val="C00000"/>
                </a:solidFill>
              </a:rPr>
              <a:t>Note: </a:t>
            </a:r>
            <a:r>
              <a:rPr lang="en-US" dirty="0"/>
              <a:t>After a call to this function the file pointer moves to the next character. </a:t>
            </a:r>
          </a:p>
          <a:p>
            <a:r>
              <a:rPr lang="en-US" dirty="0"/>
              <a:t>Example:</a:t>
            </a:r>
          </a:p>
          <a:p>
            <a:pPr lvl="1"/>
            <a:r>
              <a:rPr lang="en-US" sz="2500" dirty="0"/>
              <a:t>The example below reads a file character by character, until the end of file is reached:</a:t>
            </a:r>
          </a:p>
          <a:p>
            <a:pPr marL="914400" lvl="2" indent="0">
              <a:buNone/>
            </a:pPr>
            <a:r>
              <a:rPr lang="en-US" sz="2500" b="1" dirty="0">
                <a:solidFill>
                  <a:srgbClr val="C00000"/>
                </a:solidFill>
              </a:rPr>
              <a:t>&lt;?</a:t>
            </a:r>
            <a:r>
              <a:rPr lang="en-US" sz="2500" b="1" dirty="0" err="1">
                <a:solidFill>
                  <a:srgbClr val="C00000"/>
                </a:solidFill>
              </a:rPr>
              <a:t>php</a:t>
            </a:r>
            <a:r>
              <a:rPr lang="en-US" sz="2500" b="1" dirty="0">
                <a:solidFill>
                  <a:srgbClr val="C00000"/>
                </a:solidFill>
              </a:rPr>
              <a:t> </a:t>
            </a:r>
          </a:p>
          <a:p>
            <a:pPr marL="914400" lvl="2" indent="0">
              <a:buNone/>
            </a:pPr>
            <a:r>
              <a:rPr lang="en-US" sz="2500" b="1" dirty="0">
                <a:solidFill>
                  <a:srgbClr val="C00000"/>
                </a:solidFill>
              </a:rPr>
              <a:t>    $file=</a:t>
            </a:r>
            <a:r>
              <a:rPr lang="en-US" sz="2500" b="1" dirty="0" err="1">
                <a:solidFill>
                  <a:srgbClr val="C00000"/>
                </a:solidFill>
              </a:rPr>
              <a:t>fopen</a:t>
            </a:r>
            <a:r>
              <a:rPr lang="en-US" sz="2500" b="1" dirty="0">
                <a:solidFill>
                  <a:srgbClr val="C00000"/>
                </a:solidFill>
              </a:rPr>
              <a:t>("</a:t>
            </a:r>
            <a:r>
              <a:rPr lang="en-US" sz="2500" b="1" dirty="0" err="1">
                <a:solidFill>
                  <a:srgbClr val="C00000"/>
                </a:solidFill>
              </a:rPr>
              <a:t>welcome.txt","r</a:t>
            </a:r>
            <a:r>
              <a:rPr lang="en-US" sz="2500" b="1" dirty="0">
                <a:solidFill>
                  <a:srgbClr val="C00000"/>
                </a:solidFill>
              </a:rPr>
              <a:t>") or exit("Unable to open file!");</a:t>
            </a:r>
          </a:p>
          <a:p>
            <a:pPr marL="914400" lvl="2" indent="0">
              <a:buNone/>
            </a:pPr>
            <a:r>
              <a:rPr lang="en-US" sz="2500" b="1" dirty="0">
                <a:solidFill>
                  <a:srgbClr val="C00000"/>
                </a:solidFill>
              </a:rPr>
              <a:t>      while (!</a:t>
            </a:r>
            <a:r>
              <a:rPr lang="en-US" sz="2500" b="1" dirty="0" err="1">
                <a:solidFill>
                  <a:srgbClr val="C00000"/>
                </a:solidFill>
              </a:rPr>
              <a:t>feof</a:t>
            </a:r>
            <a:r>
              <a:rPr lang="en-US" sz="2500" b="1" dirty="0">
                <a:solidFill>
                  <a:srgbClr val="C00000"/>
                </a:solidFill>
              </a:rPr>
              <a:t>($file)) </a:t>
            </a:r>
          </a:p>
          <a:p>
            <a:pPr marL="914400" lvl="2" indent="0">
              <a:buNone/>
            </a:pPr>
            <a:r>
              <a:rPr lang="en-US" sz="2500" b="1" dirty="0">
                <a:solidFill>
                  <a:srgbClr val="C00000"/>
                </a:solidFill>
              </a:rPr>
              <a:t>         {</a:t>
            </a:r>
          </a:p>
          <a:p>
            <a:pPr marL="914400" lvl="2" indent="0">
              <a:buNone/>
            </a:pPr>
            <a:r>
              <a:rPr lang="en-US" sz="2500" b="1" dirty="0">
                <a:solidFill>
                  <a:srgbClr val="C00000"/>
                </a:solidFill>
              </a:rPr>
              <a:t>             echo </a:t>
            </a:r>
            <a:r>
              <a:rPr lang="en-US" sz="2500" b="1" dirty="0" err="1">
                <a:solidFill>
                  <a:srgbClr val="C00000"/>
                </a:solidFill>
              </a:rPr>
              <a:t>fgetc</a:t>
            </a:r>
            <a:r>
              <a:rPr lang="en-US" sz="2500" b="1" dirty="0">
                <a:solidFill>
                  <a:srgbClr val="C00000"/>
                </a:solidFill>
              </a:rPr>
              <a:t>($file); </a:t>
            </a:r>
          </a:p>
          <a:p>
            <a:pPr marL="914400" lvl="2" indent="0">
              <a:buNone/>
            </a:pPr>
            <a:r>
              <a:rPr lang="en-US" sz="2500" b="1" dirty="0">
                <a:solidFill>
                  <a:srgbClr val="C00000"/>
                </a:solidFill>
              </a:rPr>
              <a:t>         }</a:t>
            </a:r>
          </a:p>
          <a:p>
            <a:pPr marL="914400" lvl="2" indent="0">
              <a:buNone/>
            </a:pPr>
            <a:r>
              <a:rPr lang="en-US" sz="2500" b="1" dirty="0">
                <a:solidFill>
                  <a:srgbClr val="C00000"/>
                </a:solidFill>
              </a:rPr>
              <a:t> </a:t>
            </a:r>
            <a:r>
              <a:rPr lang="en-US" sz="2500" b="1" dirty="0" err="1">
                <a:solidFill>
                  <a:srgbClr val="C00000"/>
                </a:solidFill>
              </a:rPr>
              <a:t>fclose</a:t>
            </a:r>
            <a:r>
              <a:rPr lang="en-US" sz="2500" b="1" dirty="0">
                <a:solidFill>
                  <a:srgbClr val="C00000"/>
                </a:solidFill>
              </a:rPr>
              <a:t>($file);</a:t>
            </a:r>
          </a:p>
          <a:p>
            <a:pPr marL="914400" lvl="2" indent="0">
              <a:buNone/>
            </a:pPr>
            <a:r>
              <a:rPr lang="en-US" sz="2500" b="1" dirty="0">
                <a:solidFill>
                  <a:srgbClr val="C00000"/>
                </a:solidFill>
              </a:rPr>
              <a:t> ?&gt;</a:t>
            </a:r>
            <a:endParaRPr lang="en-US" dirty="0"/>
          </a:p>
        </p:txBody>
      </p:sp>
      <p:sp>
        <p:nvSpPr>
          <p:cNvPr id="4" name="Slide Number Placeholder 3">
            <a:extLst>
              <a:ext uri="{FF2B5EF4-FFF2-40B4-BE49-F238E27FC236}">
                <a16:creationId xmlns:a16="http://schemas.microsoft.com/office/drawing/2014/main" id="{15C7A1D9-0679-4924-AD74-A9CEE9EBE5E3}"/>
              </a:ext>
            </a:extLst>
          </p:cNvPr>
          <p:cNvSpPr>
            <a:spLocks noGrp="1"/>
          </p:cNvSpPr>
          <p:nvPr>
            <p:ph type="sldNum" sz="quarter" idx="12"/>
          </p:nvPr>
        </p:nvSpPr>
        <p:spPr/>
        <p:txBody>
          <a:bodyPr/>
          <a:lstStyle/>
          <a:p>
            <a:pPr>
              <a:defRPr/>
            </a:pPr>
            <a:fld id="{2807F527-F93A-4DFB-A6A5-8EC3CE84B904}" type="slidenum">
              <a:rPr lang="en-US" altLang="en-US" smtClean="0"/>
              <a:pPr>
                <a:defRPr/>
              </a:pPr>
              <a:t>16</a:t>
            </a:fld>
            <a:endParaRPr lang="en-US" altLang="en-US"/>
          </a:p>
        </p:txBody>
      </p:sp>
    </p:spTree>
    <p:extLst>
      <p:ext uri="{BB962C8B-B14F-4D97-AF65-F5344CB8AC3E}">
        <p14:creationId xmlns:p14="http://schemas.microsoft.com/office/powerpoint/2010/main" val="3806001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 calcmode="lin" valueType="num">
                                      <p:cBhvr>
                                        <p:cTn id="7" dur="1000" fill="hold"/>
                                        <p:tgtEl>
                                          <p:spTgt spid="53252">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53252">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5325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53252">
                                            <p:txEl>
                                              <p:pRg st="1" end="1"/>
                                            </p:txEl>
                                          </p:spTgt>
                                        </p:tgtEl>
                                        <p:attrNameLst>
                                          <p:attrName>style.visibility</p:attrName>
                                        </p:attrNameLst>
                                      </p:cBhvr>
                                      <p:to>
                                        <p:strVal val="visible"/>
                                      </p:to>
                                    </p:set>
                                    <p:anim calcmode="lin" valueType="num">
                                      <p:cBhvr>
                                        <p:cTn id="14" dur="1000" fill="hold"/>
                                        <p:tgtEl>
                                          <p:spTgt spid="53252">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53252">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5325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grpId="0" nodeType="clickEffect">
                                  <p:stCondLst>
                                    <p:cond delay="0"/>
                                  </p:stCondLst>
                                  <p:childTnLst>
                                    <p:set>
                                      <p:cBhvr>
                                        <p:cTn id="20" dur="1" fill="hold">
                                          <p:stCondLst>
                                            <p:cond delay="0"/>
                                          </p:stCondLst>
                                        </p:cTn>
                                        <p:tgtEl>
                                          <p:spTgt spid="53252">
                                            <p:txEl>
                                              <p:pRg st="2" end="2"/>
                                            </p:txEl>
                                          </p:spTgt>
                                        </p:tgtEl>
                                        <p:attrNameLst>
                                          <p:attrName>style.visibility</p:attrName>
                                        </p:attrNameLst>
                                      </p:cBhvr>
                                      <p:to>
                                        <p:strVal val="visible"/>
                                      </p:to>
                                    </p:set>
                                    <p:anim calcmode="lin" valueType="num">
                                      <p:cBhvr>
                                        <p:cTn id="21" dur="1000" fill="hold"/>
                                        <p:tgtEl>
                                          <p:spTgt spid="53252">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53252">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53252">
                                            <p:txEl>
                                              <p:pRg st="2" end="2"/>
                                            </p:txEl>
                                          </p:spTgt>
                                        </p:tgtEl>
                                      </p:cBhvr>
                                    </p:animEffect>
                                  </p:childTnLst>
                                </p:cTn>
                              </p:par>
                              <p:par>
                                <p:cTn id="24" presetID="29" presetClass="entr" presetSubtype="0" fill="hold" grpId="0" nodeType="withEffect">
                                  <p:stCondLst>
                                    <p:cond delay="0"/>
                                  </p:stCondLst>
                                  <p:childTnLst>
                                    <p:set>
                                      <p:cBhvr>
                                        <p:cTn id="25" dur="1" fill="hold">
                                          <p:stCondLst>
                                            <p:cond delay="0"/>
                                          </p:stCondLst>
                                        </p:cTn>
                                        <p:tgtEl>
                                          <p:spTgt spid="53252">
                                            <p:txEl>
                                              <p:pRg st="3" end="3"/>
                                            </p:txEl>
                                          </p:spTgt>
                                        </p:tgtEl>
                                        <p:attrNameLst>
                                          <p:attrName>style.visibility</p:attrName>
                                        </p:attrNameLst>
                                      </p:cBhvr>
                                      <p:to>
                                        <p:strVal val="visible"/>
                                      </p:to>
                                    </p:set>
                                    <p:anim calcmode="lin" valueType="num">
                                      <p:cBhvr>
                                        <p:cTn id="26" dur="1000" fill="hold"/>
                                        <p:tgtEl>
                                          <p:spTgt spid="53252">
                                            <p:txEl>
                                              <p:pRg st="3" end="3"/>
                                            </p:txEl>
                                          </p:spTgt>
                                        </p:tgtEl>
                                        <p:attrNameLst>
                                          <p:attrName>ppt_x</p:attrName>
                                        </p:attrNameLst>
                                      </p:cBhvr>
                                      <p:tavLst>
                                        <p:tav tm="0">
                                          <p:val>
                                            <p:strVal val="#ppt_x-.2"/>
                                          </p:val>
                                        </p:tav>
                                        <p:tav tm="100000">
                                          <p:val>
                                            <p:strVal val="#ppt_x"/>
                                          </p:val>
                                        </p:tav>
                                      </p:tavLst>
                                    </p:anim>
                                    <p:anim calcmode="lin" valueType="num">
                                      <p:cBhvr>
                                        <p:cTn id="27" dur="1000" fill="hold"/>
                                        <p:tgtEl>
                                          <p:spTgt spid="53252">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28" dur="1000"/>
                                        <p:tgtEl>
                                          <p:spTgt spid="53252">
                                            <p:txEl>
                                              <p:pRg st="3" end="3"/>
                                            </p:txEl>
                                          </p:spTgt>
                                        </p:tgtEl>
                                      </p:cBhvr>
                                    </p:animEffect>
                                  </p:childTnLst>
                                </p:cTn>
                              </p:par>
                              <p:par>
                                <p:cTn id="29" presetID="29" presetClass="entr" presetSubtype="0" fill="hold" grpId="0" nodeType="withEffect">
                                  <p:stCondLst>
                                    <p:cond delay="0"/>
                                  </p:stCondLst>
                                  <p:childTnLst>
                                    <p:set>
                                      <p:cBhvr>
                                        <p:cTn id="30" dur="1" fill="hold">
                                          <p:stCondLst>
                                            <p:cond delay="0"/>
                                          </p:stCondLst>
                                        </p:cTn>
                                        <p:tgtEl>
                                          <p:spTgt spid="53252">
                                            <p:txEl>
                                              <p:pRg st="4" end="4"/>
                                            </p:txEl>
                                          </p:spTgt>
                                        </p:tgtEl>
                                        <p:attrNameLst>
                                          <p:attrName>style.visibility</p:attrName>
                                        </p:attrNameLst>
                                      </p:cBhvr>
                                      <p:to>
                                        <p:strVal val="visible"/>
                                      </p:to>
                                    </p:set>
                                    <p:anim calcmode="lin" valueType="num">
                                      <p:cBhvr>
                                        <p:cTn id="31" dur="1000" fill="hold"/>
                                        <p:tgtEl>
                                          <p:spTgt spid="53252">
                                            <p:txEl>
                                              <p:pRg st="4" end="4"/>
                                            </p:txEl>
                                          </p:spTgt>
                                        </p:tgtEl>
                                        <p:attrNameLst>
                                          <p:attrName>ppt_x</p:attrName>
                                        </p:attrNameLst>
                                      </p:cBhvr>
                                      <p:tavLst>
                                        <p:tav tm="0">
                                          <p:val>
                                            <p:strVal val="#ppt_x-.2"/>
                                          </p:val>
                                        </p:tav>
                                        <p:tav tm="100000">
                                          <p:val>
                                            <p:strVal val="#ppt_x"/>
                                          </p:val>
                                        </p:tav>
                                      </p:tavLst>
                                    </p:anim>
                                    <p:anim calcmode="lin" valueType="num">
                                      <p:cBhvr>
                                        <p:cTn id="32" dur="1000" fill="hold"/>
                                        <p:tgtEl>
                                          <p:spTgt spid="53252">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3" dur="1000"/>
                                        <p:tgtEl>
                                          <p:spTgt spid="53252">
                                            <p:txEl>
                                              <p:pRg st="4" end="4"/>
                                            </p:txEl>
                                          </p:spTgt>
                                        </p:tgtEl>
                                      </p:cBhvr>
                                    </p:animEffect>
                                  </p:childTnLst>
                                </p:cTn>
                              </p:par>
                              <p:par>
                                <p:cTn id="34" presetID="29" presetClass="entr" presetSubtype="0" fill="hold" grpId="0" nodeType="withEffect">
                                  <p:stCondLst>
                                    <p:cond delay="0"/>
                                  </p:stCondLst>
                                  <p:childTnLst>
                                    <p:set>
                                      <p:cBhvr>
                                        <p:cTn id="35" dur="1" fill="hold">
                                          <p:stCondLst>
                                            <p:cond delay="0"/>
                                          </p:stCondLst>
                                        </p:cTn>
                                        <p:tgtEl>
                                          <p:spTgt spid="53252">
                                            <p:txEl>
                                              <p:pRg st="5" end="5"/>
                                            </p:txEl>
                                          </p:spTgt>
                                        </p:tgtEl>
                                        <p:attrNameLst>
                                          <p:attrName>style.visibility</p:attrName>
                                        </p:attrNameLst>
                                      </p:cBhvr>
                                      <p:to>
                                        <p:strVal val="visible"/>
                                      </p:to>
                                    </p:set>
                                    <p:anim calcmode="lin" valueType="num">
                                      <p:cBhvr>
                                        <p:cTn id="36" dur="1000" fill="hold"/>
                                        <p:tgtEl>
                                          <p:spTgt spid="53252">
                                            <p:txEl>
                                              <p:pRg st="5" end="5"/>
                                            </p:txEl>
                                          </p:spTgt>
                                        </p:tgtEl>
                                        <p:attrNameLst>
                                          <p:attrName>ppt_x</p:attrName>
                                        </p:attrNameLst>
                                      </p:cBhvr>
                                      <p:tavLst>
                                        <p:tav tm="0">
                                          <p:val>
                                            <p:strVal val="#ppt_x-.2"/>
                                          </p:val>
                                        </p:tav>
                                        <p:tav tm="100000">
                                          <p:val>
                                            <p:strVal val="#ppt_x"/>
                                          </p:val>
                                        </p:tav>
                                      </p:tavLst>
                                    </p:anim>
                                    <p:anim calcmode="lin" valueType="num">
                                      <p:cBhvr>
                                        <p:cTn id="37" dur="1000" fill="hold"/>
                                        <p:tgtEl>
                                          <p:spTgt spid="53252">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38" dur="1000"/>
                                        <p:tgtEl>
                                          <p:spTgt spid="53252">
                                            <p:txEl>
                                              <p:pRg st="5" end="5"/>
                                            </p:txEl>
                                          </p:spTgt>
                                        </p:tgtEl>
                                      </p:cBhvr>
                                    </p:animEffect>
                                  </p:childTnLst>
                                </p:cTn>
                              </p:par>
                              <p:par>
                                <p:cTn id="39" presetID="29" presetClass="entr" presetSubtype="0" fill="hold" grpId="0" nodeType="withEffect">
                                  <p:stCondLst>
                                    <p:cond delay="0"/>
                                  </p:stCondLst>
                                  <p:childTnLst>
                                    <p:set>
                                      <p:cBhvr>
                                        <p:cTn id="40" dur="1" fill="hold">
                                          <p:stCondLst>
                                            <p:cond delay="0"/>
                                          </p:stCondLst>
                                        </p:cTn>
                                        <p:tgtEl>
                                          <p:spTgt spid="53252">
                                            <p:txEl>
                                              <p:pRg st="6" end="6"/>
                                            </p:txEl>
                                          </p:spTgt>
                                        </p:tgtEl>
                                        <p:attrNameLst>
                                          <p:attrName>style.visibility</p:attrName>
                                        </p:attrNameLst>
                                      </p:cBhvr>
                                      <p:to>
                                        <p:strVal val="visible"/>
                                      </p:to>
                                    </p:set>
                                    <p:anim calcmode="lin" valueType="num">
                                      <p:cBhvr>
                                        <p:cTn id="41" dur="1000" fill="hold"/>
                                        <p:tgtEl>
                                          <p:spTgt spid="53252">
                                            <p:txEl>
                                              <p:pRg st="6" end="6"/>
                                            </p:txEl>
                                          </p:spTgt>
                                        </p:tgtEl>
                                        <p:attrNameLst>
                                          <p:attrName>ppt_x</p:attrName>
                                        </p:attrNameLst>
                                      </p:cBhvr>
                                      <p:tavLst>
                                        <p:tav tm="0">
                                          <p:val>
                                            <p:strVal val="#ppt_x-.2"/>
                                          </p:val>
                                        </p:tav>
                                        <p:tav tm="100000">
                                          <p:val>
                                            <p:strVal val="#ppt_x"/>
                                          </p:val>
                                        </p:tav>
                                      </p:tavLst>
                                    </p:anim>
                                    <p:anim calcmode="lin" valueType="num">
                                      <p:cBhvr>
                                        <p:cTn id="42" dur="1000" fill="hold"/>
                                        <p:tgtEl>
                                          <p:spTgt spid="53252">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43" dur="1000"/>
                                        <p:tgtEl>
                                          <p:spTgt spid="53252">
                                            <p:txEl>
                                              <p:pRg st="6" end="6"/>
                                            </p:txEl>
                                          </p:spTgt>
                                        </p:tgtEl>
                                      </p:cBhvr>
                                    </p:animEffect>
                                  </p:childTnLst>
                                </p:cTn>
                              </p:par>
                              <p:par>
                                <p:cTn id="44" presetID="29" presetClass="entr" presetSubtype="0" fill="hold" grpId="0" nodeType="withEffect">
                                  <p:stCondLst>
                                    <p:cond delay="0"/>
                                  </p:stCondLst>
                                  <p:childTnLst>
                                    <p:set>
                                      <p:cBhvr>
                                        <p:cTn id="45" dur="1" fill="hold">
                                          <p:stCondLst>
                                            <p:cond delay="0"/>
                                          </p:stCondLst>
                                        </p:cTn>
                                        <p:tgtEl>
                                          <p:spTgt spid="53252">
                                            <p:txEl>
                                              <p:pRg st="7" end="7"/>
                                            </p:txEl>
                                          </p:spTgt>
                                        </p:tgtEl>
                                        <p:attrNameLst>
                                          <p:attrName>style.visibility</p:attrName>
                                        </p:attrNameLst>
                                      </p:cBhvr>
                                      <p:to>
                                        <p:strVal val="visible"/>
                                      </p:to>
                                    </p:set>
                                    <p:anim calcmode="lin" valueType="num">
                                      <p:cBhvr>
                                        <p:cTn id="46" dur="1000" fill="hold"/>
                                        <p:tgtEl>
                                          <p:spTgt spid="53252">
                                            <p:txEl>
                                              <p:pRg st="7" end="7"/>
                                            </p:txEl>
                                          </p:spTgt>
                                        </p:tgtEl>
                                        <p:attrNameLst>
                                          <p:attrName>ppt_x</p:attrName>
                                        </p:attrNameLst>
                                      </p:cBhvr>
                                      <p:tavLst>
                                        <p:tav tm="0">
                                          <p:val>
                                            <p:strVal val="#ppt_x-.2"/>
                                          </p:val>
                                        </p:tav>
                                        <p:tav tm="100000">
                                          <p:val>
                                            <p:strVal val="#ppt_x"/>
                                          </p:val>
                                        </p:tav>
                                      </p:tavLst>
                                    </p:anim>
                                    <p:anim calcmode="lin" valueType="num">
                                      <p:cBhvr>
                                        <p:cTn id="47" dur="1000" fill="hold"/>
                                        <p:tgtEl>
                                          <p:spTgt spid="53252">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48" dur="1000"/>
                                        <p:tgtEl>
                                          <p:spTgt spid="53252">
                                            <p:txEl>
                                              <p:pRg st="7" end="7"/>
                                            </p:txEl>
                                          </p:spTgt>
                                        </p:tgtEl>
                                      </p:cBhvr>
                                    </p:animEffect>
                                  </p:childTnLst>
                                </p:cTn>
                              </p:par>
                              <p:par>
                                <p:cTn id="49" presetID="29" presetClass="entr" presetSubtype="0" fill="hold" grpId="0" nodeType="withEffect">
                                  <p:stCondLst>
                                    <p:cond delay="0"/>
                                  </p:stCondLst>
                                  <p:childTnLst>
                                    <p:set>
                                      <p:cBhvr>
                                        <p:cTn id="50" dur="1" fill="hold">
                                          <p:stCondLst>
                                            <p:cond delay="0"/>
                                          </p:stCondLst>
                                        </p:cTn>
                                        <p:tgtEl>
                                          <p:spTgt spid="53252">
                                            <p:txEl>
                                              <p:pRg st="8" end="8"/>
                                            </p:txEl>
                                          </p:spTgt>
                                        </p:tgtEl>
                                        <p:attrNameLst>
                                          <p:attrName>style.visibility</p:attrName>
                                        </p:attrNameLst>
                                      </p:cBhvr>
                                      <p:to>
                                        <p:strVal val="visible"/>
                                      </p:to>
                                    </p:set>
                                    <p:anim calcmode="lin" valueType="num">
                                      <p:cBhvr>
                                        <p:cTn id="51" dur="1000" fill="hold"/>
                                        <p:tgtEl>
                                          <p:spTgt spid="53252">
                                            <p:txEl>
                                              <p:pRg st="8" end="8"/>
                                            </p:txEl>
                                          </p:spTgt>
                                        </p:tgtEl>
                                        <p:attrNameLst>
                                          <p:attrName>ppt_x</p:attrName>
                                        </p:attrNameLst>
                                      </p:cBhvr>
                                      <p:tavLst>
                                        <p:tav tm="0">
                                          <p:val>
                                            <p:strVal val="#ppt_x-.2"/>
                                          </p:val>
                                        </p:tav>
                                        <p:tav tm="100000">
                                          <p:val>
                                            <p:strVal val="#ppt_x"/>
                                          </p:val>
                                        </p:tav>
                                      </p:tavLst>
                                    </p:anim>
                                    <p:anim calcmode="lin" valueType="num">
                                      <p:cBhvr>
                                        <p:cTn id="52" dur="1000" fill="hold"/>
                                        <p:tgtEl>
                                          <p:spTgt spid="53252">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53" dur="1000"/>
                                        <p:tgtEl>
                                          <p:spTgt spid="53252">
                                            <p:txEl>
                                              <p:pRg st="8" end="8"/>
                                            </p:txEl>
                                          </p:spTgt>
                                        </p:tgtEl>
                                      </p:cBhvr>
                                    </p:animEffect>
                                  </p:childTnLst>
                                </p:cTn>
                              </p:par>
                              <p:par>
                                <p:cTn id="54" presetID="29" presetClass="entr" presetSubtype="0" fill="hold" grpId="0" nodeType="withEffect">
                                  <p:stCondLst>
                                    <p:cond delay="0"/>
                                  </p:stCondLst>
                                  <p:childTnLst>
                                    <p:set>
                                      <p:cBhvr>
                                        <p:cTn id="55" dur="1" fill="hold">
                                          <p:stCondLst>
                                            <p:cond delay="0"/>
                                          </p:stCondLst>
                                        </p:cTn>
                                        <p:tgtEl>
                                          <p:spTgt spid="53252">
                                            <p:txEl>
                                              <p:pRg st="9" end="9"/>
                                            </p:txEl>
                                          </p:spTgt>
                                        </p:tgtEl>
                                        <p:attrNameLst>
                                          <p:attrName>style.visibility</p:attrName>
                                        </p:attrNameLst>
                                      </p:cBhvr>
                                      <p:to>
                                        <p:strVal val="visible"/>
                                      </p:to>
                                    </p:set>
                                    <p:anim calcmode="lin" valueType="num">
                                      <p:cBhvr>
                                        <p:cTn id="56" dur="1000" fill="hold"/>
                                        <p:tgtEl>
                                          <p:spTgt spid="53252">
                                            <p:txEl>
                                              <p:pRg st="9" end="9"/>
                                            </p:txEl>
                                          </p:spTgt>
                                        </p:tgtEl>
                                        <p:attrNameLst>
                                          <p:attrName>ppt_x</p:attrName>
                                        </p:attrNameLst>
                                      </p:cBhvr>
                                      <p:tavLst>
                                        <p:tav tm="0">
                                          <p:val>
                                            <p:strVal val="#ppt_x-.2"/>
                                          </p:val>
                                        </p:tav>
                                        <p:tav tm="100000">
                                          <p:val>
                                            <p:strVal val="#ppt_x"/>
                                          </p:val>
                                        </p:tav>
                                      </p:tavLst>
                                    </p:anim>
                                    <p:anim calcmode="lin" valueType="num">
                                      <p:cBhvr>
                                        <p:cTn id="57" dur="1000" fill="hold"/>
                                        <p:tgtEl>
                                          <p:spTgt spid="53252">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53252">
                                            <p:txEl>
                                              <p:pRg st="9" end="9"/>
                                            </p:txEl>
                                          </p:spTgt>
                                        </p:tgtEl>
                                      </p:cBhvr>
                                    </p:animEffect>
                                  </p:childTnLst>
                                </p:cTn>
                              </p:par>
                              <p:par>
                                <p:cTn id="59" presetID="29" presetClass="entr" presetSubtype="0" fill="hold" grpId="0" nodeType="withEffect">
                                  <p:stCondLst>
                                    <p:cond delay="0"/>
                                  </p:stCondLst>
                                  <p:childTnLst>
                                    <p:set>
                                      <p:cBhvr>
                                        <p:cTn id="60" dur="1" fill="hold">
                                          <p:stCondLst>
                                            <p:cond delay="0"/>
                                          </p:stCondLst>
                                        </p:cTn>
                                        <p:tgtEl>
                                          <p:spTgt spid="53252">
                                            <p:txEl>
                                              <p:pRg st="10" end="10"/>
                                            </p:txEl>
                                          </p:spTgt>
                                        </p:tgtEl>
                                        <p:attrNameLst>
                                          <p:attrName>style.visibility</p:attrName>
                                        </p:attrNameLst>
                                      </p:cBhvr>
                                      <p:to>
                                        <p:strVal val="visible"/>
                                      </p:to>
                                    </p:set>
                                    <p:anim calcmode="lin" valueType="num">
                                      <p:cBhvr>
                                        <p:cTn id="61" dur="1000" fill="hold"/>
                                        <p:tgtEl>
                                          <p:spTgt spid="53252">
                                            <p:txEl>
                                              <p:pRg st="10" end="10"/>
                                            </p:txEl>
                                          </p:spTgt>
                                        </p:tgtEl>
                                        <p:attrNameLst>
                                          <p:attrName>ppt_x</p:attrName>
                                        </p:attrNameLst>
                                      </p:cBhvr>
                                      <p:tavLst>
                                        <p:tav tm="0">
                                          <p:val>
                                            <p:strVal val="#ppt_x-.2"/>
                                          </p:val>
                                        </p:tav>
                                        <p:tav tm="100000">
                                          <p:val>
                                            <p:strVal val="#ppt_x"/>
                                          </p:val>
                                        </p:tav>
                                      </p:tavLst>
                                    </p:anim>
                                    <p:anim calcmode="lin" valueType="num">
                                      <p:cBhvr>
                                        <p:cTn id="62" dur="1000" fill="hold"/>
                                        <p:tgtEl>
                                          <p:spTgt spid="53252">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63" dur="1000"/>
                                        <p:tgtEl>
                                          <p:spTgt spid="53252">
                                            <p:txEl>
                                              <p:pRg st="10" end="10"/>
                                            </p:txEl>
                                          </p:spTgt>
                                        </p:tgtEl>
                                      </p:cBhvr>
                                    </p:animEffect>
                                  </p:childTnLst>
                                </p:cTn>
                              </p:par>
                              <p:par>
                                <p:cTn id="64" presetID="29" presetClass="entr" presetSubtype="0" fill="hold" grpId="0" nodeType="withEffect">
                                  <p:stCondLst>
                                    <p:cond delay="0"/>
                                  </p:stCondLst>
                                  <p:childTnLst>
                                    <p:set>
                                      <p:cBhvr>
                                        <p:cTn id="65" dur="1" fill="hold">
                                          <p:stCondLst>
                                            <p:cond delay="0"/>
                                          </p:stCondLst>
                                        </p:cTn>
                                        <p:tgtEl>
                                          <p:spTgt spid="53252">
                                            <p:txEl>
                                              <p:pRg st="11" end="11"/>
                                            </p:txEl>
                                          </p:spTgt>
                                        </p:tgtEl>
                                        <p:attrNameLst>
                                          <p:attrName>style.visibility</p:attrName>
                                        </p:attrNameLst>
                                      </p:cBhvr>
                                      <p:to>
                                        <p:strVal val="visible"/>
                                      </p:to>
                                    </p:set>
                                    <p:anim calcmode="lin" valueType="num">
                                      <p:cBhvr>
                                        <p:cTn id="66" dur="1000" fill="hold"/>
                                        <p:tgtEl>
                                          <p:spTgt spid="53252">
                                            <p:txEl>
                                              <p:pRg st="11" end="11"/>
                                            </p:txEl>
                                          </p:spTgt>
                                        </p:tgtEl>
                                        <p:attrNameLst>
                                          <p:attrName>ppt_x</p:attrName>
                                        </p:attrNameLst>
                                      </p:cBhvr>
                                      <p:tavLst>
                                        <p:tav tm="0">
                                          <p:val>
                                            <p:strVal val="#ppt_x-.2"/>
                                          </p:val>
                                        </p:tav>
                                        <p:tav tm="100000">
                                          <p:val>
                                            <p:strVal val="#ppt_x"/>
                                          </p:val>
                                        </p:tav>
                                      </p:tavLst>
                                    </p:anim>
                                    <p:anim calcmode="lin" valueType="num">
                                      <p:cBhvr>
                                        <p:cTn id="67" dur="1000" fill="hold"/>
                                        <p:tgtEl>
                                          <p:spTgt spid="53252">
                                            <p:txEl>
                                              <p:pRg st="11" end="11"/>
                                            </p:txEl>
                                          </p:spTgt>
                                        </p:tgtEl>
                                        <p:attrNameLst>
                                          <p:attrName>ppt_y</p:attrName>
                                        </p:attrNameLst>
                                      </p:cBhvr>
                                      <p:tavLst>
                                        <p:tav tm="0">
                                          <p:val>
                                            <p:strVal val="#ppt_y"/>
                                          </p:val>
                                        </p:tav>
                                        <p:tav tm="100000">
                                          <p:val>
                                            <p:strVal val="#ppt_y"/>
                                          </p:val>
                                        </p:tav>
                                      </p:tavLst>
                                    </p:anim>
                                    <p:animEffect transition="in" filter="wipe(right)" prLst="gradientSize: 0.1">
                                      <p:cBhvr>
                                        <p:cTn id="68" dur="1000"/>
                                        <p:tgtEl>
                                          <p:spTgt spid="5325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200" y="223520"/>
            <a:ext cx="8229600" cy="839893"/>
          </a:xfrm>
        </p:spPr>
        <p:txBody>
          <a:bodyPr>
            <a:normAutofit/>
          </a:bodyPr>
          <a:lstStyle/>
          <a:p>
            <a:r>
              <a:rPr lang="en-US"/>
              <a:t>PHP Renaming and Delete File</a:t>
            </a:r>
            <a:endParaRPr lang="en-US" dirty="0"/>
          </a:p>
        </p:txBody>
      </p:sp>
      <p:sp>
        <p:nvSpPr>
          <p:cNvPr id="3" name="Content Placeholder 2"/>
          <p:cNvSpPr>
            <a:spLocks noGrp="1"/>
          </p:cNvSpPr>
          <p:nvPr>
            <p:ph idx="1"/>
          </p:nvPr>
        </p:nvSpPr>
        <p:spPr>
          <a:xfrm>
            <a:off x="457200" y="1063412"/>
            <a:ext cx="8398042" cy="5571068"/>
          </a:xfrm>
        </p:spPr>
        <p:txBody>
          <a:bodyPr>
            <a:normAutofit fontScale="92500" lnSpcReduction="20000"/>
          </a:bodyPr>
          <a:lstStyle/>
          <a:p>
            <a:r>
              <a:rPr lang="en-US" dirty="0"/>
              <a:t>The </a:t>
            </a:r>
            <a:r>
              <a:rPr lang="en-US" b="1" dirty="0">
                <a:solidFill>
                  <a:srgbClr val="C00000"/>
                </a:solidFill>
              </a:rPr>
              <a:t>rename() </a:t>
            </a:r>
            <a:r>
              <a:rPr lang="en-US" dirty="0"/>
              <a:t>function is used to give a new name for your file. </a:t>
            </a:r>
          </a:p>
          <a:p>
            <a:pPr lvl="1"/>
            <a:r>
              <a:rPr lang="en-US" b="1" dirty="0"/>
              <a:t>rename (“old name”, “new name”).</a:t>
            </a:r>
          </a:p>
          <a:p>
            <a:r>
              <a:rPr lang="en-US" dirty="0"/>
              <a:t>In PHP, we can delete any file using </a:t>
            </a:r>
            <a:r>
              <a:rPr lang="en-US" b="1" dirty="0">
                <a:solidFill>
                  <a:srgbClr val="C00000"/>
                </a:solidFill>
              </a:rPr>
              <a:t>unlink() </a:t>
            </a:r>
            <a:r>
              <a:rPr lang="en-US" dirty="0"/>
              <a:t>function. </a:t>
            </a:r>
          </a:p>
          <a:p>
            <a:r>
              <a:rPr lang="en-US" dirty="0"/>
              <a:t>The unlink() function accepts one argument only: file name              </a:t>
            </a:r>
          </a:p>
          <a:p>
            <a:r>
              <a:rPr lang="en-US" dirty="0"/>
              <a:t>Example: </a:t>
            </a:r>
          </a:p>
          <a:p>
            <a:pPr marL="914400" lvl="2" indent="0">
              <a:buNone/>
            </a:pPr>
            <a:r>
              <a:rPr lang="en-US" sz="2600" b="1" dirty="0">
                <a:solidFill>
                  <a:srgbClr val="C00000"/>
                </a:solidFill>
              </a:rPr>
              <a:t>&lt;?php      </a:t>
            </a:r>
          </a:p>
          <a:p>
            <a:pPr marL="914400" lvl="2" indent="0">
              <a:buNone/>
            </a:pPr>
            <a:r>
              <a:rPr lang="en-US" sz="2600" b="1" dirty="0">
                <a:solidFill>
                  <a:srgbClr val="C00000"/>
                </a:solidFill>
              </a:rPr>
              <a:t>$del=unlink(‘</a:t>
            </a:r>
            <a:r>
              <a:rPr lang="en-US" sz="2600" b="1" dirty="0" err="1">
                <a:solidFill>
                  <a:srgbClr val="C00000"/>
                </a:solidFill>
              </a:rPr>
              <a:t>mydirectory</a:t>
            </a:r>
            <a:r>
              <a:rPr lang="en-US" sz="2600" b="1" dirty="0">
                <a:solidFill>
                  <a:srgbClr val="C00000"/>
                </a:solidFill>
              </a:rPr>
              <a:t>/data.txt');    </a:t>
            </a:r>
          </a:p>
          <a:p>
            <a:pPr marL="914400" lvl="2" indent="0">
              <a:buNone/>
            </a:pPr>
            <a:r>
              <a:rPr lang="en-US" sz="2600" b="1" dirty="0">
                <a:solidFill>
                  <a:srgbClr val="C00000"/>
                </a:solidFill>
              </a:rPr>
              <a:t>if($del){  </a:t>
            </a:r>
          </a:p>
          <a:p>
            <a:pPr marL="914400" lvl="2" indent="0">
              <a:buNone/>
            </a:pPr>
            <a:r>
              <a:rPr lang="en-US" sz="2600" b="1" dirty="0">
                <a:solidFill>
                  <a:srgbClr val="C00000"/>
                </a:solidFill>
              </a:rPr>
              <a:t>echo "File deleted successfully";    </a:t>
            </a:r>
          </a:p>
          <a:p>
            <a:pPr marL="914400" lvl="2" indent="0">
              <a:buNone/>
            </a:pPr>
            <a:r>
              <a:rPr lang="en-US" sz="2600" b="1" dirty="0">
                <a:solidFill>
                  <a:srgbClr val="C00000"/>
                </a:solidFill>
              </a:rPr>
              <a:t>}else{  </a:t>
            </a:r>
          </a:p>
          <a:p>
            <a:pPr marL="914400" lvl="2" indent="0">
              <a:buNone/>
            </a:pPr>
            <a:r>
              <a:rPr lang="en-US" sz="2600" b="1" dirty="0">
                <a:solidFill>
                  <a:srgbClr val="C00000"/>
                </a:solidFill>
              </a:rPr>
              <a:t>echo "Sorry!";    </a:t>
            </a:r>
          </a:p>
          <a:p>
            <a:pPr marL="914400" lvl="2" indent="0">
              <a:buNone/>
            </a:pPr>
            <a:r>
              <a:rPr lang="en-US" sz="2600" b="1" dirty="0">
                <a:solidFill>
                  <a:srgbClr val="C00000"/>
                </a:solidFill>
              </a:rPr>
              <a:t>}  </a:t>
            </a:r>
          </a:p>
          <a:p>
            <a:pPr marL="914400" lvl="2" indent="0">
              <a:buNone/>
            </a:pPr>
            <a:r>
              <a:rPr lang="en-US" sz="2600" b="1" dirty="0">
                <a:solidFill>
                  <a:srgbClr val="C00000"/>
                </a:solidFill>
              </a:rPr>
              <a:t>?&gt;</a:t>
            </a:r>
          </a:p>
          <a:p>
            <a:endParaRPr lang="en-US" dirty="0"/>
          </a:p>
        </p:txBody>
      </p:sp>
      <p:sp>
        <p:nvSpPr>
          <p:cNvPr id="5" name="Slide Number Placeholder 4">
            <a:extLst>
              <a:ext uri="{FF2B5EF4-FFF2-40B4-BE49-F238E27FC236}">
                <a16:creationId xmlns:a16="http://schemas.microsoft.com/office/drawing/2014/main" id="{CD440433-A03A-42A6-9A0A-153134CA35CB}"/>
              </a:ext>
            </a:extLst>
          </p:cNvPr>
          <p:cNvSpPr>
            <a:spLocks noGrp="1"/>
          </p:cNvSpPr>
          <p:nvPr>
            <p:ph type="sldNum" sz="quarter" idx="12"/>
          </p:nvPr>
        </p:nvSpPr>
        <p:spPr/>
        <p:txBody>
          <a:bodyPr/>
          <a:lstStyle/>
          <a:p>
            <a:pPr>
              <a:defRPr/>
            </a:pPr>
            <a:fld id="{2807F527-F93A-4DFB-A6A5-8EC3CE84B904}" type="slidenum">
              <a:rPr lang="en-US" altLang="en-US" smtClean="0"/>
              <a:pPr>
                <a:defRPr/>
              </a:pPr>
              <a:t>17</a:t>
            </a:fld>
            <a:endParaRPr lang="en-US" altLang="en-US"/>
          </a:p>
        </p:txBody>
      </p:sp>
    </p:spTree>
    <p:extLst>
      <p:ext uri="{BB962C8B-B14F-4D97-AF65-F5344CB8AC3E}">
        <p14:creationId xmlns:p14="http://schemas.microsoft.com/office/powerpoint/2010/main" val="115551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57"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1000" fill="hold"/>
                                        <p:tgtEl>
                                          <p:spTgt spid="3">
                                            <p:txEl>
                                              <p:pRg st="8" end="8"/>
                                            </p:txEl>
                                          </p:spTgt>
                                        </p:tgtEl>
                                        <p:attrNameLst>
                                          <p:attrName>ppt_x</p:attrName>
                                        </p:attrNameLst>
                                      </p:cBhvr>
                                      <p:tavLst>
                                        <p:tav tm="0">
                                          <p:val>
                                            <p:strVal val="#ppt_x-.2"/>
                                          </p:val>
                                        </p:tav>
                                        <p:tav tm="100000">
                                          <p:val>
                                            <p:strVal val="#ppt_x"/>
                                          </p:val>
                                        </p:tav>
                                      </p:tavLst>
                                    </p:anim>
                                    <p:anim calcmode="lin" valueType="num">
                                      <p:cBhvr>
                                        <p:cTn id="64" dur="1000" fill="hold"/>
                                        <p:tgtEl>
                                          <p:spTgt spid="3">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65" dur="10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1000" fill="hold"/>
                                        <p:tgtEl>
                                          <p:spTgt spid="3">
                                            <p:txEl>
                                              <p:pRg st="9" end="9"/>
                                            </p:txEl>
                                          </p:spTgt>
                                        </p:tgtEl>
                                        <p:attrNameLst>
                                          <p:attrName>ppt_x</p:attrName>
                                        </p:attrNameLst>
                                      </p:cBhvr>
                                      <p:tavLst>
                                        <p:tav tm="0">
                                          <p:val>
                                            <p:strVal val="#ppt_x-.2"/>
                                          </p:val>
                                        </p:tav>
                                        <p:tav tm="100000">
                                          <p:val>
                                            <p:strVal val="#ppt_x"/>
                                          </p:val>
                                        </p:tav>
                                      </p:tavLst>
                                    </p:anim>
                                    <p:anim calcmode="lin" valueType="num">
                                      <p:cBhvr>
                                        <p:cTn id="71" dur="1000" fill="hold"/>
                                        <p:tgtEl>
                                          <p:spTgt spid="3">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72" dur="1000"/>
                                        <p:tgtEl>
                                          <p:spTgt spid="3">
                                            <p:txEl>
                                              <p:pRg st="9" end="9"/>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9" presetClass="entr" presetSubtype="0"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 calcmode="lin" valueType="num">
                                      <p:cBhvr>
                                        <p:cTn id="77" dur="1000" fill="hold"/>
                                        <p:tgtEl>
                                          <p:spTgt spid="3">
                                            <p:txEl>
                                              <p:pRg st="10" end="10"/>
                                            </p:txEl>
                                          </p:spTgt>
                                        </p:tgtEl>
                                        <p:attrNameLst>
                                          <p:attrName>ppt_x</p:attrName>
                                        </p:attrNameLst>
                                      </p:cBhvr>
                                      <p:tavLst>
                                        <p:tav tm="0">
                                          <p:val>
                                            <p:strVal val="#ppt_x-.2"/>
                                          </p:val>
                                        </p:tav>
                                        <p:tav tm="100000">
                                          <p:val>
                                            <p:strVal val="#ppt_x"/>
                                          </p:val>
                                        </p:tav>
                                      </p:tavLst>
                                    </p:anim>
                                    <p:anim calcmode="lin" valueType="num">
                                      <p:cBhvr>
                                        <p:cTn id="78" dur="1000" fill="hold"/>
                                        <p:tgtEl>
                                          <p:spTgt spid="3">
                                            <p:txEl>
                                              <p:pRg st="10" end="10"/>
                                            </p:txEl>
                                          </p:spTgt>
                                        </p:tgtEl>
                                        <p:attrNameLst>
                                          <p:attrName>ppt_y</p:attrName>
                                        </p:attrNameLst>
                                      </p:cBhvr>
                                      <p:tavLst>
                                        <p:tav tm="0">
                                          <p:val>
                                            <p:strVal val="#ppt_y"/>
                                          </p:val>
                                        </p:tav>
                                        <p:tav tm="100000">
                                          <p:val>
                                            <p:strVal val="#ppt_y"/>
                                          </p:val>
                                        </p:tav>
                                      </p:tavLst>
                                    </p:anim>
                                    <p:animEffect transition="in" filter="wipe(right)" prLst="gradientSize: 0.1">
                                      <p:cBhvr>
                                        <p:cTn id="79" dur="1000"/>
                                        <p:tgtEl>
                                          <p:spTgt spid="3">
                                            <p:txEl>
                                              <p:pRg st="10" end="1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9" presetClass="entr" presetSubtype="0" fill="hold"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 calcmode="lin" valueType="num">
                                      <p:cBhvr>
                                        <p:cTn id="84" dur="1000" fill="hold"/>
                                        <p:tgtEl>
                                          <p:spTgt spid="3">
                                            <p:txEl>
                                              <p:pRg st="11" end="11"/>
                                            </p:txEl>
                                          </p:spTgt>
                                        </p:tgtEl>
                                        <p:attrNameLst>
                                          <p:attrName>ppt_x</p:attrName>
                                        </p:attrNameLst>
                                      </p:cBhvr>
                                      <p:tavLst>
                                        <p:tav tm="0">
                                          <p:val>
                                            <p:strVal val="#ppt_x-.2"/>
                                          </p:val>
                                        </p:tav>
                                        <p:tav tm="100000">
                                          <p:val>
                                            <p:strVal val="#ppt_x"/>
                                          </p:val>
                                        </p:tav>
                                      </p:tavLst>
                                    </p:anim>
                                    <p:anim calcmode="lin" valueType="num">
                                      <p:cBhvr>
                                        <p:cTn id="85" dur="1000" fill="hold"/>
                                        <p:tgtEl>
                                          <p:spTgt spid="3">
                                            <p:txEl>
                                              <p:pRg st="11" end="11"/>
                                            </p:txEl>
                                          </p:spTgt>
                                        </p:tgtEl>
                                        <p:attrNameLst>
                                          <p:attrName>ppt_y</p:attrName>
                                        </p:attrNameLst>
                                      </p:cBhvr>
                                      <p:tavLst>
                                        <p:tav tm="0">
                                          <p:val>
                                            <p:strVal val="#ppt_y"/>
                                          </p:val>
                                        </p:tav>
                                        <p:tav tm="100000">
                                          <p:val>
                                            <p:strVal val="#ppt_y"/>
                                          </p:val>
                                        </p:tav>
                                      </p:tavLst>
                                    </p:anim>
                                    <p:animEffect transition="in" filter="wipe(right)" prLst="gradientSize: 0.1">
                                      <p:cBhvr>
                                        <p:cTn id="86" dur="1000"/>
                                        <p:tgtEl>
                                          <p:spTgt spid="3">
                                            <p:txEl>
                                              <p:pRg st="11" end="1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9" presetClass="entr" presetSubtype="0" fill="hold"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 calcmode="lin" valueType="num">
                                      <p:cBhvr>
                                        <p:cTn id="91" dur="1000" fill="hold"/>
                                        <p:tgtEl>
                                          <p:spTgt spid="3">
                                            <p:txEl>
                                              <p:pRg st="12" end="12"/>
                                            </p:txEl>
                                          </p:spTgt>
                                        </p:tgtEl>
                                        <p:attrNameLst>
                                          <p:attrName>ppt_x</p:attrName>
                                        </p:attrNameLst>
                                      </p:cBhvr>
                                      <p:tavLst>
                                        <p:tav tm="0">
                                          <p:val>
                                            <p:strVal val="#ppt_x-.2"/>
                                          </p:val>
                                        </p:tav>
                                        <p:tav tm="100000">
                                          <p:val>
                                            <p:strVal val="#ppt_x"/>
                                          </p:val>
                                        </p:tav>
                                      </p:tavLst>
                                    </p:anim>
                                    <p:anim calcmode="lin" valueType="num">
                                      <p:cBhvr>
                                        <p:cTn id="92" dur="1000" fill="hold"/>
                                        <p:tgtEl>
                                          <p:spTgt spid="3">
                                            <p:txEl>
                                              <p:pRg st="12" end="12"/>
                                            </p:txEl>
                                          </p:spTgt>
                                        </p:tgtEl>
                                        <p:attrNameLst>
                                          <p:attrName>ppt_y</p:attrName>
                                        </p:attrNameLst>
                                      </p:cBhvr>
                                      <p:tavLst>
                                        <p:tav tm="0">
                                          <p:val>
                                            <p:strVal val="#ppt_y"/>
                                          </p:val>
                                        </p:tav>
                                        <p:tav tm="100000">
                                          <p:val>
                                            <p:strVal val="#ppt_y"/>
                                          </p:val>
                                        </p:tav>
                                      </p:tavLst>
                                    </p:anim>
                                    <p:animEffect transition="in" filter="wipe(right)" prLst="gradientSize: 0.1">
                                      <p:cBhvr>
                                        <p:cTn id="93" dur="1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134463"/>
            <a:ext cx="8229600" cy="839787"/>
          </a:xfrm>
        </p:spPr>
        <p:txBody>
          <a:bodyPr>
            <a:normAutofit/>
          </a:bodyPr>
          <a:lstStyle/>
          <a:p>
            <a:r>
              <a:rPr lang="en-US" dirty="0"/>
              <a:t>Creating and Removing Directory</a:t>
            </a:r>
          </a:p>
        </p:txBody>
      </p:sp>
      <p:sp>
        <p:nvSpPr>
          <p:cNvPr id="3" name="Content Placeholder 2"/>
          <p:cNvSpPr>
            <a:spLocks noGrp="1"/>
          </p:cNvSpPr>
          <p:nvPr>
            <p:ph idx="1"/>
          </p:nvPr>
        </p:nvSpPr>
        <p:spPr>
          <a:xfrm>
            <a:off x="457200" y="932998"/>
            <a:ext cx="8229600" cy="5454053"/>
          </a:xfrm>
        </p:spPr>
        <p:txBody>
          <a:bodyPr>
            <a:noAutofit/>
          </a:bodyPr>
          <a:lstStyle/>
          <a:p>
            <a:r>
              <a:rPr lang="en-US" dirty="0"/>
              <a:t>The </a:t>
            </a:r>
            <a:r>
              <a:rPr lang="en-US" b="1" dirty="0" err="1">
                <a:solidFill>
                  <a:srgbClr val="C00000"/>
                </a:solidFill>
              </a:rPr>
              <a:t>mkdir</a:t>
            </a:r>
            <a:r>
              <a:rPr lang="en-US" b="1" dirty="0">
                <a:solidFill>
                  <a:srgbClr val="C00000"/>
                </a:solidFill>
              </a:rPr>
              <a:t>() </a:t>
            </a:r>
            <a:r>
              <a:rPr lang="en-US" b="1" dirty="0"/>
              <a:t>and</a:t>
            </a:r>
            <a:r>
              <a:rPr lang="en-US" b="1" dirty="0">
                <a:solidFill>
                  <a:srgbClr val="C00000"/>
                </a:solidFill>
              </a:rPr>
              <a:t> </a:t>
            </a:r>
            <a:r>
              <a:rPr lang="en-US" b="1" dirty="0" err="1">
                <a:solidFill>
                  <a:srgbClr val="C00000"/>
                </a:solidFill>
              </a:rPr>
              <a:t>rmdir</a:t>
            </a:r>
            <a:r>
              <a:rPr lang="en-US" b="1" dirty="0">
                <a:solidFill>
                  <a:srgbClr val="C00000"/>
                </a:solidFill>
              </a:rPr>
              <a:t>() </a:t>
            </a:r>
            <a:r>
              <a:rPr lang="en-US" dirty="0"/>
              <a:t>functions are used to </a:t>
            </a:r>
            <a:r>
              <a:rPr lang="en-US" b="1" i="1" dirty="0"/>
              <a:t>create a new directory </a:t>
            </a:r>
            <a:r>
              <a:rPr lang="en-US" dirty="0"/>
              <a:t>and </a:t>
            </a:r>
            <a:r>
              <a:rPr lang="en-US" b="1" i="1" dirty="0"/>
              <a:t>remove the created directory </a:t>
            </a:r>
            <a:r>
              <a:rPr lang="en-US" dirty="0"/>
              <a:t>respectively.</a:t>
            </a:r>
          </a:p>
          <a:p>
            <a:pPr lvl="1"/>
            <a:r>
              <a:rPr lang="en-US" dirty="0" err="1"/>
              <a:t>mkdir</a:t>
            </a:r>
            <a:r>
              <a:rPr lang="en-US" dirty="0"/>
              <a:t>(“directory name”)</a:t>
            </a:r>
          </a:p>
          <a:p>
            <a:pPr lvl="1"/>
            <a:r>
              <a:rPr lang="en-US" dirty="0" err="1"/>
              <a:t>Rmdir</a:t>
            </a:r>
            <a:r>
              <a:rPr lang="en-US" dirty="0"/>
              <a:t>(“directory name”)</a:t>
            </a:r>
          </a:p>
          <a:p>
            <a:r>
              <a:rPr lang="en-US" dirty="0"/>
              <a:t>The </a:t>
            </a:r>
            <a:r>
              <a:rPr lang="en-US" b="1" dirty="0" err="1">
                <a:solidFill>
                  <a:srgbClr val="C00000"/>
                </a:solidFill>
              </a:rPr>
              <a:t>is_dir</a:t>
            </a:r>
            <a:r>
              <a:rPr lang="en-US" b="1" dirty="0">
                <a:solidFill>
                  <a:srgbClr val="C00000"/>
                </a:solidFill>
              </a:rPr>
              <a:t>() </a:t>
            </a:r>
            <a:r>
              <a:rPr lang="en-US" dirty="0"/>
              <a:t>function is used to check if the directory exists before creating or removing it.</a:t>
            </a:r>
          </a:p>
          <a:p>
            <a:r>
              <a:rPr lang="en-US" dirty="0"/>
              <a:t>Example:</a:t>
            </a:r>
          </a:p>
          <a:p>
            <a:pPr marL="800100" lvl="2" indent="0">
              <a:buNone/>
            </a:pPr>
            <a:r>
              <a:rPr lang="en-US" sz="2400" b="1" dirty="0">
                <a:solidFill>
                  <a:srgbClr val="C00000"/>
                </a:solidFill>
              </a:rPr>
              <a:t>&lt;?</a:t>
            </a:r>
            <a:r>
              <a:rPr lang="en-US" sz="2400" b="1" dirty="0" err="1">
                <a:solidFill>
                  <a:srgbClr val="C00000"/>
                </a:solidFill>
              </a:rPr>
              <a:t>php</a:t>
            </a:r>
            <a:endParaRPr lang="en-US" sz="2400" b="1" dirty="0">
              <a:solidFill>
                <a:srgbClr val="C00000"/>
              </a:solidFill>
            </a:endParaRPr>
          </a:p>
          <a:p>
            <a:pPr marL="800100" lvl="2" indent="0">
              <a:buNone/>
            </a:pPr>
            <a:r>
              <a:rPr lang="en-US" sz="2400" b="1" dirty="0">
                <a:solidFill>
                  <a:srgbClr val="C00000"/>
                </a:solidFill>
              </a:rPr>
              <a:t>      if(!</a:t>
            </a:r>
            <a:r>
              <a:rPr lang="en-US" sz="2400" b="1" dirty="0" err="1">
                <a:solidFill>
                  <a:srgbClr val="C00000"/>
                </a:solidFill>
              </a:rPr>
              <a:t>is_dir</a:t>
            </a:r>
            <a:r>
              <a:rPr lang="en-US" sz="2400" b="1" dirty="0">
                <a:solidFill>
                  <a:srgbClr val="C00000"/>
                </a:solidFill>
              </a:rPr>
              <a:t>("</a:t>
            </a:r>
            <a:r>
              <a:rPr lang="en-US" sz="2400" b="1" dirty="0" err="1">
                <a:solidFill>
                  <a:srgbClr val="C00000"/>
                </a:solidFill>
              </a:rPr>
              <a:t>NewDirectory</a:t>
            </a:r>
            <a:r>
              <a:rPr lang="en-US" sz="2400" b="1" dirty="0">
                <a:solidFill>
                  <a:srgbClr val="C00000"/>
                </a:solidFill>
              </a:rPr>
              <a:t>")){</a:t>
            </a:r>
          </a:p>
          <a:p>
            <a:pPr marL="800100" lvl="2" indent="0">
              <a:buNone/>
            </a:pPr>
            <a:r>
              <a:rPr lang="en-US" sz="2400" b="1" dirty="0">
                <a:solidFill>
                  <a:srgbClr val="C00000"/>
                </a:solidFill>
              </a:rPr>
              <a:t>      </a:t>
            </a:r>
            <a:r>
              <a:rPr lang="en-US" sz="2400" b="1" dirty="0" err="1">
                <a:solidFill>
                  <a:srgbClr val="C00000"/>
                </a:solidFill>
              </a:rPr>
              <a:t>mkdir</a:t>
            </a:r>
            <a:r>
              <a:rPr lang="en-US" sz="2400" b="1" dirty="0">
                <a:solidFill>
                  <a:srgbClr val="C00000"/>
                </a:solidFill>
              </a:rPr>
              <a:t>("</a:t>
            </a:r>
            <a:r>
              <a:rPr lang="en-US" sz="2400" b="1" dirty="0" err="1">
                <a:solidFill>
                  <a:srgbClr val="C00000"/>
                </a:solidFill>
              </a:rPr>
              <a:t>NewDirectory</a:t>
            </a:r>
            <a:r>
              <a:rPr lang="en-US" sz="2400" b="1" dirty="0">
                <a:solidFill>
                  <a:srgbClr val="C00000"/>
                </a:solidFill>
              </a:rPr>
              <a:t>");</a:t>
            </a:r>
          </a:p>
          <a:p>
            <a:pPr marL="800100" lvl="2" indent="0">
              <a:buNone/>
            </a:pPr>
            <a:r>
              <a:rPr lang="en-US" sz="2400" b="1" dirty="0">
                <a:solidFill>
                  <a:srgbClr val="C00000"/>
                </a:solidFill>
              </a:rPr>
              <a:t>      echo "the new directory is created!!";}</a:t>
            </a:r>
          </a:p>
          <a:p>
            <a:pPr marL="800100" lvl="2" indent="0">
              <a:buNone/>
            </a:pPr>
            <a:r>
              <a:rPr lang="en-US" sz="2400" b="1" dirty="0">
                <a:solidFill>
                  <a:srgbClr val="C00000"/>
                </a:solidFill>
              </a:rPr>
              <a:t>    ?&gt;</a:t>
            </a:r>
            <a:endParaRPr lang="en-US" sz="2800" b="1" dirty="0">
              <a:solidFill>
                <a:srgbClr val="C00000"/>
              </a:solidFill>
            </a:endParaRPr>
          </a:p>
        </p:txBody>
      </p:sp>
      <p:sp>
        <p:nvSpPr>
          <p:cNvPr id="5" name="Slide Number Placeholder 4">
            <a:extLst>
              <a:ext uri="{FF2B5EF4-FFF2-40B4-BE49-F238E27FC236}">
                <a16:creationId xmlns:a16="http://schemas.microsoft.com/office/drawing/2014/main" id="{634BE1CA-2EDA-4113-99C9-1FE82EA46E6A}"/>
              </a:ext>
            </a:extLst>
          </p:cNvPr>
          <p:cNvSpPr>
            <a:spLocks noGrp="1"/>
          </p:cNvSpPr>
          <p:nvPr>
            <p:ph type="sldNum" sz="quarter" idx="12"/>
          </p:nvPr>
        </p:nvSpPr>
        <p:spPr/>
        <p:txBody>
          <a:bodyPr/>
          <a:lstStyle/>
          <a:p>
            <a:pPr>
              <a:defRPr/>
            </a:pPr>
            <a:fld id="{2807F527-F93A-4DFB-A6A5-8EC3CE84B904}" type="slidenum">
              <a:rPr lang="en-US" altLang="en-US" smtClean="0"/>
              <a:pPr>
                <a:defRPr/>
              </a:pPr>
              <a:t>18</a:t>
            </a:fld>
            <a:endParaRPr lang="en-US" altLang="en-US"/>
          </a:p>
        </p:txBody>
      </p:sp>
    </p:spTree>
    <p:extLst>
      <p:ext uri="{BB962C8B-B14F-4D97-AF65-F5344CB8AC3E}">
        <p14:creationId xmlns:p14="http://schemas.microsoft.com/office/powerpoint/2010/main" val="1884658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3">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9"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 calcmode="lin" valueType="num">
                                      <p:cBhvr>
                                        <p:cTn id="56" dur="1000" fill="hold"/>
                                        <p:tgtEl>
                                          <p:spTgt spid="3">
                                            <p:txEl>
                                              <p:pRg st="7" end="7"/>
                                            </p:txEl>
                                          </p:spTgt>
                                        </p:tgtEl>
                                        <p:attrNameLst>
                                          <p:attrName>ppt_x</p:attrName>
                                        </p:attrNameLst>
                                      </p:cBhvr>
                                      <p:tavLst>
                                        <p:tav tm="0">
                                          <p:val>
                                            <p:strVal val="#ppt_x-.2"/>
                                          </p:val>
                                        </p:tav>
                                        <p:tav tm="100000">
                                          <p:val>
                                            <p:strVal val="#ppt_x"/>
                                          </p:val>
                                        </p:tav>
                                      </p:tavLst>
                                    </p:anim>
                                    <p:anim calcmode="lin" valueType="num">
                                      <p:cBhvr>
                                        <p:cTn id="57" dur="1000" fill="hold"/>
                                        <p:tgtEl>
                                          <p:spTgt spid="3">
                                            <p:txEl>
                                              <p:pRg st="7" end="7"/>
                                            </p:txEl>
                                          </p:spTgt>
                                        </p:tgtEl>
                                        <p:attrNameLst>
                                          <p:attrName>ppt_y</p:attrName>
                                        </p:attrNameLst>
                                      </p:cBhvr>
                                      <p:tavLst>
                                        <p:tav tm="0">
                                          <p:val>
                                            <p:strVal val="#ppt_y"/>
                                          </p:val>
                                        </p:tav>
                                        <p:tav tm="100000">
                                          <p:val>
                                            <p:strVal val="#ppt_y"/>
                                          </p:val>
                                        </p:tav>
                                      </p:tavLst>
                                    </p:anim>
                                    <p:animEffect transition="in" filter="wipe(right)" prLst="gradientSize: 0.1">
                                      <p:cBhvr>
                                        <p:cTn id="58" dur="10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9"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 calcmode="lin" valueType="num">
                                      <p:cBhvr>
                                        <p:cTn id="63" dur="1000" fill="hold"/>
                                        <p:tgtEl>
                                          <p:spTgt spid="3">
                                            <p:txEl>
                                              <p:pRg st="8" end="8"/>
                                            </p:txEl>
                                          </p:spTgt>
                                        </p:tgtEl>
                                        <p:attrNameLst>
                                          <p:attrName>ppt_x</p:attrName>
                                        </p:attrNameLst>
                                      </p:cBhvr>
                                      <p:tavLst>
                                        <p:tav tm="0">
                                          <p:val>
                                            <p:strVal val="#ppt_x-.2"/>
                                          </p:val>
                                        </p:tav>
                                        <p:tav tm="100000">
                                          <p:val>
                                            <p:strVal val="#ppt_x"/>
                                          </p:val>
                                        </p:tav>
                                      </p:tavLst>
                                    </p:anim>
                                    <p:anim calcmode="lin" valueType="num">
                                      <p:cBhvr>
                                        <p:cTn id="64" dur="1000" fill="hold"/>
                                        <p:tgtEl>
                                          <p:spTgt spid="3">
                                            <p:txEl>
                                              <p:pRg st="8" end="8"/>
                                            </p:txEl>
                                          </p:spTgt>
                                        </p:tgtEl>
                                        <p:attrNameLst>
                                          <p:attrName>ppt_y</p:attrName>
                                        </p:attrNameLst>
                                      </p:cBhvr>
                                      <p:tavLst>
                                        <p:tav tm="0">
                                          <p:val>
                                            <p:strVal val="#ppt_y"/>
                                          </p:val>
                                        </p:tav>
                                        <p:tav tm="100000">
                                          <p:val>
                                            <p:strVal val="#ppt_y"/>
                                          </p:val>
                                        </p:tav>
                                      </p:tavLst>
                                    </p:anim>
                                    <p:animEffect transition="in" filter="wipe(right)" prLst="gradientSize: 0.1">
                                      <p:cBhvr>
                                        <p:cTn id="65" dur="1000"/>
                                        <p:tgtEl>
                                          <p:spTgt spid="3">
                                            <p:txEl>
                                              <p:pRg st="8" end="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9"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 calcmode="lin" valueType="num">
                                      <p:cBhvr>
                                        <p:cTn id="70" dur="1000" fill="hold"/>
                                        <p:tgtEl>
                                          <p:spTgt spid="3">
                                            <p:txEl>
                                              <p:pRg st="9" end="9"/>
                                            </p:txEl>
                                          </p:spTgt>
                                        </p:tgtEl>
                                        <p:attrNameLst>
                                          <p:attrName>ppt_x</p:attrName>
                                        </p:attrNameLst>
                                      </p:cBhvr>
                                      <p:tavLst>
                                        <p:tav tm="0">
                                          <p:val>
                                            <p:strVal val="#ppt_x-.2"/>
                                          </p:val>
                                        </p:tav>
                                        <p:tav tm="100000">
                                          <p:val>
                                            <p:strVal val="#ppt_x"/>
                                          </p:val>
                                        </p:tav>
                                      </p:tavLst>
                                    </p:anim>
                                    <p:anim calcmode="lin" valueType="num">
                                      <p:cBhvr>
                                        <p:cTn id="71" dur="1000" fill="hold"/>
                                        <p:tgtEl>
                                          <p:spTgt spid="3">
                                            <p:txEl>
                                              <p:pRg st="9" end="9"/>
                                            </p:txEl>
                                          </p:spTgt>
                                        </p:tgtEl>
                                        <p:attrNameLst>
                                          <p:attrName>ppt_y</p:attrName>
                                        </p:attrNameLst>
                                      </p:cBhvr>
                                      <p:tavLst>
                                        <p:tav tm="0">
                                          <p:val>
                                            <p:strVal val="#ppt_y"/>
                                          </p:val>
                                        </p:tav>
                                        <p:tav tm="100000">
                                          <p:val>
                                            <p:strVal val="#ppt_y"/>
                                          </p:val>
                                        </p:tav>
                                      </p:tavLst>
                                    </p:anim>
                                    <p:animEffect transition="in" filter="wipe(right)" prLst="gradientSize: 0.1">
                                      <p:cBhvr>
                                        <p:cTn id="72" dur="1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155088"/>
            <a:ext cx="8229600" cy="839787"/>
          </a:xfrm>
        </p:spPr>
        <p:txBody>
          <a:bodyPr>
            <a:normAutofit/>
          </a:bodyPr>
          <a:lstStyle/>
          <a:p>
            <a:r>
              <a:rPr lang="en-US" dirty="0"/>
              <a:t>Creating and Removing Directory</a:t>
            </a:r>
          </a:p>
        </p:txBody>
      </p:sp>
      <p:sp>
        <p:nvSpPr>
          <p:cNvPr id="3" name="Content Placeholder 2"/>
          <p:cNvSpPr>
            <a:spLocks noGrp="1"/>
          </p:cNvSpPr>
          <p:nvPr>
            <p:ph idx="1"/>
          </p:nvPr>
        </p:nvSpPr>
        <p:spPr>
          <a:xfrm>
            <a:off x="587829" y="994875"/>
            <a:ext cx="8229600" cy="5509055"/>
          </a:xfrm>
        </p:spPr>
        <p:txBody>
          <a:bodyPr>
            <a:normAutofit/>
          </a:bodyPr>
          <a:lstStyle/>
          <a:p>
            <a:pPr marL="457200" indent="-457200"/>
            <a:r>
              <a:rPr lang="en-US" sz="3000" b="1" dirty="0">
                <a:solidFill>
                  <a:srgbClr val="C00000"/>
                </a:solidFill>
              </a:rPr>
              <a:t>&lt;?php</a:t>
            </a:r>
          </a:p>
          <a:p>
            <a:pPr marL="400050" lvl="1" indent="0">
              <a:buNone/>
            </a:pPr>
            <a:r>
              <a:rPr lang="en-US" sz="2600" b="1" dirty="0">
                <a:solidFill>
                  <a:srgbClr val="C00000"/>
                </a:solidFill>
              </a:rPr>
              <a:t>      if(</a:t>
            </a:r>
            <a:r>
              <a:rPr lang="en-US" sz="2600" b="1" dirty="0" err="1">
                <a:solidFill>
                  <a:srgbClr val="C00000"/>
                </a:solidFill>
              </a:rPr>
              <a:t>is_dir</a:t>
            </a:r>
            <a:r>
              <a:rPr lang="en-US" sz="2600" b="1" dirty="0">
                <a:solidFill>
                  <a:srgbClr val="C00000"/>
                </a:solidFill>
              </a:rPr>
              <a:t>("</a:t>
            </a:r>
            <a:r>
              <a:rPr lang="en-US" sz="2600" b="1" dirty="0" err="1">
                <a:solidFill>
                  <a:srgbClr val="C00000"/>
                </a:solidFill>
              </a:rPr>
              <a:t>NewDirectory</a:t>
            </a:r>
            <a:r>
              <a:rPr lang="en-US" sz="2600" b="1" dirty="0">
                <a:solidFill>
                  <a:srgbClr val="C00000"/>
                </a:solidFill>
              </a:rPr>
              <a:t>")){</a:t>
            </a:r>
          </a:p>
          <a:p>
            <a:pPr marL="400050" lvl="1" indent="0">
              <a:buNone/>
            </a:pPr>
            <a:r>
              <a:rPr lang="en-US" sz="2600" b="1" dirty="0">
                <a:solidFill>
                  <a:srgbClr val="C00000"/>
                </a:solidFill>
              </a:rPr>
              <a:t>      </a:t>
            </a:r>
            <a:r>
              <a:rPr lang="en-US" sz="2600" b="1" dirty="0" err="1">
                <a:solidFill>
                  <a:srgbClr val="C00000"/>
                </a:solidFill>
              </a:rPr>
              <a:t>rmdir</a:t>
            </a:r>
            <a:r>
              <a:rPr lang="en-US" sz="2600" b="1" dirty="0">
                <a:solidFill>
                  <a:srgbClr val="C00000"/>
                </a:solidFill>
              </a:rPr>
              <a:t>("</a:t>
            </a:r>
            <a:r>
              <a:rPr lang="en-US" sz="2600" b="1" dirty="0" err="1">
                <a:solidFill>
                  <a:srgbClr val="C00000"/>
                </a:solidFill>
              </a:rPr>
              <a:t>NewDirectory</a:t>
            </a:r>
            <a:r>
              <a:rPr lang="en-US" sz="2600" b="1" dirty="0">
                <a:solidFill>
                  <a:srgbClr val="C00000"/>
                </a:solidFill>
              </a:rPr>
              <a:t>");</a:t>
            </a:r>
          </a:p>
          <a:p>
            <a:pPr marL="400050" lvl="1" indent="0">
              <a:buNone/>
            </a:pPr>
            <a:r>
              <a:rPr lang="en-US" sz="2600" b="1" dirty="0">
                <a:solidFill>
                  <a:srgbClr val="C00000"/>
                </a:solidFill>
              </a:rPr>
              <a:t>      echo "the new directory is removed!!";</a:t>
            </a:r>
          </a:p>
          <a:p>
            <a:pPr marL="400050" lvl="1" indent="0">
              <a:buNone/>
            </a:pPr>
            <a:r>
              <a:rPr lang="en-US" sz="2600" b="1" dirty="0">
                <a:solidFill>
                  <a:srgbClr val="C00000"/>
                </a:solidFill>
              </a:rPr>
              <a:t>      }</a:t>
            </a:r>
          </a:p>
          <a:p>
            <a:pPr marL="400050" lvl="1" indent="0">
              <a:buNone/>
            </a:pPr>
            <a:r>
              <a:rPr lang="en-US" sz="2600" b="1" dirty="0">
                <a:solidFill>
                  <a:srgbClr val="C00000"/>
                </a:solidFill>
              </a:rPr>
              <a:t>      ?&gt;</a:t>
            </a:r>
          </a:p>
          <a:p>
            <a:r>
              <a:rPr lang="en-US" sz="3200" dirty="0"/>
              <a:t>Like in files, the rename () function is used to rename the name of directories.</a:t>
            </a:r>
          </a:p>
        </p:txBody>
      </p:sp>
      <p:sp>
        <p:nvSpPr>
          <p:cNvPr id="7" name="Slide Number Placeholder 6">
            <a:extLst>
              <a:ext uri="{FF2B5EF4-FFF2-40B4-BE49-F238E27FC236}">
                <a16:creationId xmlns:a16="http://schemas.microsoft.com/office/drawing/2014/main" id="{718C688D-0AA5-48C3-98E3-3C3EA8D4AEB3}"/>
              </a:ext>
            </a:extLst>
          </p:cNvPr>
          <p:cNvSpPr>
            <a:spLocks noGrp="1"/>
          </p:cNvSpPr>
          <p:nvPr>
            <p:ph type="sldNum" sz="quarter" idx="12"/>
          </p:nvPr>
        </p:nvSpPr>
        <p:spPr/>
        <p:txBody>
          <a:bodyPr/>
          <a:lstStyle/>
          <a:p>
            <a:pPr>
              <a:defRPr/>
            </a:pPr>
            <a:fld id="{2807F527-F93A-4DFB-A6A5-8EC3CE84B904}" type="slidenum">
              <a:rPr lang="en-US" altLang="en-US" smtClean="0"/>
              <a:pPr>
                <a:defRPr/>
              </a:pPr>
              <a:t>19</a:t>
            </a:fld>
            <a:endParaRPr lang="en-US" altLang="en-US"/>
          </a:p>
        </p:txBody>
      </p:sp>
    </p:spTree>
    <p:extLst>
      <p:ext uri="{BB962C8B-B14F-4D97-AF65-F5344CB8AC3E}">
        <p14:creationId xmlns:p14="http://schemas.microsoft.com/office/powerpoint/2010/main" val="316258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5" end="5"/>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9"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p:cTn id="49" dur="1000" fill="hold"/>
                                        <p:tgtEl>
                                          <p:spTgt spid="3">
                                            <p:txEl>
                                              <p:pRg st="6" end="6"/>
                                            </p:txEl>
                                          </p:spTgt>
                                        </p:tgtEl>
                                        <p:attrNameLst>
                                          <p:attrName>ppt_x</p:attrName>
                                        </p:attrNameLst>
                                      </p:cBhvr>
                                      <p:tavLst>
                                        <p:tav tm="0">
                                          <p:val>
                                            <p:strVal val="#ppt_x-.2"/>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
                                          </p:val>
                                        </p:tav>
                                        <p:tav tm="100000">
                                          <p:val>
                                            <p:strVal val="#ppt_y"/>
                                          </p:val>
                                        </p:tav>
                                      </p:tavLst>
                                    </p:anim>
                                    <p:animEffect transition="in" filter="wipe(right)" prLst="gradientSize: 0.1">
                                      <p:cBhvr>
                                        <p:cTn id="51"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127588"/>
            <a:ext cx="8229600" cy="839787"/>
          </a:xfrm>
        </p:spPr>
        <p:txBody>
          <a:bodyPr>
            <a:normAutofit/>
          </a:bodyPr>
          <a:lstStyle/>
          <a:p>
            <a:r>
              <a:rPr lang="en-US" dirty="0"/>
              <a:t>Problems with Using Flat Files</a:t>
            </a:r>
          </a:p>
        </p:txBody>
      </p:sp>
      <p:sp>
        <p:nvSpPr>
          <p:cNvPr id="3" name="Content Placeholder 2"/>
          <p:cNvSpPr>
            <a:spLocks noGrp="1"/>
          </p:cNvSpPr>
          <p:nvPr>
            <p:ph idx="1"/>
          </p:nvPr>
        </p:nvSpPr>
        <p:spPr>
          <a:xfrm>
            <a:off x="546578" y="939874"/>
            <a:ext cx="8229600" cy="5612180"/>
          </a:xfrm>
        </p:spPr>
        <p:txBody>
          <a:bodyPr>
            <a:normAutofit fontScale="92500" lnSpcReduction="20000"/>
          </a:bodyPr>
          <a:lstStyle/>
          <a:p>
            <a:r>
              <a:rPr lang="en-US" dirty="0"/>
              <a:t>When a file grows large, working with it can be very slow.</a:t>
            </a:r>
          </a:p>
          <a:p>
            <a:r>
              <a:rPr lang="en-US" dirty="0"/>
              <a:t>Searching for a particular record or group of records in a flat file is difficult.</a:t>
            </a:r>
          </a:p>
          <a:p>
            <a:r>
              <a:rPr lang="en-US" dirty="0"/>
              <a:t>Dealing with concurrent access can become problematic. With enough traffic on a site, a large group of users may be waiting for the file to be unlocked before they can place their order. If the wait is too long, people will go elsewhere.</a:t>
            </a:r>
          </a:p>
          <a:p>
            <a:r>
              <a:rPr lang="en-US" dirty="0"/>
              <a:t>The file processing deals with a file using sequential processing; that is, you start from the beginning of the file and read through to the end. Random access can be difficult because you end up reading the whole file into memory, making the changes, and writing the whole file out </a:t>
            </a:r>
            <a:r>
              <a:rPr lang="en-US" dirty="0" err="1"/>
              <a:t>again.With</a:t>
            </a:r>
            <a:r>
              <a:rPr lang="en-US" dirty="0"/>
              <a:t> a large data file, having to go through all these steps becomes a significant overhead.</a:t>
            </a:r>
          </a:p>
          <a:p>
            <a:r>
              <a:rPr lang="en-US" dirty="0"/>
              <a:t>Beyond the limits offered by file permissions, there is no easy way of enforcing different levels of access to data.</a:t>
            </a:r>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1393C8FF-EA9B-4BFB-9437-D60D92593E42}"/>
              </a:ext>
            </a:extLst>
          </p:cNvPr>
          <p:cNvSpPr>
            <a:spLocks noGrp="1"/>
          </p:cNvSpPr>
          <p:nvPr>
            <p:ph type="sldNum" sz="quarter" idx="12"/>
          </p:nvPr>
        </p:nvSpPr>
        <p:spPr/>
        <p:txBody>
          <a:bodyPr/>
          <a:lstStyle/>
          <a:p>
            <a:pPr>
              <a:defRPr/>
            </a:pPr>
            <a:fld id="{2807F527-F93A-4DFB-A6A5-8EC3CE84B904}" type="slidenum">
              <a:rPr lang="en-US" altLang="en-US" smtClean="0"/>
              <a:pPr>
                <a:defRPr/>
              </a:pPr>
              <a:t>20</a:t>
            </a:fld>
            <a:endParaRPr lang="en-US" altLang="en-US"/>
          </a:p>
        </p:txBody>
      </p:sp>
    </p:spTree>
    <p:extLst>
      <p:ext uri="{BB962C8B-B14F-4D97-AF65-F5344CB8AC3E}">
        <p14:creationId xmlns:p14="http://schemas.microsoft.com/office/powerpoint/2010/main" val="148839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23520"/>
            <a:ext cx="8229600" cy="839893"/>
          </a:xfrm>
        </p:spPr>
        <p:txBody>
          <a:bodyPr>
            <a:normAutofit fontScale="90000"/>
          </a:bodyPr>
          <a:lstStyle/>
          <a:p>
            <a:r>
              <a:rPr lang="en-US" dirty="0"/>
              <a:t>How RDBMSs Solve These Problems</a:t>
            </a:r>
          </a:p>
        </p:txBody>
      </p:sp>
      <p:sp>
        <p:nvSpPr>
          <p:cNvPr id="3" name="Content Placeholder 2"/>
          <p:cNvSpPr>
            <a:spLocks noGrp="1"/>
          </p:cNvSpPr>
          <p:nvPr>
            <p:ph idx="1"/>
          </p:nvPr>
        </p:nvSpPr>
        <p:spPr>
          <a:xfrm>
            <a:off x="512201" y="1063625"/>
            <a:ext cx="8229600" cy="5302799"/>
          </a:xfrm>
        </p:spPr>
        <p:txBody>
          <a:bodyPr>
            <a:normAutofit fontScale="92500" lnSpcReduction="10000"/>
          </a:bodyPr>
          <a:lstStyle/>
          <a:p>
            <a:r>
              <a:rPr lang="en-US" dirty="0"/>
              <a:t>Relational database management systems address all these issues:</a:t>
            </a:r>
          </a:p>
          <a:p>
            <a:r>
              <a:rPr lang="en-US" dirty="0"/>
              <a:t>RDBMSs can provide much faster access to data than flat files. And MySQL, the database system we use in this book, has some of the fastest benchmarks of any RDBMS.</a:t>
            </a:r>
          </a:p>
          <a:p>
            <a:r>
              <a:rPr lang="en-US" dirty="0"/>
              <a:t>RDBMSs can be easily queried to extract sets of data that fit certain criteria.</a:t>
            </a:r>
          </a:p>
          <a:p>
            <a:r>
              <a:rPr lang="en-US" dirty="0"/>
              <a:t>RDBMSs have built-in mechanisms for dealing with concurrent access so that you, as a programmer, don’t have to worry about it.</a:t>
            </a:r>
          </a:p>
          <a:p>
            <a:r>
              <a:rPr lang="en-US" dirty="0"/>
              <a:t>RDBMSs provide random access to your data.</a:t>
            </a:r>
          </a:p>
          <a:p>
            <a:r>
              <a:rPr lang="en-US" dirty="0"/>
              <a:t>RDBMSs have built-in privilege systems. MySQL has particular strengths in this area.</a:t>
            </a:r>
          </a:p>
          <a:p>
            <a:endParaRPr lang="en-US" dirty="0"/>
          </a:p>
        </p:txBody>
      </p:sp>
      <p:sp>
        <p:nvSpPr>
          <p:cNvPr id="5" name="Slide Number Placeholder 4">
            <a:extLst>
              <a:ext uri="{FF2B5EF4-FFF2-40B4-BE49-F238E27FC236}">
                <a16:creationId xmlns:a16="http://schemas.microsoft.com/office/drawing/2014/main" id="{5A250ED0-591D-4D41-B38B-52835CC0E370}"/>
              </a:ext>
            </a:extLst>
          </p:cNvPr>
          <p:cNvSpPr>
            <a:spLocks noGrp="1"/>
          </p:cNvSpPr>
          <p:nvPr>
            <p:ph type="sldNum" sz="quarter" idx="12"/>
          </p:nvPr>
        </p:nvSpPr>
        <p:spPr/>
        <p:txBody>
          <a:bodyPr/>
          <a:lstStyle/>
          <a:p>
            <a:pPr>
              <a:defRPr/>
            </a:pPr>
            <a:fld id="{2807F527-F93A-4DFB-A6A5-8EC3CE84B904}" type="slidenum">
              <a:rPr lang="en-US" altLang="en-US" smtClean="0"/>
              <a:pPr>
                <a:defRPr/>
              </a:pPr>
              <a:t>21</a:t>
            </a:fld>
            <a:endParaRPr lang="en-US" altLang="en-US"/>
          </a:p>
        </p:txBody>
      </p:sp>
    </p:spTree>
    <p:extLst>
      <p:ext uri="{BB962C8B-B14F-4D97-AF65-F5344CB8AC3E}">
        <p14:creationId xmlns:p14="http://schemas.microsoft.com/office/powerpoint/2010/main" val="1245124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2"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9"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ppt_x</p:attrName>
                                        </p:attrNameLst>
                                      </p:cBhvr>
                                      <p:tavLst>
                                        <p:tav tm="0">
                                          <p:val>
                                            <p:strVal val="#ppt_x-.2"/>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
                                          </p:val>
                                        </p:tav>
                                        <p:tav tm="100000">
                                          <p:val>
                                            <p:strVal val="#ppt_y"/>
                                          </p:val>
                                        </p:tav>
                                      </p:tavLst>
                                    </p:anim>
                                    <p:animEffect transition="in" filter="wipe(right)" prLst="gradientSize: 0.1">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9"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p:cTn id="35" dur="1000" fill="hold"/>
                                        <p:tgtEl>
                                          <p:spTgt spid="3">
                                            <p:txEl>
                                              <p:pRg st="4" end="4"/>
                                            </p:txEl>
                                          </p:spTgt>
                                        </p:tgtEl>
                                        <p:attrNameLst>
                                          <p:attrName>ppt_x</p:attrName>
                                        </p:attrNameLst>
                                      </p:cBhvr>
                                      <p:tavLst>
                                        <p:tav tm="0">
                                          <p:val>
                                            <p:strVal val="#ppt_x-.2"/>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7" dur="1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9"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ppt_x</p:attrName>
                                        </p:attrNameLst>
                                      </p:cBhvr>
                                      <p:tavLst>
                                        <p:tav tm="0">
                                          <p:val>
                                            <p:strVal val="#ppt_x-.2"/>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
                                          </p:val>
                                        </p:tav>
                                        <p:tav tm="100000">
                                          <p:val>
                                            <p:strVal val="#ppt_y"/>
                                          </p:val>
                                        </p:tav>
                                      </p:tavLst>
                                    </p:anim>
                                    <p:animEffect transition="in" filter="wipe(right)" prLst="gradientSize: 0.1">
                                      <p:cBhvr>
                                        <p:cTn id="44"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E0CD4-FFDA-410B-8B1A-62507CAD7B7D}"/>
              </a:ext>
            </a:extLst>
          </p:cNvPr>
          <p:cNvSpPr>
            <a:spLocks noGrp="1"/>
          </p:cNvSpPr>
          <p:nvPr>
            <p:ph type="title"/>
          </p:nvPr>
        </p:nvSpPr>
        <p:spPr>
          <a:xfrm>
            <a:off x="388448" y="1942317"/>
            <a:ext cx="8229600" cy="2533430"/>
          </a:xfrm>
        </p:spPr>
        <p:txBody>
          <a:bodyPr>
            <a:normAutofit/>
          </a:bodyPr>
          <a:lstStyle/>
          <a:p>
            <a:r>
              <a:rPr lang="en-US" sz="5400" b="1" dirty="0"/>
              <a:t>The End !!!</a:t>
            </a:r>
          </a:p>
        </p:txBody>
      </p:sp>
      <p:sp>
        <p:nvSpPr>
          <p:cNvPr id="5" name="Slide Number Placeholder 4">
            <a:extLst>
              <a:ext uri="{FF2B5EF4-FFF2-40B4-BE49-F238E27FC236}">
                <a16:creationId xmlns:a16="http://schemas.microsoft.com/office/drawing/2014/main" id="{14617F55-4894-49FD-B703-4D008EC3A2FD}"/>
              </a:ext>
            </a:extLst>
          </p:cNvPr>
          <p:cNvSpPr>
            <a:spLocks noGrp="1"/>
          </p:cNvSpPr>
          <p:nvPr>
            <p:ph type="sldNum" sz="quarter" idx="12"/>
          </p:nvPr>
        </p:nvSpPr>
        <p:spPr/>
        <p:txBody>
          <a:bodyPr/>
          <a:lstStyle/>
          <a:p>
            <a:pPr>
              <a:defRPr/>
            </a:pPr>
            <a:fld id="{2807F527-F93A-4DFB-A6A5-8EC3CE84B904}" type="slidenum">
              <a:rPr lang="en-US" altLang="en-US" smtClean="0"/>
              <a:pPr>
                <a:defRPr/>
              </a:pPr>
              <a:t>22</a:t>
            </a:fld>
            <a:endParaRPr lang="en-US" altLang="en-US"/>
          </a:p>
        </p:txBody>
      </p:sp>
    </p:spTree>
    <p:extLst>
      <p:ext uri="{BB962C8B-B14F-4D97-AF65-F5344CB8AC3E}">
        <p14:creationId xmlns:p14="http://schemas.microsoft.com/office/powerpoint/2010/main" val="3554191572"/>
      </p:ext>
    </p:extLst>
  </p:cSld>
  <p:clrMapOvr>
    <a:masterClrMapping/>
  </p:clrMapOvr>
</p:sld>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PHP CH2</Template>
  <TotalTime>291</TotalTime>
  <Words>2422</Words>
  <Application>Microsoft Office PowerPoint</Application>
  <PresentationFormat>On-screen Show (4:3)</PresentationFormat>
  <Paragraphs>238</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Consolas</vt:lpstr>
      <vt:lpstr>Garamond</vt:lpstr>
      <vt:lpstr>Maiandra GD</vt:lpstr>
      <vt:lpstr>Times New Roman</vt:lpstr>
      <vt:lpstr>Wingdings</vt:lpstr>
      <vt:lpstr>1_Office Theme</vt:lpstr>
      <vt:lpstr>PowerPoint Presentation</vt:lpstr>
      <vt:lpstr>PowerPoint Presentation</vt:lpstr>
      <vt:lpstr>Introduction to File Handling  PHP</vt:lpstr>
      <vt:lpstr>File Handling in PHP</vt:lpstr>
      <vt:lpstr>PHP file modes</vt:lpstr>
      <vt:lpstr>PHP file modes</vt:lpstr>
      <vt:lpstr>PHP file modes</vt:lpstr>
      <vt:lpstr>PHP files  cont’d</vt:lpstr>
      <vt:lpstr>Writing to a file</vt:lpstr>
      <vt:lpstr>Writing to a file</vt:lpstr>
      <vt:lpstr>Writing to a file</vt:lpstr>
      <vt:lpstr>Cont’d</vt:lpstr>
      <vt:lpstr>Reading from a File</vt:lpstr>
      <vt:lpstr>Reading from a File</vt:lpstr>
      <vt:lpstr>Reading a file line by line</vt:lpstr>
      <vt:lpstr>Reading a file character by character</vt:lpstr>
      <vt:lpstr>PHP Renaming and Delete File</vt:lpstr>
      <vt:lpstr>Creating and Removing Directory</vt:lpstr>
      <vt:lpstr>Creating and Removing Directory</vt:lpstr>
      <vt:lpstr>Problems with Using Flat Files</vt:lpstr>
      <vt:lpstr>How RDBMSs Solve These Problems</vt:lpstr>
      <vt:lpstr>The End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Gashaw Getaneh Ayele</cp:lastModifiedBy>
  <cp:revision>26</cp:revision>
  <dcterms:created xsi:type="dcterms:W3CDTF">2025-09-29T17:48:38Z</dcterms:created>
  <dcterms:modified xsi:type="dcterms:W3CDTF">2025-11-17T18:41:12Z</dcterms:modified>
</cp:coreProperties>
</file>